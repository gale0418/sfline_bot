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aae0521934331" /><Relationship Type="http://schemas.openxmlformats.org/officeDocument/2006/relationships/extended-properties" Target="/docProps/app.xml" Id="R4744e8ba5a444a13" /><Relationship Type="http://schemas.openxmlformats.org/officeDocument/2006/relationships/officeDocument" Target="/ppt/presentation.xml" Id="R238d54c4531e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3e3d5f8114e13"/>
  </p:sldMasterIdLst>
  <p:notesMasterIdLst>
    <p:notesMasterId xmlns:r="http://schemas.openxmlformats.org/officeDocument/2006/relationships" r:id="Rfd54fbce787a4d43"/>
  </p:notesMasterIdLst>
  <p:sldIdLst>
    <p:sldId xmlns:r="http://schemas.openxmlformats.org/officeDocument/2006/relationships" id="256" r:id="Rb7116309777f4083"/>
    <p:sldId xmlns:r="http://schemas.openxmlformats.org/officeDocument/2006/relationships" id="257" r:id="Rbf8007b9b7f240d4"/>
    <p:sldId xmlns:r="http://schemas.openxmlformats.org/officeDocument/2006/relationships" id="258" r:id="Rd01dbec7c65e4684"/>
    <p:sldId xmlns:r="http://schemas.openxmlformats.org/officeDocument/2006/relationships" id="259" r:id="R55117348fc7f4fd0"/>
    <p:sldId xmlns:r="http://schemas.openxmlformats.org/officeDocument/2006/relationships" id="260" r:id="R8cf518e89c634989"/>
    <p:sldId xmlns:r="http://schemas.openxmlformats.org/officeDocument/2006/relationships" id="261" r:id="Rdd95ffc989fc45c2"/>
    <p:sldId xmlns:r="http://schemas.openxmlformats.org/officeDocument/2006/relationships" id="262" r:id="Rf5ca028d4d724fd3"/>
    <p:sldId xmlns:r="http://schemas.openxmlformats.org/officeDocument/2006/relationships" id="263" r:id="Rb2cbd3984335499d"/>
    <p:sldId xmlns:r="http://schemas.openxmlformats.org/officeDocument/2006/relationships" id="264" r:id="R317b9646480c4ed7"/>
    <p:sldId xmlns:r="http://schemas.openxmlformats.org/officeDocument/2006/relationships" id="265" r:id="R1d14dce0738347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f7e0bc7d654843" /><Relationship Type="http://schemas.openxmlformats.org/officeDocument/2006/relationships/slideMaster" Target="/ppt/slideMasters/slideMaster1.xml" Id="R8733e3d5f8114e13" /><Relationship Type="http://schemas.openxmlformats.org/officeDocument/2006/relationships/notesMaster" Target="/ppt/notesMasters/notesMaster1.xml" Id="Rfd54fbce787a4d43" /><Relationship Type="http://schemas.openxmlformats.org/officeDocument/2006/relationships/presProps" Target="/ppt/presProps.xml" Id="R578798df3ede4c0b" /><Relationship Type="http://schemas.openxmlformats.org/officeDocument/2006/relationships/tableStyles" Target="/ppt/tableStyles.xml" Id="R98168f30b09148d6" /><Relationship Type="http://schemas.openxmlformats.org/officeDocument/2006/relationships/slide" Target="/ppt/slides/slide1.xml" Id="Rb7116309777f4083" /><Relationship Type="http://schemas.openxmlformats.org/officeDocument/2006/relationships/slide" Target="/ppt/slides/slide2.xml" Id="Rbf8007b9b7f240d4" /><Relationship Type="http://schemas.openxmlformats.org/officeDocument/2006/relationships/slide" Target="/ppt/slides/slide3.xml" Id="Rd01dbec7c65e4684" /><Relationship Type="http://schemas.openxmlformats.org/officeDocument/2006/relationships/slide" Target="/ppt/slides/slide4.xml" Id="R55117348fc7f4fd0" /><Relationship Type="http://schemas.openxmlformats.org/officeDocument/2006/relationships/slide" Target="/ppt/slides/slide5.xml" Id="R8cf518e89c634989" /><Relationship Type="http://schemas.openxmlformats.org/officeDocument/2006/relationships/slide" Target="/ppt/slides/slide6.xml" Id="Rdd95ffc989fc45c2" /><Relationship Type="http://schemas.openxmlformats.org/officeDocument/2006/relationships/slide" Target="/ppt/slides/slide7.xml" Id="Rf5ca028d4d724fd3" /><Relationship Type="http://schemas.openxmlformats.org/officeDocument/2006/relationships/slide" Target="/ppt/slides/slide8.xml" Id="Rb2cbd3984335499d" /><Relationship Type="http://schemas.openxmlformats.org/officeDocument/2006/relationships/slide" Target="/ppt/slides/slide9.xml" Id="R317b9646480c4ed7" /><Relationship Type="http://schemas.openxmlformats.org/officeDocument/2006/relationships/slide" Target="/ppt/slides/slide10.xml" Id="R1d14dce07383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b950ffe608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b3dc85eba44c67" /><Relationship Type="http://schemas.openxmlformats.org/officeDocument/2006/relationships/notesMaster" Target="/ppt/notesMasters/notesMaster1.xml" Id="R5d466bda1a43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1a4ab89684b4e" /><Relationship Type="http://schemas.openxmlformats.org/officeDocument/2006/relationships/notesMaster" Target="/ppt/notesMasters/notesMaster1.xml" Id="R9465ac75ca1f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fc25a4d564c27" /><Relationship Type="http://schemas.openxmlformats.org/officeDocument/2006/relationships/notesMaster" Target="/ppt/notesMasters/notesMaster1.xml" Id="R48a91c9cdf2d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e10e7df7bc490d" /><Relationship Type="http://schemas.openxmlformats.org/officeDocument/2006/relationships/notesMaster" Target="/ppt/notesMasters/notesMaster1.xml" Id="Rbb20416a3dbf4a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f146c6b3b4e39" /><Relationship Type="http://schemas.openxmlformats.org/officeDocument/2006/relationships/notesMaster" Target="/ppt/notesMasters/notesMaster1.xml" Id="R784c13f028ac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405cd00e1042cb" /><Relationship Type="http://schemas.openxmlformats.org/officeDocument/2006/relationships/notesMaster" Target="/ppt/notesMasters/notesMaster1.xml" Id="R25106f275fb849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594a06eae046d9" /><Relationship Type="http://schemas.openxmlformats.org/officeDocument/2006/relationships/notesMaster" Target="/ppt/notesMasters/notesMaster1.xml" Id="R4028f5f950d742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cc68fcfbbe4ad1" /><Relationship Type="http://schemas.openxmlformats.org/officeDocument/2006/relationships/notesMaster" Target="/ppt/notesMasters/notesMaster1.xml" Id="R1fe0ce04b32042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7594031ceb48dd" /><Relationship Type="http://schemas.openxmlformats.org/officeDocument/2006/relationships/notesMaster" Target="/ppt/notesMasters/notesMaster1.xml" Id="R363f72fec8bd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ec58a099ae4ca8" /><Relationship Type="http://schemas.openxmlformats.org/officeDocument/2006/relationships/notesMaster" Target="/ppt/notesMasters/notesMaster1.xml" Id="R851709c83e5d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各位老師、同學大家好，我今天要介紹的專題是「永恆北極星」，一套在 LINE 裡運作的科學問答與互動試煉系統。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先很直接地說明做這個題目的原因：因為我喜歡。像是冥王星為什麼有一顆愛心、木星裡面為什麼可能有金屬氫，還有電影裡的太空旅行究竟哪些地方是真的，這些都是我自己會想繼續查下去的問題。我想試著把這份好奇心做成一個可以互動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因此，今天的重點不只是展示機器人會回答一句話。我會介紹它如何處理不同問題、怎麼把知識整理成可以追溯的內容，以及答題流程如何由程式控制。目前版本包含七十六張知識卡與兩百二十題固定測驗。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接下來依序說明簡介、專題目的與相關產品、系統架構與技術、效能分析、結論與未來工作，最後列出參考資料。中間會安排問答與五題試煉的展示。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AI概念插畫：內建imagegen生成，2026-09-13；不代表真實觀測或系統截圖。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我的研究動機其實很單純。我沒有一開始就設定要解決很大的教育問題，而是喜歡科學，也想親手做出一個能聊天、能陪人探索的機器人。選擇 LINE，是因為它本來就是日常會使用的聊天介面，提問時不必另外學一套複雜操作。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邊這張是冥王星的概念插畫，不是探測器原始照片。它表面的心形亮區叫湯博區。對我來說，最吸引人的地方是：一個外觀上的小發現，可以帶出很多後續問題。這顆愛心是什麼成分？為什麼有些地方看起來比較平？它被重新分類成矮行星之後，還有哪些值得研究的地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【停頓，讓觀眾看圖約十秒。】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樣的好奇也會出現在電影裡。例如《火星救援》把種馬鈴薯變成一段很有記憶點的情節。看完後，我會想知道：真實火星環境下，植物需要哪些條件？只把種子埋進紅色土裡，真的就夠了嗎？而《極限返航》這類星際旅行故事，又會讓人想到距離、時間與推進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機器人可以接住這些問題。先用容易理解的話解釋，再讓使用者透過來源或追問往下走。如果想換一種互動，就進入五題試煉，看自己是不是掌握了概念。答錯的時候，系統會解說原因，而不是只留下一個叉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也要區分動機與未來應用。個人興趣是我開始做的原因。課後練習、科學社團或博物館導覽，則是往後可能發展的方向。目前沒有進行正式教學實驗，所以不能說這個作品已經證明能提升學習成績。我現在能負責任地介紹的是系統功能、內容設計和目前取得的驗證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本機 docs/quiz-design.md、docs/fun-science.md</a:t>
            </a:r>
          </a:p>
          <a:p xmlns:a="http://schemas.openxmlformats.org/drawingml/2006/main">
            <a:r>
              <a:t>https://science.nasa.gov/dwarf-planets/pluto/facts/</a:t>
            </a:r>
          </a:p>
          <a:p xmlns:a="http://schemas.openxmlformats.org/drawingml/2006/main">
            <a:r>
              <a:t>AI冥王星概念插畫，非探測器觀測照片。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專題目的，是讓使用者在同一個聊天入口完成自由提問與簡短練習。自由問答適合接住沒有固定格式的好奇心，固定試煉則適合檢查理解，兩種模式互相補充。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參考了兩種相關產品的定位。NotebookLM重視依據來源進行研究與回答，這讓我注意到引用與來源追溯的重要性。Kahoot!提供測驗和課堂互動，讓我思考如何讓作答後的回饋更清楚。這一頁比較的是產品定位，沒有做三個產品在相同題目下的準確率排名，所以不會宣稱自己的作品比它們更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永恆北極星選擇較小、可以自己掌握的範圍：在LINE裡保留問答與五題個人試煉。使用者可以先問太陽為什麼發光，再選擇挑戰，透過不同題目接觸其他概念。題目有固定正解、解說和來源，不由模型在作答當下臨時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這個選擇帶來一個取捨。固定題庫不可能像生成模型一樣無限變化，但它比較容易檢查答案，也可以做重複測試。模型可以處理自然語言與開放追問，卻不應該隨意改變已經定好的計分規則。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老師問：既然已經有聊天模型，為什麼還要做這個系統？我的回答是，專題的工作在於把模型接到一個完整可用的互動流程，整理內容、管理對話和作答狀態，並檢查結果是否符合約定。使用者看到的是聊天視窗，背後卻需要清楚的資料與程式分工。接下來從一則訊息的處理旅程說明這個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https://blog.google/innovation-and-ai/models-and-research/google-labs/notebooklm-discover-sources/</a:t>
            </a:r>
          </a:p>
          <a:p xmlns:a="http://schemas.openxmlformats.org/drawingml/2006/main">
            <a:r>
              <a:t>https://kahoot.com/schools/how-it-works/</a:t>
            </a:r>
          </a:p>
          <a:p xmlns:a="http://schemas.openxmlformats.org/drawingml/2006/main">
            <a:r>
              <a:t>https://github.com/Gale0418/SFLINE_BOT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請從表格第一列往下看。使用者在LINE傳送文字或按下答案後，LINE會把事件送到Webhook網址。這次展示環境使用ngrok，將公開網址的請求轉到本機Flask服務。Flask負責接收請求，再交給後續模組。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件事是驗證來源。Webhook必須使用原始請求內容檢查LINE簽章，避免任何人都可以假裝LINE送進事件。下一步處理重複事件，因為同一個事件有可能再次抵達。如果沒有去重，使用者只按一次，就可能被系統當成兩次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是排程。外部模型需要等待網路回覆，因此系統採用有容量限制的背景工作池。容量限制的作用是把能接受的工作量定清楚，滿載時回覆忙碌，讓問題可以被辨識，而不是無限制累積請求。同一位使用者的事件依序處理，降低兩個答案同時修改同一場試煉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【指向命令與一般問答兩列，停頓約十秒。】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由會判斷這則訊息屬於哪個工作。幫助、退出、分數和試煉操作走程式規則。一般問題才進入問答服務。這樣一來，使用者說退出時，系統不需要請模型猜測要不要退出。規則明確的狀態轉換能直接測試，也比較容易重現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答服務有兩種主要情況。清楚命中知識卡時，直接用卡片事實回答，不需要發出外部模型請求。如果問題比較開放，或是在延續上一輪的話題，就交給選定模型理解。模型回傳後還要檢查結構、分類和來源代號，再轉成LINE可以顯示的文字或Quick Reply按鈕。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這些步驟不是單靠一份很長的提示詞完成。提示詞只能約束模型應該如何回答，無法代替伺服器驗證事件，也不能負責確定性的計分。所以我的架構把語言理解與狀態控制分開，讓每一層有自己的責任。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仍有展示環境的限制。本機電腦、網路與轉接通道必須保持運作。對話和試煉主要保存在記憶體，服務重啟後會消失。如果要改成長期正式服務，部署與持久化還需要另外設計，不能把現在的展示方式直接等同正式上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本機 src/eternal_polaris/app.py、dispatcher.py、line_gateway.py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要分清楚三種資料。第一種是七十六張知識卡，用於回答與來源檢查。第二種是兩百二十題固定試煉。第三種是獨立的三十題自由問答評估集。它們用途不同，不能把題庫檢查通過說成模型已答對兩百二十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試煉保留原本九十六題基礎內容，接著有二十題科學史與媒體識讀、三十四題趣味科普。這次又加入五十題太陽系驚奇和二十題電影科學，總共二十個主題。圖表則按寶庫分類，星海一百零六題、地脈與生命三十七題、萬象法則三十題、未來幻夢四十七題。這是同一份資料的不同分類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內容從外觀開始，逐漸帶到看不見的內部。水星的撞擊坑、金星的厚雲、木星條紋、天王星側躺的自轉，都能當提問入口。但我不希望每題只是背名字。例如海王星看起來特別深藍，可以進一步問：這張照片有沒有做色彩增強？看到的是自然色，還是為了顯示細節而處理過的影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以超離子冰為例。這是一種在極端溫壓條件下，氧形成晶格、氫離子仍可移動的物態。實驗已有支持，但不能因此說我們直接拍到了海王星裡面的超離子冰層。物態實驗與行星內部分布是兩個問題。知識卡會把這個限制一起保存，題目也會測使用者是否分得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【互動約三十秒。】如果我問：木衛二或土衛二有海洋，是不是就已經找到外星生命？可以先讓大家想一下。答案是還不能。液態水、能量與化學成分讓它們值得探索，但宜居條件與生命存在，需要不同的證據。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題有唯一ID、寶庫、主題、難度、四個選項、正解、解說與來源代號。載入時會檢查欄位、重複ID、來源是否存在，以及文字長度等限制。正確選項的位置會依規則重新分布，讓各寶庫與難度組內的A、B、C、D數量盡量平衡，避免使用者靠猜固定位置取得高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的內容規模並不是越大越好。每次擴充都要檢查來源、別名能不能命中，還要避免把同一個觀念換句話重複計數。兩百二十題是目前可展示的範圍。未來有新的小行星消息或科學發現時，內容也必須帶日期，不能一直沿用舊新聞裡的風險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因此，資料整理本身就是專題的一部分。題庫不是模型訓練資料，也沒有讓我自行訓練出新的模型。它提供的是可控制的互動內容和可追溯的解說。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data/knowledge_cards.json、data/quiz_questions.tsv、data/eval_questions.csv、src/eternal_polaris/quiz.py</a:t>
            </a:r>
          </a:p>
          <a:p xmlns:a="http://schemas.openxmlformats.org/drawingml/2006/main">
            <a:r>
              <a:t>https://www.llnl.gov/article/45336/giant-lasers-crystallize-water-shockwaves-revealing-atomic-structure-superionic-ice</a:t>
            </a:r>
          </a:p>
          <a:p xmlns:a="http://schemas.openxmlformats.org/drawingml/2006/main">
            <a:r>
              <a:t>https://science.nasa.gov/mission/europa-clipper/why-europa-overview/</a:t>
            </a:r>
          </a:p>
          <a:p xmlns:a="http://schemas.openxmlformats.org/drawingml/2006/main">
            <a:r>
              <a:t>https://science.nasa.gov/neptune/neptune-facts/</a:t>
            </a:r>
          </a:p>
          <a:p xmlns:a="http://schemas.openxmlformats.org/drawingml/2006/main">
            <a:r>
              <a:t>https://iauarchive.eso.org/news/pressreleases/detail/iau0603/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一般問答採混合策略。對於清楚命中的知識卡問題，系統使用本機內容，這條路徑不必等待外部模型。對較開放的問題與連續追問，模型則可以利用短期上下文，最多保留最近三組對話。Demo設定使用Gemma 4 26B A4B，系統也保留可切換的模型服務介面。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機匹配採精確問題、別名與保守的相似度判斷。例如有人問天空為什麼是藍的，可以對應既有卡片。但如果一句話包含黑洞，卻是在要求寫某種程式，不能只因為看見關鍵字，就回覆一張黑洞知識卡。保守判斷會漏掉部分可以命中的句子，但可以降低明顯答非所問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回答會接受程式端檢查，有卡片依據時才能使用對應來源代號。一般知識仍可以回答，但不能冒用卡片引用。這能降低來源亂填的問題，卻不能保證每個科學敘述全對。來源存在與答案真的符合來源，是相關但不同的兩件事，仍需要人工查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太空旅行的問題最容易看出這個差別。使用者問最快太空船去比鄰星要多久，很容易得到一個看似精準的數字。我會先說明：Parker探測器在近太陽飛掠時，日心速度約每秒一百九十二公里，這是局部最高速度，並不是可以全程維持的星際巡航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只為了比較尺度，假設全程維持這個速度、沿直線飛行、忽略加減速與恆星相對運動，飛過約四點二四光年會得到大約六千六百年。這個數字有助理解星際距離，但不能寫成現成任務需要的時間。對行星的估算也同樣要交代行星位置、距離假設，以及是否需要在終點減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電影內容也採取同樣原則。《極限返航》可以帶出相對論，但電影裡的任務和推進設定不等於已實現技術。談時間膨脹時，船上的人不會覺得自己的手錶變成慢動作。差異是在比較不同路徑累積的時間時出現。以簡化的等速航段為例，速度若是零點八倍光速，地球慣性系經過十年，船上對應六年。這個例子省略了完整旅程的加減速，所以不能拿來直接推算整部電影的結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《火星救援》的馬鈴薯則能引出另一種問題：物理上可以想像，不等於工程上已經做到。真實栽培要處理壓力、溫度、水、養分與化學風險。NASA做過深空作物研究，也不代表人類已在火星實地種植成功。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我希望系統能保留這些有趣問題，又不為了讓答案更刺激而省略條件。說明目前知道什麼、還不知道什麼，也是科學回答的一部分。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https://ai.google.dev/gemma/docs/core/gemma_on_gemini_api</a:t>
            </a:r>
          </a:p>
          <a:p xmlns:a="http://schemas.openxmlformats.org/drawingml/2006/main">
            <a:r>
              <a:t>本機 src/eternal_polaris/answer_service.py、knowledge.py、models.py、config.py</a:t>
            </a:r>
          </a:p>
          <a:p xmlns:a="http://schemas.openxmlformats.org/drawingml/2006/main">
            <a:r>
              <a:t>https://science.nasa.gov/science-research/heliophysics/nasas-parker-solar-probe-makes-history-with-closest-pass-to-sun/</a:t>
            </a:r>
          </a:p>
          <a:p xmlns:a="http://schemas.openxmlformats.org/drawingml/2006/main">
            <a:r>
              <a:t>https://www.einstein-online.info/en/spotlight/twins/</a:t>
            </a:r>
          </a:p>
          <a:p xmlns:a="http://schemas.openxmlformats.org/drawingml/2006/main">
            <a:r>
              <a:t>https://www.nasa.gov/science-research/nasa-plant-researchers-explore-question-of-deep-space-food-crops/</a:t>
            </a:r>
          </a:p>
          <a:p xmlns:a="http://schemas.openxmlformats.org/drawingml/2006/main">
            <a:r>
              <a:t>https://www.nasa.gov/general/nasa-exploration-science-inspire-project-hail-mary-film/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接下來做一次完整展示。我先問一個新加入的問題，例如「冥王星愛心」，觀察系統是否給出湯博區與自然地形的解說。再問「超離子冰」，看看回答是否同時保留實驗支持與行星內部仍須推論的差別。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【操作約一分鐘：送出兩個問題，指出來源與限制，不逐字朗讀全部回覆。】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輸入「挑戰」，選擇寶庫與難度。每場五題，不會在同一場抽到重複題目。作答可以用按鈕，也可以輸入A、B、C、D。我會故意答錯一題，讓大家看看錯誤回饋。請注意它不只有公布正解，也會補上原因與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【操作約兩分鐘：完成五題。每題只講一個重點，答錯題多停一下，最後展示分數與連勝。】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畫面上的按鈕背後也有狀態設計。每個答案綁定使用者、場次、題目與選項，並加上HMAC簽章。目的在於防止修改內容、跨使用者操作，以及重播上一題的答案。退出或逾時後，舊按鈕不能繼續增加分數。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【操作約三十秒：展示退出後舊按鈕失效，或說明已完成場次的舊按鈕不再計分。不要讓不必要的重試拖長時間。】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這段展示想呈現的是問答、練習與回饋之間的連接，而不是五題背完多少知識。使用者可以從答錯的觀念再回到一般聊天繼續提問。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備援，不要與成功版本一起念。】如果展示通道無法連線：目前現場通道無法完成展示，我先依投影片說明流程。手機是否真的收到每則訊息，需要另外保留證據，不能用程式測試代替。接著用剛才的冥王星、超離子冰與生命條件例子，帶觀眾口頭作答，再接下一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docs/quiz-demo-checklist.md、src/eternal_polaris/quiz.py、tests/test_quiz.py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能分析先從可以重跑的結果開始。這次擴充後，本機一百五十六項自動化測試通過，含分支的整體覆蓋率是百分之七十八點八二，高於專案設定的百分之七十門檻。這些測試涵蓋資料契約、知識卡別名、試煉流程、簽章及部分錯誤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最重要的是數字的解讀範圍。覆蓋率描述測試執行到多少程式與分支，不是使用者滿意度，也不是模型答對題目的比例。一百五十六項測試通過，表示它們在測試條件下符合預期，不能延伸成任何輸入或網路環境都不會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真實對答已經確認可以運作。但一次能聊天，和在固定條件下完成整套評估，是不同層次的證據。完整五題的手機操作也需要留存畫面，確認訊息實際抵達、按鈕能使用，以及解說在手機上讀起來是否清楚。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最明確的缺口是模型效能。九月八日保存的三十題線上評估，當次全部遇到服務錯誤或逾時，沒有得到可評分的有效答案。這代表該次評估無效，不能報成模型準確率零分，也不能拿後來幾次成功聊天補成三十題通過。因此現在沒有有效的Accuracy、F1、平均延遲或P95可以發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如果要把評估補完整，第一步是固定模型、問題集、設定與執行時間，再保存原始輸出及每題耗時。發生服務錯誤時，要把服務可用性與答案正確性分開，不然就會把網路問題錯算成科學錯誤。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第二步是逐題檢查答案。分類是否正確、來源是否對得上、答案有沒有超出來源，最好分開記錄。像超離子冰這題，光有提到氧和氫還不夠，如果把可能的內部結構說成已直接觀測到，仍然需要扣分或註記。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才是比較不同策略。高信心本機路徑確實不會發出外部模型請求，但節省多少時間或費用，仍要用實測數據說明。現在我能說的是這個架構減少了該路徑的外部依賴，還不能拿沒有量測過的百分比當成果。這份報告保留缺口，是希望讓每個結論都對得上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MissionCenter/smoke-tests.md ST-013、results/google-evaluation-20260908.json</a:t>
            </a:r>
          </a:p>
          <a:p xmlns:a="http://schemas.openxmlformats.org/drawingml/2006/main">
            <a:r>
              <a:t>本次使用者確認：之前已經確認能對答</a:t>
            </a:r>
          </a:p>
          <a:p xmlns:a="http://schemas.openxmlformats.org/drawingml/2006/main">
            <a:r>
              <a:t>本機 results/report-coverage.json；2026-09-13，156 passed，78.82%。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回到一開始的動機，我想把自己喜歡的科學內容，做成可以親手操作的作品。目前完成的是LINE問答與五題試煉的整合，包含七十六張知識卡、兩百二十題固定內容，以及可以重跑的程式與資料測試。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在這個專題裡學到，會呼叫模型只是其中一個步驟。讓一個聊天機器人可以持續互動，需要處理訊息來源、狀態、資料和錯誤。模型適合理解開放問題，程式適合執行明確規則，而內容來源決定回答能不能被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最優先的工作，是完成有效的模型評估與人工查核，並保存完整手機展示。如果要往教學方向發展，還需要訪談、可讀性測試，或有設計的前後測。沒有做這些研究之前，我會把教育效果保留為待驗證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內容方面，可以持續收集使用者真正想問、卻沒有被回答好的問題，再補知識卡與錯題複習。正式部署、持久化和匿名統計也可以評估，但要先釐清需求與隱私，不急著把所有功能一次加上去。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這個作品從「我覺得這些事情很有趣」開始。現在它至少已經讓這份興趣變成可展示、可檢查、也能繼續改進的系統。這是我目前最想呈現的成果。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README.md、docs/quiz-design.md、MissionCenter/tasks.md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最後列出主要參考資料。LINE官方文件用於Webhook與訊息處理，Google官方文件用於Gemma模型呼叫。NotebookLM與Kahoot!的官方介紹用於相關產品定位。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新增科學內容主要參考NASA、ESA、國際天文聯合會、LLNL及Einstein Online。電影官方介紹只支持作品背景，真實科學則另外查研究機構資料，不把電影內容當成實驗證據。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完整連結放在各頁備忘稿、演講稿與專案資料檔。圖片中的概念插畫也有標示，沒有把AI插畫當成探測器觀測照片。以上是我的專題報告，謝謝老師與同學，歡迎提問。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https://ai.google.dev/gemma/docs/core/gemma_on_gemini_api</a:t>
            </a:r>
          </a:p>
          <a:p xmlns:a="http://schemas.openxmlformats.org/drawingml/2006/main">
            <a:r>
              <a:t>https://blog.google/innovation-and-ai/models-and-research/google-labs/notebooklm-discover-sources/</a:t>
            </a:r>
          </a:p>
          <a:p xmlns:a="http://schemas.openxmlformats.org/drawingml/2006/main">
            <a:r>
              <a:t>https://kahoot.com/schools/how-it-works/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本機 MissionCenter/smoke-tests.md、data/knowledge_cards.json、data/quiz_questions.tsv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41487459847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af6fd4176e4bd2" /><Relationship Type="http://schemas.openxmlformats.org/officeDocument/2006/relationships/slideLayout" Target="/ppt/slideLayouts/slideLayout1.xml" Id="R1c27f013013649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7f013013649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51ddd95e5442d" /><Relationship Type="http://schemas.openxmlformats.org/officeDocument/2006/relationships/image" Target="/ppt/media/image.png" Id="R6d62d0f1f9b64cb3" /><Relationship Type="http://schemas.openxmlformats.org/officeDocument/2006/relationships/notesSlide" Target="/ppt/notesSlides/notesSlide1.xml" Id="Rdf361e94f4d140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95a8ae3fe40e8" /><Relationship Type="http://schemas.openxmlformats.org/officeDocument/2006/relationships/image" Target="/ppt/media/image2.png" Id="R71884b47b1534808" /><Relationship Type="http://schemas.openxmlformats.org/officeDocument/2006/relationships/notesSlide" Target="/ppt/notesSlides/notesSlide2.xml" Id="R61190b4820cc44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d371893141d0" /><Relationship Type="http://schemas.openxmlformats.org/officeDocument/2006/relationships/notesSlide" Target="/ppt/notesSlides/notesSlide3.xml" Id="R46bcb9e48f0648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371069c042a2" /><Relationship Type="http://schemas.openxmlformats.org/officeDocument/2006/relationships/notesSlide" Target="/ppt/notesSlides/notesSlide4.xml" Id="Rcc044eb65549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b72334f946ef" /><Relationship Type="http://schemas.openxmlformats.org/officeDocument/2006/relationships/chart" Target="/ppt/slides/charts/chart1.xml" Id="Rb5a2b638a46445eb" /><Relationship Type="http://schemas.openxmlformats.org/officeDocument/2006/relationships/notesSlide" Target="/ppt/notesSlides/notesSlide5.xml" Id="Raa8bffc84cac4f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ac12dbd514a0c" /><Relationship Type="http://schemas.openxmlformats.org/officeDocument/2006/relationships/notesSlide" Target="/ppt/notesSlides/notesSlide6.xml" Id="R42b766798f3944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9ed1c47946b8" /><Relationship Type="http://schemas.openxmlformats.org/officeDocument/2006/relationships/notesSlide" Target="/ppt/notesSlides/notesSlide7.xml" Id="R80f291e31148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f12c671664442" /><Relationship Type="http://schemas.openxmlformats.org/officeDocument/2006/relationships/notesSlide" Target="/ppt/notesSlides/notesSlide8.xml" Id="R6cea8c1752e240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2b135e41a4aff" /><Relationship Type="http://schemas.openxmlformats.org/officeDocument/2006/relationships/notesSlide" Target="/ppt/notesSlides/notesSlide9.xml" Id="Rdbc572384f9247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e7ff3fa384441" /><Relationship Type="http://schemas.openxmlformats.org/officeDocument/2006/relationships/notesSlide" Target="/ppt/notesSlides/notesSlide10.xml" Id="Rbc3a138226ac42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題數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Data'!$A$2:$A$5</c:f>
              <c:strCache>
                <c:ptCount val="4"/>
                <c:pt idx="0">
                  <c:v>星海</c:v>
                </c:pt>
                <c:pt idx="1">
                  <c:v>地脈與生命</c:v>
                </c:pt>
                <c:pt idx="2">
                  <c:v>萬象法則</c:v>
                </c:pt>
                <c:pt idx="3">
                  <c:v>未來幻夢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106</c:v>
                </c:pt>
                <c:pt idx="1">
                  <c:v>37</c:v>
                </c:pt>
                <c:pt idx="2">
                  <c:v>30</c:v>
                </c:pt>
                <c:pt idx="3">
                  <c:v>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2d0f1f9b64c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E0D4C-CA34-488B-8004-46443848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1B289-E6A3-4DEA-8CC3-B93D03B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LINE 科學問答與互動試煉系統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D7AED-068F-4346-81C1-17F419A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半導體 AI 課程專題報告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0856-54F2-41B0-A5F6-764221D4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509008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8E70B-9A87-45D2-B89E-62FB23D5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1. 簡介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1CF77-BBFE-48B3-85FB-29540252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86537-B837-444A-88D2-D29F67F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背景與研究動機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C42BF-BB6C-46AF-AD4E-7ED9EC70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638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因為喜歡科學，</a:t>
            </a:r>
          </a:p>
          <a:p xmlns:a="http://schemas.openxmlformats.org/drawingml/2006/main">
            <a:pPr>
              <a:defRPr sz="24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想親手做出能聊天、</a:t>
            </a:r>
          </a:p>
          <a:p xmlns:a="http://schemas.openxmlformats.org/drawingml/2006/main">
            <a:pPr>
              <a:defRPr sz="24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一起探索知識的機器人。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A1339-C115-401E-888C-4ABDDF3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未來可能應用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43D8F-3519-424C-B529-B815FEF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課後練習、自主探索與科學導覽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84b47b1534808"/>
          <a:stretch xmlns:a="http://schemas.openxmlformats.org/drawingml/2006/main"/>
        </p:blipFill>
        <p:spPr>
          <a:xfrm xmlns:a="http://schemas.openxmlformats.org/drawingml/2006/main">
            <a:off x="7524750" y="179070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2B9C6-0729-4104-A93F-F16F6794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95950"/>
            <a:ext cx="3752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冥王星概念插畫，非觀測照片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D3E9F-605F-4367-B92C-F9706267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教學應用仍需使用者測試與學習成效驗證。</a:t>
            </a:r>
          </a:p>
        </p:txBody>
      </p:sp>
    </p:spTree>
    <p:extLst>
      <p:ext uri="{BB962C8B-B14F-4D97-AF65-F5344CB8AC3E}">
        <p14:creationId xmlns:p14="http://schemas.microsoft.com/office/powerpoint/2010/main" val="493594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E1806-A760-4FD5-AAA5-4102C329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2. 專題目的、相關產品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F007E-0360-4D1F-9581-CAFE84D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3EE1E-88A1-4DE9-862E-EB42D228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在 LINE 中整合自由提問與五題練習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10000"/>
                <a:gridCol w="4676775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產品／系統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主要定位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本專題的設計取捨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NotebookLM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依來源進行問答與引用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參考引用思路，採本機知識卡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Kahoot!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測驗與課堂互動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採五題個人試煉與即時解說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永恆北極星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LINE 問答與固定試煉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固定正解、來源與短期對話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B9042-51BC-45BD-9A35-1FA6255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比較產品定位，未進行相同題目的效能排名。</a:t>
            </a:r>
          </a:p>
        </p:txBody>
      </p:sp>
    </p:spTree>
    <p:extLst>
      <p:ext uri="{BB962C8B-B14F-4D97-AF65-F5344CB8AC3E}">
        <p14:creationId xmlns:p14="http://schemas.microsoft.com/office/powerpoint/2010/main" val="898506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42759-D91A-49E3-86E1-10CA3E5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868AC-4E77-4FC0-8727-B427329D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8109E-B0F8-406F-B9BC-EEE51924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LINE 收訊後，依輸入分配處理路徑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43900"/>
              </a:tblGrid>
              <a:tr h="5429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處理內容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LINE Webhook、ngrok、Flask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驗證與排程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簽章驗證、去重、有界工作池、同人依序處理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命令與試煉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Help／Quiz／Score／Quit，由程式處理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一般問答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知識卡高信心命中，或交由選定模型回答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答案驗證、LINE 文字與 Quick Reply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9DAC1-8AEC-4989-BEA3-43C9EBA8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輸入：文字／按鈕事件　　輸出：回答／來源／題目／分數</a:t>
            </a:r>
          </a:p>
        </p:txBody>
      </p:sp>
    </p:spTree>
    <p:extLst>
      <p:ext uri="{BB962C8B-B14F-4D97-AF65-F5344CB8AC3E}">
        <p14:creationId xmlns:p14="http://schemas.microsoft.com/office/powerpoint/2010/main" val="1467888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50B16-B939-4774-BABF-72715826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系統架構與技術：資料設計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B7DCC-8493-4CC3-8694-67013E5A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E6B7D-F11E-4286-8313-2018B7CF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76 張知識卡，220 題固定試煉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71500" y="2305050"/>
          <a:ext xmlns:a="http://schemas.openxmlformats.org/drawingml/2006/main" cx="70485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a2b638a46445e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D79F8-C6EF-4CC0-A05C-A15D5EF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20 個主題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D7194-20F0-4C78-843F-8995728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3286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原始題庫 96 題</a:t>
            </a:r>
          </a:p>
          <a:p xmlns:a="http://schemas.openxmlformats.org/drawingml/2006/main">
            <a:pPr>
              <a:def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科學史與識讀 20 題</a:t>
            </a:r>
          </a:p>
          <a:p xmlns:a="http://schemas.openxmlformats.org/drawingml/2006/main">
            <a:pPr>
              <a:def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趣味科普 34 題</a:t>
            </a:r>
          </a:p>
          <a:p xmlns:a="http://schemas.openxmlformats.org/drawingml/2006/main">
            <a:pPr>
              <a:def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太陽系驚奇 50 題</a:t>
            </a:r>
          </a:p>
          <a:p xmlns:a="http://schemas.openxmlformats.org/drawingml/2006/main">
            <a:pPr>
              <a:def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電影科學 20 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3A161-B98D-4410-908D-53A4CF05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另設 30 題問答評估集</a:t>
            </a:r>
          </a:p>
        </p:txBody>
      </p:sp>
    </p:spTree>
    <p:extLst>
      <p:ext uri="{BB962C8B-B14F-4D97-AF65-F5344CB8AC3E}">
        <p14:creationId xmlns:p14="http://schemas.microsoft.com/office/powerpoint/2010/main" val="583943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D7090-55AA-4B05-8A56-1BB1CD04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系統架構與技術：回答策略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5BA17-8CF1-4974-94F0-7545E3C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82A87-87AB-4013-B11F-F9C376D7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高信心命中使用知識卡，其餘交給模型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明確的知識卡問題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保守比對與本機回答，無外部模型請求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開放提問／連續追問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選定模型理解內容，保留最近三組對話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有來源支援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檢查來源 ID 與分類，顯示引用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一般知識／依據不足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不冒用卡片引用，允許表達不確定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2BA6C-3160-4781-B00D-92ADEC9B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Demo 設定：Gemma 4 26B A4B　　採既有模型推論，未自行訓練</a:t>
            </a:r>
          </a:p>
        </p:txBody>
      </p:sp>
    </p:spTree>
    <p:extLst>
      <p:ext uri="{BB962C8B-B14F-4D97-AF65-F5344CB8AC3E}">
        <p14:creationId xmlns:p14="http://schemas.microsoft.com/office/powerpoint/2010/main" val="92243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9386B-BFCF-4164-8208-525043B9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系統架構與技術：互動展示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D1AD8-F912-4B66-9558-F6B4042C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90D1A-97C0-456F-A411-1549CD0F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一次五題，完成練習與回饋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1AC59-4181-457E-881E-27FC911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① 輸入「挑戰」，選擇寶庫與難度</a:t>
            </a:r>
          </a:p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② 使用按鈕或 A／B／C／D 作答</a:t>
            </a:r>
          </a:p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③ 查看正誤、解說與來源</a:t>
            </a:r>
          </a:p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④ 完成五題，取得分數與連勝紀錄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634CF-F70E-4A14-8157-C4D3DCE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答案綁定使用者與場次，簽章防竄改。</a:t>
            </a:r>
          </a:p>
          <a:p xmlns:a="http://schemas.openxmlformats.org/drawingml/2006/main">
            <a:pPr>
              <a:defRPr sz="18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退出或逾時後，舊按鈕失效。</a:t>
            </a:r>
          </a:p>
        </p:txBody>
      </p:sp>
    </p:spTree>
    <p:extLst>
      <p:ext uri="{BB962C8B-B14F-4D97-AF65-F5344CB8AC3E}">
        <p14:creationId xmlns:p14="http://schemas.microsoft.com/office/powerpoint/2010/main" val="1883831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201A3-A460-4818-93B9-AE28470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4. 效能分析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D9B3-E900-4E2C-A7D4-E0FAFD66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424815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檢驗項目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已保存結果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解讀範圍</a:t>
                      </a:r>
                    </a:p>
                  </a:txBody>
                  <a:tcPr marL="91440" marR="91440" marT="45720" marB="45720">
                    <a:solidFill>
                      <a:srgbClr val="24283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自動化測試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 項通過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程式與資料契約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測試覆蓋率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78.82%（含分支）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高於設定門檻 70%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真實對答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使用者已確認可對答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完整五題流程仍待留存證據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 題線上評估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既有執行無效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準確率、F1 與延遲尚無有效結果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B7AEF-5FA1-490F-80D4-EBD4A7D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測試通過不代表模型答案全數正確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C5503-9D34-43A0-9D83-6C84160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本機測試紀錄：2026-09-13　線上評估紀錄：2026-09-08</a:t>
            </a:r>
          </a:p>
        </p:txBody>
      </p:sp>
    </p:spTree>
    <p:extLst>
      <p:ext uri="{BB962C8B-B14F-4D97-AF65-F5344CB8AC3E}">
        <p14:creationId xmlns:p14="http://schemas.microsoft.com/office/powerpoint/2010/main" val="1543948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60AD-038F-4D74-B4E6-1C8717E0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5. 結論與未來工作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8B349-163F-4E1B-BF8D-BBB07C2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52414-A437-4582-B5A4-A1C65B2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本次成果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2D389-531F-4468-8C1A-5224F44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自由問答與五題試煉</a:t>
            </a:r>
          </a:p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76 張知識卡與 220 題固定內容</a:t>
            </a:r>
          </a:p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具測試與來源檢查的處理流程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474E1-00C3-4699-8E24-A2A81DF5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下一階段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5B9B2-801D-4F21-8C89-2F8F2775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完成有效模型評估與人工查核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保存手機實測，驗證可讀性與學習效果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依實際需求評估正式部署與錯題複習</a:t>
            </a:r>
          </a:p>
        </p:txBody>
      </p:sp>
    </p:spTree>
    <p:extLst>
      <p:ext uri="{BB962C8B-B14F-4D97-AF65-F5344CB8AC3E}">
        <p14:creationId xmlns:p14="http://schemas.microsoft.com/office/powerpoint/2010/main" val="430328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C5888-BE0F-4F27-B111-D5EF00CE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6. 文獻參考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B34ED-2DDC-4FF1-B2CF-FDBF61D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909E2-A857-400B-A9C2-0D1AF6A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[1] LINE Developers　Messaging API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[2] Google AI for Developers　Gemma on Gemini API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[3] Google Blog、Kahoot!　產品官方介紹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[4] NASA、ESA、IAU　行星、任務與天體分類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[5] LLNL　超離子冰實驗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[6] Einstein Online　相對論與時間膨脹</a:t>
            </a:r>
          </a:p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[7] 永恆北極星專案　程式、資料與測試紀錄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6AD31-4FCD-420F-8609-E5ADF717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9616A"/>
                </a:solidFill>
                <a:latin typeface="Microsoft JhengHei"/>
                <a:ea typeface="Microsoft JhengHei"/>
                <a:cs typeface="Microsoft JhengHei"/>
              </a:rPr>
              <a:t>完整連結附於各頁備忘稿及演講稿。查閱日期：2026-09-13</a:t>
            </a:r>
          </a:p>
        </p:txBody>
      </p:sp>
    </p:spTree>
    <p:extLst>
      <p:ext uri="{BB962C8B-B14F-4D97-AF65-F5344CB8AC3E}">
        <p14:creationId xmlns:p14="http://schemas.microsoft.com/office/powerpoint/2010/main" val="455791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2026-09-13T10:24:59.0540000Z</dcterms:created>
  <dcterms:modified xsi:type="dcterms:W3CDTF">2026-09-13T10:24:59.0540000Z</dcterms:modified>
</coreProperties>
</file>