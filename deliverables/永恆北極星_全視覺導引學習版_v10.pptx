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dd4c2e4d7c24e4d" /><Relationship Type="http://schemas.openxmlformats.org/officeDocument/2006/relationships/extended-properties" Target="/docProps/app.xml" Id="R290206af103840a9" /><Relationship Type="http://schemas.openxmlformats.org/officeDocument/2006/relationships/officeDocument" Target="/ppt/presentation.xml" Id="R5989b0b0143d4179" /></Relationships>
</file>

<file path=ppt/presentation.xml><?xml version="1.0" encoding="utf-8"?>
<p:presentation xmlns:p="http://schemas.openxmlformats.org/presentationml/2006/main">
  <p:sldMasterIdLst>
    <p:sldMasterId xmlns:r="http://schemas.openxmlformats.org/officeDocument/2006/relationships" id="2147483648" r:id="R6c83ae35189c49fc"/>
  </p:sldMasterIdLst>
  <p:notesMasterIdLst>
    <p:notesMasterId xmlns:r="http://schemas.openxmlformats.org/officeDocument/2006/relationships" r:id="R5ea052d561ed4d9b"/>
  </p:notesMasterIdLst>
  <p:sldIdLst>
    <p:sldId xmlns:r="http://schemas.openxmlformats.org/officeDocument/2006/relationships" id="256" r:id="R264553f0812c4fc3"/>
    <p:sldId xmlns:r="http://schemas.openxmlformats.org/officeDocument/2006/relationships" id="257" r:id="Red1018fcd91946bb"/>
    <p:sldId xmlns:r="http://schemas.openxmlformats.org/officeDocument/2006/relationships" id="258" r:id="R11889d1345184ff4"/>
    <p:sldId xmlns:r="http://schemas.openxmlformats.org/officeDocument/2006/relationships" id="259" r:id="R0dc4e3e51015419c"/>
    <p:sldId xmlns:r="http://schemas.openxmlformats.org/officeDocument/2006/relationships" id="260" r:id="Rc9569de680eb439e"/>
    <p:sldId xmlns:r="http://schemas.openxmlformats.org/officeDocument/2006/relationships" id="261" r:id="Rc6cdd7570d4843ee"/>
    <p:sldId xmlns:r="http://schemas.openxmlformats.org/officeDocument/2006/relationships" id="262" r:id="R9f68adabb2e74c18"/>
    <p:sldId xmlns:r="http://schemas.openxmlformats.org/officeDocument/2006/relationships" id="263" r:id="Rd52980d0e7c84903"/>
    <p:sldId xmlns:r="http://schemas.openxmlformats.org/officeDocument/2006/relationships" id="264" r:id="R8f3d63875ba74ac0"/>
    <p:sldId xmlns:r="http://schemas.openxmlformats.org/officeDocument/2006/relationships" id="265" r:id="Recefa066a6084348"/>
    <p:sldId xmlns:r="http://schemas.openxmlformats.org/officeDocument/2006/relationships" id="266" r:id="R451afc48a1f243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d2ede8f99a4d03" /><Relationship Type="http://schemas.openxmlformats.org/officeDocument/2006/relationships/slideMaster" Target="/ppt/slideMasters/slideMaster1.xml" Id="R6c83ae35189c49fc" /><Relationship Type="http://schemas.openxmlformats.org/officeDocument/2006/relationships/notesMaster" Target="/ppt/notesMasters/notesMaster1.xml" Id="R5ea052d561ed4d9b" /><Relationship Type="http://schemas.openxmlformats.org/officeDocument/2006/relationships/presProps" Target="/ppt/presProps.xml" Id="R8a0f5dbb5de34cf8" /><Relationship Type="http://schemas.openxmlformats.org/officeDocument/2006/relationships/tableStyles" Target="/ppt/tableStyles.xml" Id="Rb3deddcb326245fe" /><Relationship Type="http://schemas.openxmlformats.org/officeDocument/2006/relationships/slide" Target="/ppt/slides/slide1.xml" Id="R264553f0812c4fc3" /><Relationship Type="http://schemas.openxmlformats.org/officeDocument/2006/relationships/slide" Target="/ppt/slides/slide2.xml" Id="Red1018fcd91946bb" /><Relationship Type="http://schemas.openxmlformats.org/officeDocument/2006/relationships/slide" Target="/ppt/slides/slide3.xml" Id="R11889d1345184ff4" /><Relationship Type="http://schemas.openxmlformats.org/officeDocument/2006/relationships/slide" Target="/ppt/slides/slide4.xml" Id="R0dc4e3e51015419c" /><Relationship Type="http://schemas.openxmlformats.org/officeDocument/2006/relationships/slide" Target="/ppt/slides/slide5.xml" Id="Rc9569de680eb439e" /><Relationship Type="http://schemas.openxmlformats.org/officeDocument/2006/relationships/slide" Target="/ppt/slides/slide6.xml" Id="Rc6cdd7570d4843ee" /><Relationship Type="http://schemas.openxmlformats.org/officeDocument/2006/relationships/slide" Target="/ppt/slides/slide7.xml" Id="R9f68adabb2e74c18" /><Relationship Type="http://schemas.openxmlformats.org/officeDocument/2006/relationships/slide" Target="/ppt/slides/slide8.xml" Id="Rd52980d0e7c84903" /><Relationship Type="http://schemas.openxmlformats.org/officeDocument/2006/relationships/slide" Target="/ppt/slides/slide9.xml" Id="R8f3d63875ba74ac0" /><Relationship Type="http://schemas.openxmlformats.org/officeDocument/2006/relationships/slide" Target="/ppt/slides/slide10.xml" Id="Recefa066a6084348" /><Relationship Type="http://schemas.openxmlformats.org/officeDocument/2006/relationships/slide" Target="/ppt/slides/slide11.xml" Id="R451afc48a1f243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6ac2804aab42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46225bd237424d" /><Relationship Type="http://schemas.openxmlformats.org/officeDocument/2006/relationships/notesMaster" Target="/ppt/notesMasters/notesMaster1.xml" Id="Rf200514d49274f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5ac986264b490d" /><Relationship Type="http://schemas.openxmlformats.org/officeDocument/2006/relationships/notesMaster" Target="/ppt/notesMasters/notesMaster1.xml" Id="R5c93d65c48904d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7d90f9b79154fb6" /><Relationship Type="http://schemas.openxmlformats.org/officeDocument/2006/relationships/notesMaster" Target="/ppt/notesMasters/notesMaster1.xml" Id="R15234b8318714fb3"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7c3989820d4dab" /><Relationship Type="http://schemas.openxmlformats.org/officeDocument/2006/relationships/notesMaster" Target="/ppt/notesMasters/notesMaster1.xml" Id="R2142c3bf028741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c85310a21f44943" /><Relationship Type="http://schemas.openxmlformats.org/officeDocument/2006/relationships/notesMaster" Target="/ppt/notesMasters/notesMaster1.xml" Id="R92e3ac7fdebe41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b3bd909445492e" /><Relationship Type="http://schemas.openxmlformats.org/officeDocument/2006/relationships/notesMaster" Target="/ppt/notesMasters/notesMaster1.xml" Id="Re3f71766cb564d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f614c530304a66" /><Relationship Type="http://schemas.openxmlformats.org/officeDocument/2006/relationships/notesMaster" Target="/ppt/notesMasters/notesMaster1.xml" Id="Rd439cae428a445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d4c2c7b5421481e" /><Relationship Type="http://schemas.openxmlformats.org/officeDocument/2006/relationships/notesMaster" Target="/ppt/notesMasters/notesMaster1.xml" Id="Rd7037eb2a5364f3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b51ae891b504142" /><Relationship Type="http://schemas.openxmlformats.org/officeDocument/2006/relationships/notesMaster" Target="/ppt/notesMasters/notesMaster1.xml" Id="Rfd09ed70274541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fd484fee4b43d1" /><Relationship Type="http://schemas.openxmlformats.org/officeDocument/2006/relationships/notesMaster" Target="/ppt/notesMasters/notesMaster1.xml" Id="R000de3f2fe6544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078c37aac574e05" /><Relationship Type="http://schemas.openxmlformats.org/officeDocument/2006/relationships/notesMaster" Target="/ppt/notesMasters/notesMaster1.xml" Id="R73743b80b9cd4a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一千兩百三十四張結構化知識卡、涵蓋二十四個科學主題的三百題固定測驗題庫、八十段適合在手機上閱讀的導引式學習教材，並為其中一百張重點卡片製作圖片。今天的報告我會介紹系統動機、產品定位、通訊與路由架構、四座寶庫的規則、工程健全性驗證，以及目前成果與限制。</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最後第五段是「結論與參考資料」：盤點目前已經落地的功能、誠實說明現階段限制，並將所有引用的官方文獻與專案資料完整映射對應。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它可以作為課後自主探索、參觀科學館或天文台時的互動導覽，也能用趣味試煉複習科學常識。這些是依照現有功能提出的使用情境，不代表我們已經做過使用者研究；目前能確定的是，這套互動骨架已經完成。</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裡，內建三百道固定答案的科學測驗，以及八十段循序漸進的微課程。平時隨時想聊就聊，想闖關時有引路守門人出題，答錯時還有詳細的科學解說。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API。即使模型額度用完或模型服務暫時故障，三百道題目仍由伺服器上的固定資料處理；專案也沒有即時網路搜尋、RAG、向量資料庫或自行訓練模型。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將事件送到 ngrok 提供的 HTTPS 網址，再轉發到 Synology NAS 上由 Docker 長期執行的機器人服務。這樣電腦關機後，機器人也不會跟著消失。</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來保存使用者的四座寶庫學習進度，資料檔放在 NAS 的持久化資料卷裡，容器更新時不會跟著消失。這裡要特別強調，SQLite 完全運行在機器人伺服器端，使用者的手機 LINE 軟體不會碰觸資料庫檔案，更不可能由前端執行任何 SQL 指令；所有進度讀寫都由後端程式透過參數化查詢控管。對話記憶只保留最近三組，並在三十分鐘後失效，兼顧對話流暢度與隱私安全。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README.md、deploy/nas/、src/eternal_polaris/app.py、dispatcher.py、learning.py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一千兩百三十四張人工整理的結構化知識卡。內容從天文與科幻物理出發，延伸到行星環境、小天體、異星生命、台灣觀星、未來科技與電影科學，並載明科學分類與查證來源。這次也為其中一百張最適合視覺化的重點卡片製作圖片，讓 LINE 裡的閱讀不只是一整片文字。</a:t>
            </a:r>
          </a:p>
          <a:p xmlns:a="http://schemas.openxmlformats.org/drawingml/2006/main">
            <a:r>
              <a:t>第二，是三百道固定正解的測驗題庫。這三百題涵蓋二十四個科學主題，從太陽系行星、恆星演化與相對論，延伸到行星防禦、電影科學、地球生命、量子概念與太空工程。程式會調整A、B、C、D的正解位置分布，避免使用者只靠猜選項規律破關。</a:t>
            </a:r>
          </a:p>
          <a:p xmlns:a="http://schemas.openxmlformats.org/drawingml/2006/main">
            <a:r>
              <a:t>第三，是八十段重組教材。導引路線挑選適合循序學習的內容重新編排；其餘新增知識仍能透過自由問答與星之試煉使用，因此知識卡、題庫與導引教材的數量不需要相同。</a:t>
            </a:r>
          </a:p>
          <a:p xmlns:a="http://schemas.openxmlformats.org/drawingml/2006/main">
            <a:r>
              <a:t/>
            </a:r>
          </a:p>
          <a:p xmlns:a="http://schemas.openxmlformats.org/drawingml/2006/main">
            <a:r>
              <a:t>開發過程曾把一千零一張當成「一千零一夜宇宙知識庫」的里程碑；後續補足台灣觀星、異星植物與科幻工程缺口後，內容一路擴充到一千兩百三十六張。最後整理時，我們移除兩張最偏一般政治制度、又離天文科技主線最遠的卡片：代議民主與抽籤選領導者，於是目前實際載入數量剛好是一千兩百三十四張。這不是為了湊漂亮數字亂刪內容，而是一次有理由的策展取捨。</a:t>
            </a:r>
          </a:p>
          <a:p xmlns:a="http://schemas.openxmlformats.org/drawingml/2006/main">
            <a:r>
              <a:t/>
            </a:r>
          </a:p>
          <a:p xmlns:a="http://schemas.openxmlformats.org/drawingml/2006/main">
            <a:r>
              <a:t>投影片上的原生圖表顯示四座寶庫的題數。星海之庫因為加入八大行星深度介紹、小天體與星際航行，目前有一百六十一題；未來幻夢之庫加入更多電影科學後有七十二題，另外兩庫維持原有內容。</a:t>
            </a:r>
          </a:p>
          <a:p xmlns:a="http://schemas.openxmlformats.org/drawingml/2006/main">
            <a:r>
              <a:t>固定題庫測驗與導引學習段落不依賴外部 AI API。即使模型額度用完或第三方服務暫時連線不順，三百題測驗與八十段教材仍能由機器人伺服器處理，答案也不會因模型生成而漂移。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a:t>
            </a:r>
          </a:p>
          <a:p xmlns:a="http://schemas.openxmlformats.org/drawingml/2006/main">
            <a:r>
              <a:t>assets/knowledge/、docs/guided-learning.md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如果使用者的問題經過關鍵字與詞彙比對後，高信心命中本機的一千兩百三十四張知識卡，系統會直接提取卡片內容回覆。這條路徑不呼叫外部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額度用完了，整個問答功能就停擺吧？</a:t>
            </a:r>
          </a:p>
          <a:p xmlns:a="http://schemas.openxmlformats.org/drawingml/2006/main">
            <a:r>
              <a:t>於是我把系統底層重構成「可切換供應商」的架構，並將目前的預設模型切換為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投影片裡所有淺藍色對話框都代表機器人說的話；使用者訊息則用不同顏色區分，之後的示意畫面也沿用同一套規則：</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為了回答這個問題，專案建立了本機自動化測試，並用 branch coverage 檢查重要分支是否真的被走過：</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在題庫結構上，我們逐一驗證了三百道題目的資料格式、選項均勻度與標準答案映射。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這裡我必須非常客觀地說明：這四次成功紀錄只證明在九月八日當天的四次嘗試中，這條通訊鏈路曾經順利完成；它不代表外部雲端 API 永遠不會中斷，也不代表任何尚未發生的現場展示已經通過驗證。</a:t>
            </a:r>
          </a:p>
          <a:p xmlns:a="http://schemas.openxmlformats.org/drawingml/2006/main">
            <a:r>
              <a:t/>
            </a:r>
          </a:p>
          <a:p xmlns:a="http://schemas.openxmlformats.org/drawingml/2006/main">
            <a:r>
              <a:t>必須分清楚的是：這些測試證明程式規則目前能照設計執行，不等於學生的學習成效提升，也不能拿來當大型語言模型的 Accuracy、F1-score 或 P95 延遲。線上模型的固定三十題基準評估還沒有取得一份完整有效的結果，所以那部分仍誠實標示為未驗證。</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隨著系統各個模組陸續到位，我們來總結目前已經具備的成果，以及現階段可以誠實說明的限制。</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模型」的雙路徑架構；</a:t>
            </a:r>
          </a:p>
          <a:p xmlns:a="http://schemas.openxmlformats.org/drawingml/2006/main">
            <a:r>
              <a:t>完成了涵蓋二十四個主題、具備三百道題目的防竄改測驗系統；</a:t>
            </a:r>
          </a:p>
          <a:p xmlns:a="http://schemas.openxmlformats.org/drawingml/2006/main">
            <a:r>
              <a:t>實現了四座獨立寶庫、十六個階段、八十段微課程的伺服器端導引學習；</a:t>
            </a:r>
          </a:p>
          <a:p xmlns:a="http://schemas.openxmlformats.org/drawingml/2006/main">
            <a:r>
              <a:t>為一百張重點知識卡製作圖片；</a:t>
            </a:r>
          </a:p>
          <a:p xmlns:a="http://schemas.openxmlformats.org/drawingml/2006/main">
            <a:r>
              <a:t>把服務搬到 Synology NAS，以 Docker 常駐執行，並且用自動化測試檢查通訊、題庫、按鈕與資料交易。</a:t>
            </a:r>
          </a:p>
          <a:p xmlns:a="http://schemas.openxmlformats.org/drawingml/2006/main">
            <a:r>
              <a:t/>
            </a:r>
          </a:p>
          <a:p xmlns:a="http://schemas.openxmlformats.org/drawingml/2006/main">
            <a:r>
              <a:t>現階段也有三件事必須分清楚：</a:t>
            </a:r>
          </a:p>
          <a:p xmlns:a="http://schemas.openxmlformats.org/drawingml/2006/main">
            <a:r>
              <a:t>第一，自動化測試證明的是程式規則能否正確執行，不等於已經證明學習成效。</a:t>
            </a:r>
          </a:p>
          <a:p xmlns:a="http://schemas.openxmlformats.org/drawingml/2006/main">
            <a:r>
              <a:t>第二，固定題庫與導引教材在本機就能運作；開放式模型問答則需要網路、可用的 API 與足夠額度。</a:t>
            </a:r>
          </a:p>
          <a:p xmlns:a="http://schemas.openxmlformats.org/drawingml/2006/main">
            <a:r>
              <a:t>第三，NAS 部署已完成，不應再把它寫成未來工作；真正還欠缺的是不同手機上的完整操作驗證，以及固定測試集下的線上模型效能資料。</a:t>
            </a:r>
          </a:p>
          <a:p xmlns:a="http://schemas.openxmlformats.org/drawingml/2006/main">
            <a:r>
              <a:t/>
            </a:r>
          </a:p>
          <a:p xmlns:a="http://schemas.openxmlformats.org/drawingml/2006/main">
            <a:r>
              <a:t>所以未來工作不需要列出一長串看起來很厲害、其實沒有排程的願望清單。最合理的下一步，是先把這兩個缺口補齊：確認不同螢幕與網路環境下的 LINE 操作，再重跑完整且可重現的三十題模型基準。</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README.md、deploy/nas/、docs/guided-learning.md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第四項，對應第六頁與第八頁（P6、P8）的知識資產與四座寶庫，所有的一千兩百三十四張知識卡、三百題 TSV 題庫、八十段導引教材、一百張重點圖片與 SQLite 資料庫綱要，均完整放在 GitHub 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第六項，對應第九頁（P9）的系統驗證，測試範圍、branch coverage 與 2026 年 9 月 8 日的四次真實對話紀錄，依據專案 README 與測試程式整理；它們不被誇大成尚未做過的學習成效或模型基準。</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7acbd52ba244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817e5833544116" /><Relationship Type="http://schemas.openxmlformats.org/officeDocument/2006/relationships/slideLayout" Target="/ppt/slideLayouts/slideLayout1.xml" Id="Ref9fec34c5c144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fec34c5c144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3ba9b4357ed4554" /><Relationship Type="http://schemas.openxmlformats.org/officeDocument/2006/relationships/image" Target="/ppt/media/image.png" Id="Re7fec5825a5c4192" /><Relationship Type="http://schemas.openxmlformats.org/officeDocument/2006/relationships/notesSlide" Target="/ppt/notesSlides/notesSlide1.xml" Id="R4359a307395e42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d4ef34f7374cce" /><Relationship Type="http://schemas.openxmlformats.org/officeDocument/2006/relationships/notesSlide" Target="/ppt/notesSlides/notesSlide2.xml" Id="R9850944bc850476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2214d95d5074010" /><Relationship Type="http://schemas.openxmlformats.org/officeDocument/2006/relationships/image" Target="/ppt/media/image2.png" Id="R85c305186fb24bd8" /><Relationship Type="http://schemas.openxmlformats.org/officeDocument/2006/relationships/notesSlide" Target="/ppt/notesSlides/notesSlide3.xml" Id="R11177f85fc644d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c0f1ba1d25470a" /><Relationship Type="http://schemas.openxmlformats.org/officeDocument/2006/relationships/notesSlide" Target="/ppt/notesSlides/notesSlide4.xml" Id="R4a379d58d0cd47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cec8a59be24845" /><Relationship Type="http://schemas.openxmlformats.org/officeDocument/2006/relationships/notesSlide" Target="/ppt/notesSlides/notesSlide5.xml" Id="Rcb5f3c5e5fa840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76027faade46fd" /><Relationship Type="http://schemas.openxmlformats.org/officeDocument/2006/relationships/chart" Target="/ppt/slides/charts/chart1.xml" Id="Re1c054977ff94a57" /><Relationship Type="http://schemas.openxmlformats.org/officeDocument/2006/relationships/notesSlide" Target="/ppt/notesSlides/notesSlide6.xml" Id="R100f3145456f40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5a4915bbe3e4b49" /><Relationship Type="http://schemas.openxmlformats.org/officeDocument/2006/relationships/notesSlide" Target="/ppt/notesSlides/notesSlide7.xml" Id="R1d7c1b560d434ed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c7b15e627d4ce5" /><Relationship Type="http://schemas.openxmlformats.org/officeDocument/2006/relationships/notesSlide" Target="/ppt/notesSlides/notesSlide8.xml" Id="R9d7febff83184a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be1c23dffa747c4" /><Relationship Type="http://schemas.openxmlformats.org/officeDocument/2006/relationships/notesSlide" Target="/ppt/notesSlides/notesSlide9.xml" Id="Re1be4517030047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f414947c7b4c8c" /><Relationship Type="http://schemas.openxmlformats.org/officeDocument/2006/relationships/notesSlide" Target="/ppt/notesSlides/notesSlide10.xml" Id="Rc0bc04e3e82c402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73871722ee48cf" /><Relationship Type="http://schemas.openxmlformats.org/officeDocument/2006/relationships/notesSlide" Target="/ppt/notesSlides/notesSlide11.xml" Id="Rfa0354d8a705411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161</c:v>
                </c:pt>
                <c:pt idx="1">
                  <c:v>37</c:v>
                </c:pt>
                <c:pt idx="2">
                  <c:v>30</c:v>
                </c:pt>
                <c:pt idx="3">
                  <c:v>72</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7fec5825a5c419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1CBDB98-53AF-40E6-BEE2-E4D23F92A12E}"/>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892D0BD5-6648-49C8-91BE-DBE3252BC0ED}"/>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CC8444EA-418D-4367-993A-8058FB76C8D6}"/>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9D12D043-5D88-424E-BC0E-F6C391DC392B}"/>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1375057487"/>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73422F2-0A1E-46CD-A204-2167B17F0A1B}"/>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590EBDC6-E7FC-4D22-A40D-04709B5CDD9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3841F753-B7E2-424E-A493-B6A3641D8C81}"/>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DE4B9F55-C35A-49FD-A4FD-812A4FAC5AE2}"/>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C97E7433-69AD-43B5-BA52-C4CF914BEB2F}"/>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521605E3-F282-4406-9A7D-69C392FE1F5C}"/>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F08A1A49-FC86-4018-9B21-D05CDE308BA5}"/>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944E77DD-2DE7-4213-B913-FF8755359FB7}"/>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ED295FA0-617E-4AE5-96CC-D146F3E67F2B}"/>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38F077A8-0F01-4398-8D2B-1ED953464FE8}"/>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1C19D476-28F4-4F27-8E6C-C8484E319F0B}"/>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72367968-ABE7-484D-814E-66F0EF5C222A}"/>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E5522114-4DA6-432A-BC05-F65981FE8A23}"/>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F762C42C-96B8-4E08-B74A-BAB734C91869}"/>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B2A5A08D-44A5-400C-BFEC-087925162826}"/>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548D9025-701D-4504-BB3F-57852840304F}"/>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F640AAC5-0556-44BD-9345-A241B89D7FF0}"/>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80ED8A04-EF81-46FC-AEAF-CBF3B28051CB}"/>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25A17F5C-E0E0-46DC-A778-C11012E93CCD}"/>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2ED85FE9-4D8E-4751-B0C8-DD837BAA9A1D}"/>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FBC272CB-2414-4C39-9FE2-84DE9B44068F}"/>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17C01F79-03A9-47AC-A929-16CB6BB035F7}"/>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B6556E22-2443-45BF-A6CC-80BBD5CA1F24}"/>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AA93B2F1-4AD3-4DC5-A7C2-4C4556F6484B}"/>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成果、限制、來源</a:t>
            </a:r>
          </a:p>
        </p:txBody>
      </p:sp>
    </p:spTree>
    <p:extLst>
      <p:ext uri="{BB962C8B-B14F-4D97-AF65-F5344CB8AC3E}">
        <p14:creationId xmlns:p14="http://schemas.microsoft.com/office/powerpoint/2010/main" val="897518703"/>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31BFF26-D97A-41C7-88F8-E483C654925A}"/>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2193C740-1A76-4F3D-BA14-87A4688615DB}"/>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85c305186fb24bd8"/>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71B3B6A-DD39-499E-8DE3-BEF8B2B681A6}"/>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62151799-4FA6-4644-B786-C671A056446D}"/>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A9D2F615-57CE-4711-9F38-94CBFAC94B3E}"/>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A76778DE-6346-455D-BC8F-4F190286F58C}"/>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FCC40834-373E-4AD6-B674-59930CF6CBB2}"/>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6E306F5D-2F81-4488-9C37-4780857A87EB}"/>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63C9E417-1F8D-4E48-B2C8-7B36F7CF8E31}"/>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D4E434A7-9162-46DB-A84B-47519BDFB366}"/>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38DCEEB1-6111-43C9-9294-FD1904E8140F}"/>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6F78013C-548D-459B-931E-59621D2EE59F}"/>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E7997E42-445A-4701-8EB6-742E4B727124}"/>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FC20331A-93A0-4147-9AC0-2666ED694745}"/>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15855800-8D2A-43F6-B5C0-E5B217C54070}"/>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5258EA90-0D5D-420A-8CB6-201FB1E2E837}"/>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850B3211-CC1C-4384-B139-9CD6182D7A3C}"/>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69450153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B7CAEA7-3821-4594-ACD2-1CE333A4498E}"/>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BA0D0A15-2F9F-48E7-B179-CC436CCE007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6DFBA80B-9578-4513-A8EB-7F5E0A7E9053}"/>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A0D6CA31-70EF-4E88-BD7C-A4B5160B828F}"/>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33FFD8AA-7DBF-432D-9648-FA30ECA263F0}"/>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27BB30C3-CD33-423B-97B6-6AF87DBCA2AB}"/>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48327827-1B04-4C1D-873E-BE570C0B7EC8}"/>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B81541C9-A7B4-4E5D-BB69-B95E026576F8}"/>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8F939675-7068-41D0-A99E-56413184A202}"/>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ADA014C9-19B5-4842-BE18-4B663C52E747}"/>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7C1EEE2A-CA83-4D6C-AA89-87B67CF60B50}"/>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7846A73A-277F-458A-8F55-BB5016ACF6B7}"/>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9693A4EA-4973-4E07-AB9F-1EE5D6C96DE1}"/>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9F1B37D8-49CB-4687-A5E0-69E737D91388}"/>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9A4B1D2F-684B-4EF6-91F3-B0F8FEEBADB0}"/>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CE4843ED-6D00-45E9-856E-AA43C5A7CAFA}"/>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21843AA6-9374-4A5E-BA93-FD90AB5CAA9F}"/>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126E8CAB-1254-4484-9169-1032263F6261}"/>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364945049"/>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5B184BA-6A77-4608-A4E4-944DCAA718F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190AF452-CF21-4181-981D-EE59E10DF314}"/>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2DF066E0-27F4-42C9-9AB1-197044A504C8}"/>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 NAS 上可驗證的回覆</a:t>
            </a:r>
          </a:p>
        </p:txBody>
      </p:sp>
      <p:sp>
        <p:nvSpPr>
          <p:cNvPr id="4" name="">
            <a:extLst xmlns:a="http://schemas.openxmlformats.org/drawingml/2006/main">
              <a:ext uri="{FF2B5EF4-FFF2-40B4-BE49-F238E27FC236}">
                <a16:creationId xmlns:a16="http://schemas.microsoft.com/office/drawing/2014/main" id="{50E8B587-8D84-49BB-9232-DE1603B89D35}"/>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44F083AE-DFC7-4B97-A8A1-5D8529DF2928}"/>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6C41D308-318D-46AE-8A74-9D29F3CFB9B0}"/>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739AEBE8-B4AD-4EE8-B774-1E6D3E658ED0}"/>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E9656C08-B23D-4A77-8D8E-8B041C015F03}"/>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0FED987F-1361-4D34-B1BD-D2A7BA69B200}"/>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D9E9BD4B-A455-430C-9FC1-39350D3397C6}"/>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6887D325-2635-466B-9A65-74A5E0A326BB}"/>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4BD1914F-F925-4D93-937B-CE9CB426CD47}"/>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54BEC823-29FA-41E8-9B16-4E9385CE9F7A}"/>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4155C0E3-1118-40B0-AE19-34C24C1242F9}"/>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C44A3C35-8B25-4466-94CE-BDEF4CEE84A9}"/>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45CDB4B6-8869-4698-B2BA-1338E2B80622}"/>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F236F20A-4B59-400A-8193-0E299870DB56}"/>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DB15080C-4E0F-4D13-9E2C-1A0D31E94A08}"/>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892619B6-05A9-441A-9B93-0E85443E3C3C}"/>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F85F5F1C-5366-4607-95F8-4501240B09F2}"/>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BE7F6E84-BB7F-4921-B3C5-ABE6D7D8D002}"/>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EDE82A06-2523-4C01-BCF5-7044451775AA}"/>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6390AB9E-746A-4C26-8DFA-DFA28AF129C2}"/>
              </a:ext>
            </a:extLst>
          </p:cNvPr>
          <p:cNvSpPr>
            <a:spLocks xmlns:a="http://schemas.openxmlformats.org/drawingml/2006/main" noGrp="1"/>
          </p:cNvSpPr>
          <p:nvPr/>
        </p:nvSpPr>
        <p:spPr>
          <a:xfrm xmlns:a="http://schemas.openxmlformats.org/drawingml/2006/main">
            <a:off x="685800" y="54673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Synology NAS／Docker 常駐服務，ngrok 提供 LINE 可連線的 HTTPS Webhook。</a:t>
            </a:r>
          </a:p>
        </p:txBody>
      </p:sp>
      <p:sp>
        <p:nvSpPr>
          <p:cNvPr id="24" name="">
            <a:extLst xmlns:a="http://schemas.openxmlformats.org/drawingml/2006/main">
              <a:ext uri="{FF2B5EF4-FFF2-40B4-BE49-F238E27FC236}">
                <a16:creationId xmlns:a16="http://schemas.microsoft.com/office/drawing/2014/main" id="{1AF71096-9B07-4162-806C-7A8D12847FFE}"/>
              </a:ext>
            </a:extLst>
          </p:cNvPr>
          <p:cNvSpPr>
            <a:spLocks xmlns:a="http://schemas.openxmlformats.org/drawingml/2006/main" noGrp="1"/>
          </p:cNvSpPr>
          <p:nvPr/>
        </p:nvSpPr>
        <p:spPr>
          <a:xfrm xmlns:a="http://schemas.openxmlformats.org/drawingml/2006/main">
            <a:off x="685800" y="59055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轉成假名代碼；SQLite 與學習進度保存在 NAS 資料卷。</a:t>
            </a:r>
          </a:p>
        </p:txBody>
      </p:sp>
    </p:spTree>
    <p:extLst>
      <p:ext uri="{BB962C8B-B14F-4D97-AF65-F5344CB8AC3E}">
        <p14:creationId xmlns:p14="http://schemas.microsoft.com/office/powerpoint/2010/main" val="2042181890"/>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40877A-C79C-45AD-98E7-71FA391B9831}"/>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7B376E75-EF59-4683-84CE-20D8609D3E9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E0A14C91-15B8-47BD-BB5E-6AA5FD0B0809}"/>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1,234 張知識卡、300 題、24 個主題</a:t>
            </a:r>
          </a:p>
        </p:txBody>
      </p:sp>
      <p:graphicFrame>
        <p:nvGraphicFramePr>
          <p:cNvPr id="16"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e1c054977ff94a57"/>
          </a:graphicData>
        </a:graphic>
      </p:graphicFrame>
      <p:sp>
        <p:nvSpPr>
          <p:cNvPr id="5" name="">
            <a:extLst xmlns:a="http://schemas.openxmlformats.org/drawingml/2006/main">
              <a:ext uri="{FF2B5EF4-FFF2-40B4-BE49-F238E27FC236}">
                <a16:creationId xmlns:a16="http://schemas.microsoft.com/office/drawing/2014/main" id="{1046CE8E-4AC6-4AFE-B5AC-433564135421}"/>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215638DE-FF46-471D-9BFA-0E4093601FE3}"/>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4CD28B61-933A-44A8-8598-A85214829F54}"/>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234FB77F-A4E3-43A6-B53D-2D5A590ED946}"/>
              </a:ext>
            </a:extLst>
          </p:cNvPr>
          <p:cNvSpPr>
            <a:spLocks xmlns:a="http://schemas.openxmlformats.org/drawingml/2006/main" noGrp="1"/>
          </p:cNvSpPr>
          <p:nvPr/>
        </p:nvSpPr>
        <p:spPr>
          <a:xfrm xmlns:a="http://schemas.openxmlformats.org/drawingml/2006/main">
            <a:off x="8420100" y="3419475"/>
            <a:ext cx="114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7F413A7D-1ADA-4F49-A358-A07CE42F4982}"/>
              </a:ext>
            </a:extLst>
          </p:cNvPr>
          <p:cNvSpPr>
            <a:spLocks xmlns:a="http://schemas.openxmlformats.org/drawingml/2006/main" noGrp="1"/>
          </p:cNvSpPr>
          <p:nvPr/>
        </p:nvSpPr>
        <p:spPr>
          <a:xfrm xmlns:a="http://schemas.openxmlformats.org/drawingml/2006/main">
            <a:off x="7572375" y="4762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100 張重點知識卡圖片</a:t>
            </a:r>
          </a:p>
        </p:txBody>
      </p:sp>
      <p:sp>
        <p:nvSpPr>
          <p:cNvPr id="10" name="">
            <a:extLst xmlns:a="http://schemas.openxmlformats.org/drawingml/2006/main">
              <a:ext uri="{FF2B5EF4-FFF2-40B4-BE49-F238E27FC236}">
                <a16:creationId xmlns:a16="http://schemas.microsoft.com/office/drawing/2014/main" id="{6C89C0BD-5E49-47E9-9027-483986DAED92}"/>
              </a:ext>
            </a:extLst>
          </p:cNvPr>
          <p:cNvSpPr>
            <a:spLocks xmlns:a="http://schemas.openxmlformats.org/drawingml/2006/main" noGrp="1"/>
          </p:cNvSpPr>
          <p:nvPr/>
        </p:nvSpPr>
        <p:spPr>
          <a:xfrm xmlns:a="http://schemas.openxmlformats.org/drawingml/2006/main">
            <a:off x="7715250" y="5153025"/>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843C46"/>
                </a:solidFill>
                <a:latin typeface="Microsoft JhengHei"/>
                <a:ea typeface="Microsoft JhengHei"/>
                <a:cs typeface="Microsoft JhengHei"/>
              </a:defRPr>
            </a:pPr>
            <a:r>
              <a:rPr sz="1425" b="1">
                <a:solidFill>
                  <a:srgbClr val="843C46"/>
                </a:solidFill>
                <a:latin typeface="Microsoft JhengHei"/>
                <a:ea typeface="Microsoft JhengHei"/>
                <a:cs typeface="Microsoft JhengHei"/>
              </a:rPr>
              <a:t>80 段重組導引教材</a:t>
            </a:r>
          </a:p>
        </p:txBody>
      </p:sp>
      <p:sp>
        <p:nvSpPr>
          <p:cNvPr id="11" name="">
            <a:extLst xmlns:a="http://schemas.openxmlformats.org/drawingml/2006/main">
              <a:ext uri="{FF2B5EF4-FFF2-40B4-BE49-F238E27FC236}">
                <a16:creationId xmlns:a16="http://schemas.microsoft.com/office/drawing/2014/main" id="{046570CD-61D9-44A7-9EE1-A2DB0E6EE5E5}"/>
              </a:ext>
            </a:extLst>
          </p:cNvPr>
          <p:cNvSpPr>
            <a:spLocks xmlns:a="http://schemas.openxmlformats.org/drawingml/2006/main" noGrp="1"/>
          </p:cNvSpPr>
          <p:nvPr/>
        </p:nvSpPr>
        <p:spPr>
          <a:xfrm xmlns:a="http://schemas.openxmlformats.org/drawingml/2006/main">
            <a:off x="7524750" y="5543550"/>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242830"/>
                </a:solidFill>
                <a:latin typeface="Microsoft JhengHei"/>
                <a:ea typeface="Microsoft JhengHei"/>
                <a:cs typeface="Microsoft JhengHei"/>
              </a:defRPr>
            </a:pPr>
            <a:r>
              <a:rPr sz="1425" b="1">
                <a:solidFill>
                  <a:srgbClr val="242830"/>
                </a:solidFill>
                <a:latin typeface="Microsoft JhengHei"/>
                <a:ea typeface="Microsoft JhengHei"/>
                <a:cs typeface="Microsoft JhengHei"/>
              </a:rPr>
              <a:t>固定題庫不依賴 AI API</a:t>
            </a:r>
          </a:p>
        </p:txBody>
      </p:sp>
      <p:sp>
        <p:nvSpPr>
          <p:cNvPr id="12" name="">
            <a:extLst xmlns:a="http://schemas.openxmlformats.org/drawingml/2006/main">
              <a:ext uri="{FF2B5EF4-FFF2-40B4-BE49-F238E27FC236}">
                <a16:creationId xmlns:a16="http://schemas.microsoft.com/office/drawing/2014/main" id="{89D8FC3F-0F5D-4090-B439-03ED32A135E7}"/>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知識卡保留來源；題庫答案固定；圖片與導引教材支援手機閱讀。</a:t>
            </a:r>
          </a:p>
        </p:txBody>
      </p:sp>
    </p:spTree>
    <p:extLst>
      <p:ext uri="{BB962C8B-B14F-4D97-AF65-F5344CB8AC3E}">
        <p14:creationId xmlns:p14="http://schemas.microsoft.com/office/powerpoint/2010/main" val="737646597"/>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312409F6-F271-4884-82FA-362A11F67A5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EB294623-FFC9-4336-834E-350358F5E762}"/>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665A11A2-3343-4077-93D5-A3125368A9D7}"/>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9A3E0D6A-3006-4EC3-8B36-14B32382B228}"/>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185B2D41-892C-4546-B376-86B76B53B622}"/>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59E994F0-1BAE-45B2-889B-465E5E1F0699}"/>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3E6CE61A-DA7D-4ACD-B871-9D44F9F649C8}"/>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802E3157-5DAD-4763-9F8A-4CC2FAAAD303}"/>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9CAD66DF-1F2F-4389-AFFF-BD747D0A896B}"/>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38DDA3F4-7DD1-4B30-AE95-3066DA8A8398}"/>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D10F5518-56FF-4597-BFF5-C4765938A5CD}"/>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7761B032-2D26-425B-9BE7-518D03EFC873}"/>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93AA9720-F8EC-4678-A2A0-8173DFF45FF5}"/>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013C1B2E-DFCD-4CE4-8CE9-39DE1AA836E9}"/>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0EEAF398-3B76-41FE-8FDD-4CDB9540822D}"/>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DDD089C3-C3FC-4726-A552-59A618B2841D}"/>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EA455A49-6F5C-4466-9FAE-8D9F6236EA1A}"/>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5D4EDC99-97A1-42B9-8A12-B15F2BB998FA}"/>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132F0BFA-31F0-43D4-B624-166B3FCAF74E}"/>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888A4EBE-9DC7-4958-B296-C12FE16940C1}"/>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157AF7AB-8B51-4FCE-B8F9-9A3F3BDEE2C2}"/>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額度用完後，目前改採 Google AI Studio 免費方案</a:t>
            </a:r>
          </a:p>
        </p:txBody>
      </p:sp>
      <p:sp>
        <p:nvSpPr>
          <p:cNvPr id="22" name="">
            <a:extLst xmlns:a="http://schemas.openxmlformats.org/drawingml/2006/main">
              <a:ext uri="{FF2B5EF4-FFF2-40B4-BE49-F238E27FC236}">
                <a16:creationId xmlns:a16="http://schemas.microsoft.com/office/drawing/2014/main" id="{B2213AD5-1570-4D1F-AC1F-BCE2B6F72729}"/>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689070582"/>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0F4724B6-7C4E-4B52-A6EE-3BAEF23046AA}"/>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AA92B7C5-EF8D-4606-9D30-6F4527C78920}"/>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10C60C62-267F-433E-8488-E1490459491F}"/>
              </a:ext>
            </a:extLst>
          </p:cNvPr>
          <p:cNvSpPr>
            <a:spLocks xmlns:a="http://schemas.openxmlformats.org/drawingml/2006/main" noGrp="1"/>
          </p:cNvSpPr>
          <p:nvPr/>
        </p:nvSpPr>
        <p:spPr>
          <a:xfrm xmlns:a="http://schemas.openxmlformats.org/drawingml/2006/main">
            <a:off x="685800" y="1200150"/>
            <a:ext cx="4762500" cy="552450"/>
          </a:xfrm>
          <a:prstGeom xmlns:a="http://schemas.openxmlformats.org/drawingml/2006/main" prst="roundRect">
            <a:avLst>
              <a:gd name="adj" fmla="val 13793"/>
            </a:avLst>
          </a:prstGeom>
          <a:solidFill xmlns:a="http://schemas.openxmlformats.org/drawingml/2006/main">
            <a:srgbClr val="DDF2FF"/>
          </a:solidFill>
          <a:ln xmlns:a="http://schemas.openxmlformats.org/drawingml/2006/main" w="19050">
            <a:solidFill>
              <a:srgbClr val="79AFCB"/>
            </a:solidFill>
          </a:ln>
        </p:spPr>
      </p:sp>
      <p:sp>
        <p:nvSpPr>
          <p:cNvPr id="4" name="">
            <a:extLst xmlns:a="http://schemas.openxmlformats.org/drawingml/2006/main">
              <a:ext uri="{FF2B5EF4-FFF2-40B4-BE49-F238E27FC236}">
                <a16:creationId xmlns:a16="http://schemas.microsoft.com/office/drawing/2014/main" id="{D5AB6777-94E1-4F0D-892C-7B3887F47E41}"/>
              </a:ext>
            </a:extLst>
          </p:cNvPr>
          <p:cNvSpPr>
            <a:spLocks xmlns:a="http://schemas.openxmlformats.org/drawingml/2006/main" noGrp="1"/>
          </p:cNvSpPr>
          <p:nvPr/>
        </p:nvSpPr>
        <p:spPr>
          <a:xfrm xmlns:a="http://schemas.openxmlformats.org/drawingml/2006/main">
            <a:off x="781050" y="1266825"/>
            <a:ext cx="4572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1E4E67"/>
                </a:solidFill>
                <a:latin typeface="Microsoft JhengHei"/>
                <a:ea typeface="Microsoft JhengHei"/>
                <a:cs typeface="Microsoft JhengHei"/>
              </a:defRPr>
            </a:pPr>
            <a:r>
              <a:rPr sz="1500" b="1">
                <a:solidFill>
                  <a:srgbClr val="1E4E67"/>
                </a:solidFill>
                <a:latin typeface="Microsoft JhengHei"/>
                <a:ea typeface="Microsoft JhengHei"/>
                <a:cs typeface="Microsoft JhengHei"/>
              </a:rPr>
              <a:t>守門人：你對這世界感到好奇嗎？</a:t>
            </a:r>
          </a:p>
        </p:txBody>
      </p:sp>
      <p:sp>
        <p:nvSpPr>
          <p:cNvPr id="5" name="">
            <a:extLst xmlns:a="http://schemas.openxmlformats.org/drawingml/2006/main">
              <a:ext uri="{FF2B5EF4-FFF2-40B4-BE49-F238E27FC236}">
                <a16:creationId xmlns:a16="http://schemas.microsoft.com/office/drawing/2014/main" id="{94F03C96-549F-4607-8769-CA423BC6202F}"/>
              </a:ext>
            </a:extLst>
          </p:cNvPr>
          <p:cNvSpPr>
            <a:spLocks xmlns:a="http://schemas.openxmlformats.org/drawingml/2006/main" noGrp="1"/>
          </p:cNvSpPr>
          <p:nvPr/>
        </p:nvSpPr>
        <p:spPr>
          <a:xfrm xmlns:a="http://schemas.openxmlformats.org/drawingml/2006/main">
            <a:off x="9105900" y="1238250"/>
            <a:ext cx="2400300" cy="476250"/>
          </a:xfrm>
          <a:prstGeom xmlns:a="http://schemas.openxmlformats.org/drawingml/2006/main" prst="roundRect">
            <a:avLst>
              <a:gd name="adj" fmla="val 16000"/>
            </a:avLst>
          </a:prstGeom>
          <a:solidFill xmlns:a="http://schemas.openxmlformats.org/drawingml/2006/main">
            <a:srgbClr val="E7EFE9"/>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1F6B3B02-5ADA-47D4-A41E-758466B32ADA}"/>
              </a:ext>
            </a:extLst>
          </p:cNvPr>
          <p:cNvSpPr>
            <a:spLocks xmlns:a="http://schemas.openxmlformats.org/drawingml/2006/main" noGrp="1"/>
          </p:cNvSpPr>
          <p:nvPr/>
        </p:nvSpPr>
        <p:spPr>
          <a:xfrm xmlns:a="http://schemas.openxmlformats.org/drawingml/2006/main">
            <a:off x="9201150" y="1304925"/>
            <a:ext cx="2209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使用者：學習</a:t>
            </a:r>
          </a:p>
        </p:txBody>
      </p:sp>
      <p:sp>
        <p:nvSpPr>
          <p:cNvPr id="7" name="">
            <a:extLst xmlns:a="http://schemas.openxmlformats.org/drawingml/2006/main">
              <a:ext uri="{FF2B5EF4-FFF2-40B4-BE49-F238E27FC236}">
                <a16:creationId xmlns:a16="http://schemas.microsoft.com/office/drawing/2014/main" id="{006C835A-EA76-4CD8-97B2-6E68C134EB94}"/>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8" name="">
            <a:extLst xmlns:a="http://schemas.openxmlformats.org/drawingml/2006/main">
              <a:ext uri="{FF2B5EF4-FFF2-40B4-BE49-F238E27FC236}">
                <a16:creationId xmlns:a16="http://schemas.microsoft.com/office/drawing/2014/main" id="{D99AB2F3-7A0C-4FE0-91E0-1F2FA951147D}"/>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9" name="">
            <a:extLst xmlns:a="http://schemas.openxmlformats.org/drawingml/2006/main">
              <a:ext uri="{FF2B5EF4-FFF2-40B4-BE49-F238E27FC236}">
                <a16:creationId xmlns:a16="http://schemas.microsoft.com/office/drawing/2014/main" id="{10BCEE8D-E9B5-41AB-BFF4-8A1A1BF5674D}"/>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0" name="">
            <a:extLst xmlns:a="http://schemas.openxmlformats.org/drawingml/2006/main">
              <a:ext uri="{FF2B5EF4-FFF2-40B4-BE49-F238E27FC236}">
                <a16:creationId xmlns:a16="http://schemas.microsoft.com/office/drawing/2014/main" id="{BFAB5B89-5000-4E74-B6A0-AE93F11D31FD}"/>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9DB29158-CD80-4FB5-BD6E-D3E86880FDC5}"/>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12" name="">
            <a:extLst xmlns:a="http://schemas.openxmlformats.org/drawingml/2006/main">
              <a:ext uri="{FF2B5EF4-FFF2-40B4-BE49-F238E27FC236}">
                <a16:creationId xmlns:a16="http://schemas.microsoft.com/office/drawing/2014/main" id="{0A7EAB54-E8E1-4BDA-8C1C-24870D17F036}"/>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3" name="">
            <a:extLst xmlns:a="http://schemas.openxmlformats.org/drawingml/2006/main">
              <a:ext uri="{FF2B5EF4-FFF2-40B4-BE49-F238E27FC236}">
                <a16:creationId xmlns:a16="http://schemas.microsoft.com/office/drawing/2014/main" id="{113201BA-1DFF-4580-8133-CF8BB8BF4A60}"/>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4" name="">
            <a:extLst xmlns:a="http://schemas.openxmlformats.org/drawingml/2006/main">
              <a:ext uri="{FF2B5EF4-FFF2-40B4-BE49-F238E27FC236}">
                <a16:creationId xmlns:a16="http://schemas.microsoft.com/office/drawing/2014/main" id="{DBECB7CD-8F98-4808-90AD-2C1773177770}"/>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5" name="">
            <a:extLst xmlns:a="http://schemas.openxmlformats.org/drawingml/2006/main">
              <a:ext uri="{FF2B5EF4-FFF2-40B4-BE49-F238E27FC236}">
                <a16:creationId xmlns:a16="http://schemas.microsoft.com/office/drawing/2014/main" id="{389BC91D-9F91-4EC7-BEA8-75215B914681}"/>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6" name="">
            <a:extLst xmlns:a="http://schemas.openxmlformats.org/drawingml/2006/main">
              <a:ext uri="{FF2B5EF4-FFF2-40B4-BE49-F238E27FC236}">
                <a16:creationId xmlns:a16="http://schemas.microsoft.com/office/drawing/2014/main" id="{20FD68C8-BF29-49AB-AEE7-1005FF3EF795}"/>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7" name="">
            <a:extLst xmlns:a="http://schemas.openxmlformats.org/drawingml/2006/main">
              <a:ext uri="{FF2B5EF4-FFF2-40B4-BE49-F238E27FC236}">
                <a16:creationId xmlns:a16="http://schemas.microsoft.com/office/drawing/2014/main" id="{74CD93E3-3E2F-4C80-A0C7-D49ED8E8A512}"/>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8" name="">
            <a:extLst xmlns:a="http://schemas.openxmlformats.org/drawingml/2006/main">
              <a:ext uri="{FF2B5EF4-FFF2-40B4-BE49-F238E27FC236}">
                <a16:creationId xmlns:a16="http://schemas.microsoft.com/office/drawing/2014/main" id="{B77563B4-0424-44E4-B9E6-464B1E308088}"/>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6C1B97E4-BB56-447C-85DA-22DFAE3EBAFB}"/>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0" name="">
            <a:extLst xmlns:a="http://schemas.openxmlformats.org/drawingml/2006/main">
              <a:ext uri="{FF2B5EF4-FFF2-40B4-BE49-F238E27FC236}">
                <a16:creationId xmlns:a16="http://schemas.microsoft.com/office/drawing/2014/main" id="{113CA08F-BFD4-4CEB-B934-1E9A222A85AD}"/>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1" name="">
            <a:extLst xmlns:a="http://schemas.openxmlformats.org/drawingml/2006/main">
              <a:ext uri="{FF2B5EF4-FFF2-40B4-BE49-F238E27FC236}">
                <a16:creationId xmlns:a16="http://schemas.microsoft.com/office/drawing/2014/main" id="{EA00AC31-7672-4001-AD39-D4F8D13A32F4}"/>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22" name="">
            <a:extLst xmlns:a="http://schemas.openxmlformats.org/drawingml/2006/main">
              <a:ext uri="{FF2B5EF4-FFF2-40B4-BE49-F238E27FC236}">
                <a16:creationId xmlns:a16="http://schemas.microsoft.com/office/drawing/2014/main" id="{4DFC7154-A147-445B-A146-728C3683CFB1}"/>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3" name="">
            <a:extLst xmlns:a="http://schemas.openxmlformats.org/drawingml/2006/main">
              <a:ext uri="{FF2B5EF4-FFF2-40B4-BE49-F238E27FC236}">
                <a16:creationId xmlns:a16="http://schemas.microsoft.com/office/drawing/2014/main" id="{D8477D4B-54A8-445F-8CB9-E7CC0F97CF51}"/>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4" name="">
            <a:extLst xmlns:a="http://schemas.openxmlformats.org/drawingml/2006/main">
              <a:ext uri="{FF2B5EF4-FFF2-40B4-BE49-F238E27FC236}">
                <a16:creationId xmlns:a16="http://schemas.microsoft.com/office/drawing/2014/main" id="{8814E4B8-C1D7-4EC3-B171-23056972BC9C}"/>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5" name="">
            <a:extLst xmlns:a="http://schemas.openxmlformats.org/drawingml/2006/main">
              <a:ext uri="{FF2B5EF4-FFF2-40B4-BE49-F238E27FC236}">
                <a16:creationId xmlns:a16="http://schemas.microsoft.com/office/drawing/2014/main" id="{8CF34F5F-06D7-4EC6-AA0A-D1552E9C0317}"/>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6" name="">
            <a:extLst xmlns:a="http://schemas.openxmlformats.org/drawingml/2006/main">
              <a:ext uri="{FF2B5EF4-FFF2-40B4-BE49-F238E27FC236}">
                <a16:creationId xmlns:a16="http://schemas.microsoft.com/office/drawing/2014/main" id="{B1890363-2FFF-4639-9D58-DB397C674D85}"/>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7" name="">
            <a:extLst xmlns:a="http://schemas.openxmlformats.org/drawingml/2006/main">
              <a:ext uri="{FF2B5EF4-FFF2-40B4-BE49-F238E27FC236}">
                <a16:creationId xmlns:a16="http://schemas.microsoft.com/office/drawing/2014/main" id="{0ED2567D-33E7-4DF7-A123-CF27F0FEA9A9}"/>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8" name="">
            <a:extLst xmlns:a="http://schemas.openxmlformats.org/drawingml/2006/main">
              <a:ext uri="{FF2B5EF4-FFF2-40B4-BE49-F238E27FC236}">
                <a16:creationId xmlns:a16="http://schemas.microsoft.com/office/drawing/2014/main" id="{024225AF-3900-4F28-BAF7-A59B69B9E097}"/>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9" name="">
            <a:extLst xmlns:a="http://schemas.openxmlformats.org/drawingml/2006/main">
              <a:ext uri="{FF2B5EF4-FFF2-40B4-BE49-F238E27FC236}">
                <a16:creationId xmlns:a16="http://schemas.microsoft.com/office/drawing/2014/main" id="{54915D38-D025-487D-9B89-46CFAEC43A97}"/>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30" name="">
            <a:extLst xmlns:a="http://schemas.openxmlformats.org/drawingml/2006/main">
              <a:ext uri="{FF2B5EF4-FFF2-40B4-BE49-F238E27FC236}">
                <a16:creationId xmlns:a16="http://schemas.microsoft.com/office/drawing/2014/main" id="{4B445E19-8B40-48A8-97D1-CFCCB6BB143A}"/>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31" name="">
            <a:extLst xmlns:a="http://schemas.openxmlformats.org/drawingml/2006/main">
              <a:ext uri="{FF2B5EF4-FFF2-40B4-BE49-F238E27FC236}">
                <a16:creationId xmlns:a16="http://schemas.microsoft.com/office/drawing/2014/main" id="{66EA8F91-7F70-43B8-B1A5-109610BD8909}"/>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32" name="">
            <a:extLst xmlns:a="http://schemas.openxmlformats.org/drawingml/2006/main">
              <a:ext uri="{FF2B5EF4-FFF2-40B4-BE49-F238E27FC236}">
                <a16:creationId xmlns:a16="http://schemas.microsoft.com/office/drawing/2014/main" id="{94357292-A33A-4B12-8016-BC605E49BC7C}"/>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3" name="">
            <a:extLst xmlns:a="http://schemas.openxmlformats.org/drawingml/2006/main">
              <a:ext uri="{FF2B5EF4-FFF2-40B4-BE49-F238E27FC236}">
                <a16:creationId xmlns:a16="http://schemas.microsoft.com/office/drawing/2014/main" id="{A464D2E3-CB1B-431A-AB6F-4F291FA43581}"/>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4" name="">
            <a:extLst xmlns:a="http://schemas.openxmlformats.org/drawingml/2006/main">
              <a:ext uri="{FF2B5EF4-FFF2-40B4-BE49-F238E27FC236}">
                <a16:creationId xmlns:a16="http://schemas.microsoft.com/office/drawing/2014/main" id="{39026D23-0D24-4B6C-9D4B-5B1FCDFE5D44}"/>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5" name="">
            <a:extLst xmlns:a="http://schemas.openxmlformats.org/drawingml/2006/main">
              <a:ext uri="{FF2B5EF4-FFF2-40B4-BE49-F238E27FC236}">
                <a16:creationId xmlns:a16="http://schemas.microsoft.com/office/drawing/2014/main" id="{9F50B44F-A377-4264-88A1-BC7D48B769FC}"/>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6" name="">
            <a:extLst xmlns:a="http://schemas.openxmlformats.org/drawingml/2006/main">
              <a:ext uri="{FF2B5EF4-FFF2-40B4-BE49-F238E27FC236}">
                <a16:creationId xmlns:a16="http://schemas.microsoft.com/office/drawing/2014/main" id="{19108CCB-F447-4720-9F84-10A1681DEC9B}"/>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7" name="">
            <a:extLst xmlns:a="http://schemas.openxmlformats.org/drawingml/2006/main">
              <a:ext uri="{FF2B5EF4-FFF2-40B4-BE49-F238E27FC236}">
                <a16:creationId xmlns:a16="http://schemas.microsoft.com/office/drawing/2014/main" id="{85F1B757-4AC2-4C08-8FE0-D3807589B00D}"/>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8" name="">
            <a:extLst xmlns:a="http://schemas.openxmlformats.org/drawingml/2006/main">
              <a:ext uri="{FF2B5EF4-FFF2-40B4-BE49-F238E27FC236}">
                <a16:creationId xmlns:a16="http://schemas.microsoft.com/office/drawing/2014/main" id="{0B5F168D-3065-4AE0-8A6C-C200B3F0A7CA}"/>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9" name="">
            <a:extLst xmlns:a="http://schemas.openxmlformats.org/drawingml/2006/main">
              <a:ext uri="{FF2B5EF4-FFF2-40B4-BE49-F238E27FC236}">
                <a16:creationId xmlns:a16="http://schemas.microsoft.com/office/drawing/2014/main" id="{67F856E9-382B-4A31-9086-1D016C23CA11}"/>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淺藍色＝守門人對話；SQLite 位於 NAS，手機端不執行 SQL。</a:t>
            </a:r>
          </a:p>
        </p:txBody>
      </p:sp>
    </p:spTree>
    <p:extLst>
      <p:ext uri="{BB962C8B-B14F-4D97-AF65-F5344CB8AC3E}">
        <p14:creationId xmlns:p14="http://schemas.microsoft.com/office/powerpoint/2010/main" val="1269482130"/>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E239FEF-A559-4CA2-A26E-D8F3FE318A2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FD4CA2F5-5F39-4539-89ED-D7345830415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2FE5DA97-A46D-4CC7-973A-3B8586061241}"/>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878D9EE3-8311-4428-9005-E5F990237CDE}"/>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C8D962FE-9FBF-4032-B401-2CA72CDA9743}"/>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8740E48E-74A6-47AA-8215-15A802C47DB2}"/>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7E9ACD4C-2A58-4DAA-AE12-E0392ADF64FC}"/>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C9DD1F3F-EB2A-447C-A702-41D39DBA29F9}"/>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5439386D-A5AB-423C-A149-91A900FB34AB}"/>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4A76395A-F5F3-44F1-9D00-91183B06F7BA}"/>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0EE70594-ED54-4F37-8486-7F1AAFE5B436}"/>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07040610-17A5-4F18-8BE0-C97FAC393A29}"/>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990DE434-C051-41B0-8959-B70C421131D4}"/>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A1E476BD-40C5-4DDC-A824-C1120EB1F2E9}"/>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722B8EAB-5218-437A-93B6-8E95C3248EBB}"/>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A9E78C63-C676-4BB5-AD14-F7582336DCFB}"/>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6F94E313-C452-4834-93CA-F025E09BA458}"/>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EB578B01-1276-4B9D-B838-61B46F0304A1}"/>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C2E9FE5A-2128-4FAB-8A2E-DABE5A707208}"/>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6D0EB234-D553-4F98-AA7E-CA5DE82C1027}"/>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34D1171C-5F39-414C-A29E-B258FB434F45}"/>
              </a:ext>
            </a:extLst>
          </p:cNvPr>
          <p:cNvSpPr>
            <a:spLocks xmlns:a="http://schemas.openxmlformats.org/drawingml/2006/main" noGrp="1"/>
          </p:cNvSpPr>
          <p:nvPr/>
        </p:nvSpPr>
        <p:spPr>
          <a:xfrm xmlns:a="http://schemas.openxmlformats.org/drawingml/2006/main">
            <a:off x="7124700" y="5219700"/>
            <a:ext cx="4210050" cy="704850"/>
          </a:xfrm>
          <a:prstGeom xmlns:a="http://schemas.openxmlformats.org/drawingml/2006/main" prst="roundRect">
            <a:avLst>
              <a:gd name="adj" fmla="val 10811"/>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C3687327-3F01-4148-9AEB-6D24B9415D9C}"/>
              </a:ext>
            </a:extLst>
          </p:cNvPr>
          <p:cNvSpPr>
            <a:spLocks xmlns:a="http://schemas.openxmlformats.org/drawingml/2006/main" noGrp="1"/>
          </p:cNvSpPr>
          <p:nvPr/>
        </p:nvSpPr>
        <p:spPr>
          <a:xfrm xmlns:a="http://schemas.openxmlformats.org/drawingml/2006/main">
            <a:off x="7296150" y="5314950"/>
            <a:ext cx="38671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57869"/>
                </a:solidFill>
                <a:latin typeface="Microsoft JhengHei"/>
                <a:ea typeface="Microsoft JhengHei"/>
                <a:cs typeface="Microsoft JhengHei"/>
              </a:defRPr>
            </a:pPr>
            <a:r>
              <a:rPr sz="1350" b="1">
                <a:solidFill>
                  <a:srgbClr val="557869"/>
                </a:solidFill>
                <a:latin typeface="Microsoft JhengHei"/>
                <a:ea typeface="Microsoft JhengHei"/>
                <a:cs typeface="Microsoft JhengHei"/>
              </a:rPr>
              <a:t>完整自動測試＋branch coverage</a:t>
            </a:r>
          </a:p>
          <a:p xmlns:a="http://schemas.openxmlformats.org/drawingml/2006/main">
            <a:pPr algn="ctr">
              <a:defRPr sz="1350" b="1">
                <a:solidFill>
                  <a:srgbClr val="557869"/>
                </a:solidFill>
                <a:latin typeface="Microsoft JhengHei"/>
                <a:ea typeface="Microsoft JhengHei"/>
                <a:cs typeface="Microsoft JhengHei"/>
              </a:defRPr>
            </a:pPr>
            <a:r>
              <a:rPr sz="1350" b="1">
                <a:solidFill>
                  <a:srgbClr val="557869"/>
                </a:solidFill>
                <a:latin typeface="Microsoft JhengHei"/>
                <a:ea typeface="Microsoft JhengHei"/>
                <a:cs typeface="Microsoft JhengHei"/>
              </a:rPr>
              <a:t>另保留 4 次真實聊天紀錄</a:t>
            </a:r>
          </a:p>
        </p:txBody>
      </p:sp>
      <p:sp>
        <p:nvSpPr>
          <p:cNvPr id="23" name="">
            <a:extLst xmlns:a="http://schemas.openxmlformats.org/drawingml/2006/main">
              <a:ext uri="{FF2B5EF4-FFF2-40B4-BE49-F238E27FC236}">
                <a16:creationId xmlns:a16="http://schemas.microsoft.com/office/drawing/2014/main" id="{D9CFA0C7-0F9C-4E26-BAEA-819C5EA59997}"/>
              </a:ext>
            </a:extLst>
          </p:cNvPr>
          <p:cNvSpPr>
            <a:spLocks xmlns:a="http://schemas.openxmlformats.org/drawingml/2006/main" noGrp="1"/>
          </p:cNvSpPr>
          <p:nvPr/>
        </p:nvSpPr>
        <p:spPr>
          <a:xfrm xmlns:a="http://schemas.openxmlformats.org/drawingml/2006/main">
            <a:off x="685800" y="6057900"/>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程式測試 ≠ 學習成效；模型 Accuracy／F1／P95 尚未正式驗證。</a:t>
            </a:r>
          </a:p>
        </p:txBody>
      </p:sp>
    </p:spTree>
    <p:extLst>
      <p:ext uri="{BB962C8B-B14F-4D97-AF65-F5344CB8AC3E}">
        <p14:creationId xmlns:p14="http://schemas.microsoft.com/office/powerpoint/2010/main" val="1813754652"/>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2765B71-053A-47DB-9AEE-449C141555C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755C324E-A736-48D3-88C7-ACE6BEEDF57B}"/>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5DE84F5D-6164-4B99-9B50-8BF6042E090B}"/>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已完成能長期運作的骨架，也保留誠實邊界</a:t>
            </a:r>
          </a:p>
        </p:txBody>
      </p:sp>
      <p:sp>
        <p:nvSpPr>
          <p:cNvPr id="4" name="">
            <a:extLst xmlns:a="http://schemas.openxmlformats.org/drawingml/2006/main">
              <a:ext uri="{FF2B5EF4-FFF2-40B4-BE49-F238E27FC236}">
                <a16:creationId xmlns:a16="http://schemas.microsoft.com/office/drawing/2014/main" id="{730BE44C-139B-42FC-B9D1-E1B429EAA1A6}"/>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62976F7B-AC72-46E1-853A-F30D93480356}"/>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D5A192D6-CFC8-455E-8C91-406F6E17E426}"/>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23A4366C-E552-4D08-A347-76A1CD4C739C}"/>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問答</a:t>
            </a:r>
          </a:p>
        </p:txBody>
      </p:sp>
      <p:sp>
        <p:nvSpPr>
          <p:cNvPr id="8" name="">
            <a:extLst xmlns:a="http://schemas.openxmlformats.org/drawingml/2006/main">
              <a:ext uri="{FF2B5EF4-FFF2-40B4-BE49-F238E27FC236}">
                <a16:creationId xmlns:a16="http://schemas.microsoft.com/office/drawing/2014/main" id="{A4B7C42A-D861-48A8-99D5-3ED41268D782}"/>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1,234 卡＋300 題</a:t>
            </a:r>
          </a:p>
        </p:txBody>
      </p:sp>
      <p:sp>
        <p:nvSpPr>
          <p:cNvPr id="9" name="">
            <a:extLst xmlns:a="http://schemas.openxmlformats.org/drawingml/2006/main">
              <a:ext uri="{FF2B5EF4-FFF2-40B4-BE49-F238E27FC236}">
                <a16:creationId xmlns:a16="http://schemas.microsoft.com/office/drawing/2014/main" id="{D6DDE948-A245-4CBE-8946-00BA6BAB4166}"/>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2C230021-25F2-48B0-A5D0-FB2AC5D99282}"/>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78BF2ADB-2447-4DF0-AE82-AA0F7AAFAF81}"/>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導引</a:t>
            </a:r>
          </a:p>
        </p:txBody>
      </p:sp>
      <p:sp>
        <p:nvSpPr>
          <p:cNvPr id="12" name="">
            <a:extLst xmlns:a="http://schemas.openxmlformats.org/drawingml/2006/main">
              <a:ext uri="{FF2B5EF4-FFF2-40B4-BE49-F238E27FC236}">
                <a16:creationId xmlns:a16="http://schemas.microsoft.com/office/drawing/2014/main" id="{0C7226BD-80B5-4CA4-8AB0-47C3BA8EEA51}"/>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80 段＋四路進度</a:t>
            </a:r>
          </a:p>
        </p:txBody>
      </p:sp>
      <p:sp>
        <p:nvSpPr>
          <p:cNvPr id="13" name="">
            <a:extLst xmlns:a="http://schemas.openxmlformats.org/drawingml/2006/main">
              <a:ext uri="{FF2B5EF4-FFF2-40B4-BE49-F238E27FC236}">
                <a16:creationId xmlns:a16="http://schemas.microsoft.com/office/drawing/2014/main" id="{30BC401B-ADCE-4529-98D4-E23BE615C7EB}"/>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A9C8582B-FC29-4005-830B-93429BF558D5}"/>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C0FA6DE2-2EF3-4DCF-B8F2-54A0D5BF73FF}"/>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視覺</a:t>
            </a:r>
          </a:p>
        </p:txBody>
      </p:sp>
      <p:sp>
        <p:nvSpPr>
          <p:cNvPr id="16" name="">
            <a:extLst xmlns:a="http://schemas.openxmlformats.org/drawingml/2006/main">
              <a:ext uri="{FF2B5EF4-FFF2-40B4-BE49-F238E27FC236}">
                <a16:creationId xmlns:a16="http://schemas.microsoft.com/office/drawing/2014/main" id="{EA1A33CA-B0F4-4B0D-8A67-583B59289455}"/>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100 張知識卡圖片</a:t>
            </a:r>
          </a:p>
        </p:txBody>
      </p:sp>
      <p:sp>
        <p:nvSpPr>
          <p:cNvPr id="17" name="">
            <a:extLst xmlns:a="http://schemas.openxmlformats.org/drawingml/2006/main">
              <a:ext uri="{FF2B5EF4-FFF2-40B4-BE49-F238E27FC236}">
                <a16:creationId xmlns:a16="http://schemas.microsoft.com/office/drawing/2014/main" id="{EEED39FF-03AA-4621-B546-16AEB81DF165}"/>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C0440F03-8897-454C-9638-EE0CA076E6A3}"/>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722E6BEA-1085-4889-8CF4-E4BBA250762C}"/>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部署</a:t>
            </a:r>
          </a:p>
        </p:txBody>
      </p:sp>
      <p:sp>
        <p:nvSpPr>
          <p:cNvPr id="20" name="">
            <a:extLst xmlns:a="http://schemas.openxmlformats.org/drawingml/2006/main">
              <a:ext uri="{FF2B5EF4-FFF2-40B4-BE49-F238E27FC236}">
                <a16:creationId xmlns:a16="http://schemas.microsoft.com/office/drawing/2014/main" id="{EA73647D-4117-4256-BA48-2642EC7A199D}"/>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NAS／Docker 常駐</a:t>
            </a:r>
          </a:p>
        </p:txBody>
      </p:sp>
      <p:sp>
        <p:nvSpPr>
          <p:cNvPr id="21" name="">
            <a:extLst xmlns:a="http://schemas.openxmlformats.org/drawingml/2006/main">
              <a:ext uri="{FF2B5EF4-FFF2-40B4-BE49-F238E27FC236}">
                <a16:creationId xmlns:a16="http://schemas.microsoft.com/office/drawing/2014/main" id="{C456C513-69CD-43CC-9490-1BB5CC78073B}"/>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尚待驗證：不同手機的實機操作，以及固定測試集的線上模型效能。</a:t>
            </a:r>
          </a:p>
        </p:txBody>
      </p:sp>
      <p:sp>
        <p:nvSpPr>
          <p:cNvPr id="22" name="">
            <a:extLst xmlns:a="http://schemas.openxmlformats.org/drawingml/2006/main">
              <a:ext uri="{FF2B5EF4-FFF2-40B4-BE49-F238E27FC236}">
                <a16:creationId xmlns:a16="http://schemas.microsoft.com/office/drawing/2014/main" id="{71B0DC06-B8F8-4349-B3BC-5B0C21DC4BD5}"/>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自動測試證明程式規則，不代表學生學習成效。</a:t>
            </a:r>
          </a:p>
        </p:txBody>
      </p:sp>
    </p:spTree>
    <p:extLst>
      <p:ext uri="{BB962C8B-B14F-4D97-AF65-F5344CB8AC3E}">
        <p14:creationId xmlns:p14="http://schemas.microsoft.com/office/powerpoint/2010/main" val="722877464"/>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1D5F77AA-DE9D-435D-907F-3E6251E9C89D}"/>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FAF3DAFC-8205-457B-9540-7CBAC9BF6F8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1354392C-369C-4FD9-B6EC-C57238F98CA4}"/>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E815AC90-E01A-452C-A596-3A6F214642F2}"/>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4C0AD038-1A0D-40C3-86C8-480EECC6F852}"/>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FB2BDC6A-B0DE-49D4-8DB7-BF3CD1AC10AF}"/>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9A028573-0954-4262-A051-C3A4563713C1}"/>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8D3CB89B-3A68-428E-84AE-840D25BFE56B}"/>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2434FEA8-6458-4779-8A37-8390BA895B4C}"/>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7AF2072D-6283-4764-A108-A9DCD427EA0F}"/>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60F2D309-A622-4664-BBB1-94FC43DED5B8}"/>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2A128EC3-DC76-4340-8FC5-32B902646B99}"/>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8FCDF8B7-8052-4FE9-BD1B-2276F2F866BD}"/>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1C32AA61-E4FD-44D2-ACB4-DF2E68A024C3}"/>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1F237C38-8B45-4889-9451-69FEE74E46FD}"/>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62938F72-0EF1-401F-81EB-77A09B83B561}"/>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2C3CF79E-4CDF-48BB-A723-7CC3A835D2DF}"/>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48C8FC00-702C-43D3-A3AD-DD3CD076CE81}"/>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730957AA-75AA-4A03-83C9-1631F59F760B}"/>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D8FDC216-9CED-4F0F-A2C7-5EFCC226E566}"/>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2F90C09D-13FF-4811-AAFD-EAAE08B4A8DD}"/>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A15FBA50-F8FC-44EC-B7F1-B8EF135C9BF9}"/>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2ABC0CA7-7125-4F11-95D6-314D05067A32}"/>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F960F36E-C5F0-401A-9923-672EE4EE8E0C}"/>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CB4ABB56-6DF6-4C33-B25E-79D6D7CD8E8D}"/>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DC69E956-36AF-44A4-839B-0E885F289645}"/>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C41B1265-7002-4BF5-8AB9-932F167612BB}"/>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0BADA29C-8223-45F4-A84D-1CD3205D3EB9}"/>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738990C6-A970-4E96-8C47-4D7D6B608C77}"/>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5D690713-16EA-423E-B30E-3F0365D13007}"/>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98FE6528-F8DD-4E59-B3F5-196D3C03FB9A}"/>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C91F90D4-6264-4CB6-9EAA-4D606F1919FF}"/>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F8A474F7-4BD3-433A-ABC2-49F5F2DA8034}"/>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F4DE0814-C281-4684-AF0E-7C24B5BD816B}"/>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A517661A-1C01-41FD-9BFF-336DEFCBB810}"/>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D27D9310-A489-42B8-8F57-36691319A2A5}"/>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B1CBFC0F-2BC0-4ABA-9328-9134FEF0747D}"/>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8A39A043-739A-4EAE-96E0-76148DB7F592}"/>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1,234 張知識卡與 300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100 張圖片、80 段教材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NAS、SQLite 與四路進度</a:t>
            </a:r>
          </a:p>
        </p:txBody>
      </p:sp>
      <p:sp>
        <p:nvSpPr>
          <p:cNvPr id="39" name="">
            <a:extLst xmlns:a="http://schemas.openxmlformats.org/drawingml/2006/main">
              <a:ext uri="{FF2B5EF4-FFF2-40B4-BE49-F238E27FC236}">
                <a16:creationId xmlns:a16="http://schemas.microsoft.com/office/drawing/2014/main" id="{A5CEDCF7-F267-4691-B39E-E0C5DDF5FFC4}"/>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6BDBBC4F-46B4-4B38-8FD4-934FFBEA9293}"/>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5D8096AA-D12B-4F72-9A5E-4429764B054D}"/>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7868CF02-E5DB-46D1-B9E8-12BB09426CE5}"/>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0EB97EFB-C111-423A-966B-307EDEA692B7}"/>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991224B5-912C-4F27-B1CD-BCC6F705D0A5}"/>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EE11D6C8-39F0-4E8A-AEF2-379E34181EBC}"/>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9739FDD7-57E4-4543-B320-AB6F41444831}"/>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18876964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2026-09-19T14:41:52.6010000Z</dcterms:created>
  <dcterms:modified xsi:type="dcterms:W3CDTF">2026-09-19T14:41:52.6010000Z</dcterms:modified>
</coreProperties>
</file>