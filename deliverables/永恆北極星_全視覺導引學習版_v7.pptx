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3617be2bd045ac" /><Relationship Type="http://schemas.openxmlformats.org/officeDocument/2006/relationships/extended-properties" Target="/docProps/app.xml" Id="R641610f0d54842e4" /><Relationship Type="http://schemas.openxmlformats.org/officeDocument/2006/relationships/officeDocument" Target="/ppt/presentation.xml" Id="R8783ad7041c44be2" /></Relationships>
</file>

<file path=ppt/presentation.xml><?xml version="1.0" encoding="utf-8"?>
<p:presentation xmlns:p="http://schemas.openxmlformats.org/presentationml/2006/main">
  <p:sldMasterIdLst>
    <p:sldMasterId xmlns:r="http://schemas.openxmlformats.org/officeDocument/2006/relationships" id="2147483648" r:id="R22f642d9ce1e4726"/>
  </p:sldMasterIdLst>
  <p:notesMasterIdLst>
    <p:notesMasterId xmlns:r="http://schemas.openxmlformats.org/officeDocument/2006/relationships" r:id="R9fb4012b4e8f4cee"/>
  </p:notesMasterIdLst>
  <p:sldIdLst>
    <p:sldId xmlns:r="http://schemas.openxmlformats.org/officeDocument/2006/relationships" id="256" r:id="R7f6646c43d6841a7"/>
    <p:sldId xmlns:r="http://schemas.openxmlformats.org/officeDocument/2006/relationships" id="257" r:id="R5b6eb3c6e62d4db0"/>
    <p:sldId xmlns:r="http://schemas.openxmlformats.org/officeDocument/2006/relationships" id="258" r:id="Rea575487a48944b2"/>
    <p:sldId xmlns:r="http://schemas.openxmlformats.org/officeDocument/2006/relationships" id="259" r:id="R5daba4511dfa4fea"/>
    <p:sldId xmlns:r="http://schemas.openxmlformats.org/officeDocument/2006/relationships" id="260" r:id="R55b57c04f83d474c"/>
    <p:sldId xmlns:r="http://schemas.openxmlformats.org/officeDocument/2006/relationships" id="261" r:id="Rb0de15686ed84a77"/>
    <p:sldId xmlns:r="http://schemas.openxmlformats.org/officeDocument/2006/relationships" id="262" r:id="R43ef5eb23b05462a"/>
    <p:sldId xmlns:r="http://schemas.openxmlformats.org/officeDocument/2006/relationships" id="263" r:id="R733fe65299354def"/>
    <p:sldId xmlns:r="http://schemas.openxmlformats.org/officeDocument/2006/relationships" id="264" r:id="Rdc10b3e0e5814192"/>
    <p:sldId xmlns:r="http://schemas.openxmlformats.org/officeDocument/2006/relationships" id="265" r:id="R222f7af6a2d64697"/>
    <p:sldId xmlns:r="http://schemas.openxmlformats.org/officeDocument/2006/relationships" id="266" r:id="R875333a8318942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982ce500284bd6" /><Relationship Type="http://schemas.openxmlformats.org/officeDocument/2006/relationships/slideMaster" Target="/ppt/slideMasters/slideMaster1.xml" Id="R22f642d9ce1e4726" /><Relationship Type="http://schemas.openxmlformats.org/officeDocument/2006/relationships/notesMaster" Target="/ppt/notesMasters/notesMaster1.xml" Id="R9fb4012b4e8f4cee" /><Relationship Type="http://schemas.openxmlformats.org/officeDocument/2006/relationships/presProps" Target="/ppt/presProps.xml" Id="R97a58c6de94646cf" /><Relationship Type="http://schemas.openxmlformats.org/officeDocument/2006/relationships/tableStyles" Target="/ppt/tableStyles.xml" Id="Rd735ecce6e2e4df0" /><Relationship Type="http://schemas.openxmlformats.org/officeDocument/2006/relationships/slide" Target="/ppt/slides/slide1.xml" Id="R7f6646c43d6841a7" /><Relationship Type="http://schemas.openxmlformats.org/officeDocument/2006/relationships/slide" Target="/ppt/slides/slide2.xml" Id="R5b6eb3c6e62d4db0" /><Relationship Type="http://schemas.openxmlformats.org/officeDocument/2006/relationships/slide" Target="/ppt/slides/slide3.xml" Id="Rea575487a48944b2" /><Relationship Type="http://schemas.openxmlformats.org/officeDocument/2006/relationships/slide" Target="/ppt/slides/slide4.xml" Id="R5daba4511dfa4fea" /><Relationship Type="http://schemas.openxmlformats.org/officeDocument/2006/relationships/slide" Target="/ppt/slides/slide5.xml" Id="R55b57c04f83d474c" /><Relationship Type="http://schemas.openxmlformats.org/officeDocument/2006/relationships/slide" Target="/ppt/slides/slide6.xml" Id="Rb0de15686ed84a77" /><Relationship Type="http://schemas.openxmlformats.org/officeDocument/2006/relationships/slide" Target="/ppt/slides/slide7.xml" Id="R43ef5eb23b05462a" /><Relationship Type="http://schemas.openxmlformats.org/officeDocument/2006/relationships/slide" Target="/ppt/slides/slide8.xml" Id="R733fe65299354def" /><Relationship Type="http://schemas.openxmlformats.org/officeDocument/2006/relationships/slide" Target="/ppt/slides/slide9.xml" Id="Rdc10b3e0e5814192" /><Relationship Type="http://schemas.openxmlformats.org/officeDocument/2006/relationships/slide" Target="/ppt/slides/slide10.xml" Id="R222f7af6a2d64697" /><Relationship Type="http://schemas.openxmlformats.org/officeDocument/2006/relationships/slide" Target="/ppt/slides/slide11.xml" Id="R875333a8318942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08078ec58243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cb8df94c564902" /><Relationship Type="http://schemas.openxmlformats.org/officeDocument/2006/relationships/notesMaster" Target="/ppt/notesMasters/notesMaster1.xml" Id="R694fefffa32940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ac0f7e08d44ec2" /><Relationship Type="http://schemas.openxmlformats.org/officeDocument/2006/relationships/notesMaster" Target="/ppt/notesMasters/notesMaster1.xml" Id="R446914d9c56944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49f1ccff244441" /><Relationship Type="http://schemas.openxmlformats.org/officeDocument/2006/relationships/notesMaster" Target="/ppt/notesMasters/notesMaster1.xml" Id="R4233e86c3ec04f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c83cc0665a40d1" /><Relationship Type="http://schemas.openxmlformats.org/officeDocument/2006/relationships/notesMaster" Target="/ppt/notesMasters/notesMaster1.xml" Id="R5f1d6f095fed44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538207d317465c" /><Relationship Type="http://schemas.openxmlformats.org/officeDocument/2006/relationships/notesMaster" Target="/ppt/notesMasters/notesMaster1.xml" Id="R843bce21705444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0559ba4a4341b0" /><Relationship Type="http://schemas.openxmlformats.org/officeDocument/2006/relationships/notesMaster" Target="/ppt/notesMasters/notesMaster1.xml" Id="R0173fc8fde6642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7265b074c84fe4" /><Relationship Type="http://schemas.openxmlformats.org/officeDocument/2006/relationships/notesMaster" Target="/ppt/notesMasters/notesMaster1.xml" Id="Re6107587b34941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7a17ebbb744193" /><Relationship Type="http://schemas.openxmlformats.org/officeDocument/2006/relationships/notesMaster" Target="/ppt/notesMasters/notesMaster1.xml" Id="Rc9c7010f98ff4a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62bcc49bea4d84" /><Relationship Type="http://schemas.openxmlformats.org/officeDocument/2006/relationships/notesMaster" Target="/ppt/notesMasters/notesMaster1.xml" Id="R3df8cb20bd6e47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9379524b9c4e11" /><Relationship Type="http://schemas.openxmlformats.org/officeDocument/2006/relationships/notesMaster" Target="/ppt/notesMasters/notesMaster1.xml" Id="Re76ea3df5d1c4f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b71604aff9438c" /><Relationship Type="http://schemas.openxmlformats.org/officeDocument/2006/relationships/notesMaster" Target="/ppt/notesMasters/notesMaster1.xml" Id="R77eead7ca5a34d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一千兩百三十六張結構化知識卡、涵蓋二十四個科學主題的三百題固定測驗題庫，並重組出八十段適合在手機上閱讀的導引式學習教材。今天的報告我會介紹系統動機、產品定位、通訊與路由架構、四座寶庫的規則、工程健全性驗證，以及目前成果與限制。</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最後第五段是「結論與參考資料」：盤點目前已經落地的功能、誠實說明現階段限制，並將所有引用的官方文獻與專案資料完整映射對應。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它可以作為課後自主探索、參觀科學館或天文台時的互動導覽，也能用趣味試煉複習科學常識。這些是依照現有功能提出的使用情境，不代表我們已經做過使用者研究；目前能確定的是，這套互動骨架已經完成。</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裡，內建三百道固定答案的科學測驗，以及八十段循序漸進的微課程。平時隨時想聊就聊，想闖關時有引路守門人出題，答錯時還有詳細的科學解說。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API。即使模型額度用完或模型服務暫時故障，三百道題目仍由伺服器上的固定資料處理；專案也沒有即時網路搜尋、RAG、向量資料庫或自行訓練模型。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將事件派發到我們的機器人伺服器（在開發測試階段則是透過 ngrok 通道轉發）。</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來保存使用者的四座寶庫學習進度。這裡要特別強調，SQLite 是完全運行在機器人伺服器端，使用者的手機 LINE 軟體完全不會碰觸到資料庫檔案，更不可能由前端執行任何 SQL 指令，所有進度讀寫都是透過後端程式經過參數化查詢控管。對話記憶也只保留最近三組，並設定三十分鐘自動失效，兼顧了對話流暢度與隱私安全。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第一，是一千兩百三十六張人工整理的結構化知識卡。內容從天文與科幻物理出發，延伸到行星環境、小天體、異星生命、台灣觀星、未來科技與電影科學，並載明科學分類與查證來源。</a:t>
            </a:r>
          </a:p>
          <a:p xmlns:a="http://schemas.openxmlformats.org/drawingml/2006/main">
            <a:r>
              <a:t>第二，是三百道固定正解的測驗題庫。這三百題涵蓋二十四個科學主題，從太陽系行星、恆星演化與相對論，延伸到行星防禦、電影科學、地球生命、量子概念與太空工程。程式會調整A、B、C、D的正解位置分布，避免使用者只靠猜選項規律破關。</a:t>
            </a:r>
          </a:p>
          <a:p xmlns:a="http://schemas.openxmlformats.org/drawingml/2006/main">
            <a:r>
              <a:t>第三，是八十段重組教材。導引路線挑選適合循序學習的內容重新編排；其餘新增知識仍能透過自由問答與星之試煉使用，因此知識卡、題庫與導引教材的數量不需要相同。</a:t>
            </a:r>
          </a:p>
          <a:p xmlns:a="http://schemas.openxmlformats.org/drawingml/2006/main">
            <a:r>
              <a:t/>
            </a:r>
          </a:p>
          <a:p xmlns:a="http://schemas.openxmlformats.org/drawingml/2006/main">
            <a:r>
              <a:t>投影片上的原生圖表顯示四座寶庫的題數。星海之庫因為加入八大行星深度介紹、小天體與星際航行，目前有一百六十一題；未來幻夢之庫加入更多電影科學後有七十二題，另外兩庫維持原有內容。</a:t>
            </a:r>
          </a:p>
          <a:p xmlns:a="http://schemas.openxmlformats.org/drawingml/2006/main">
            <a:r>
              <a:t>固定題庫測驗與導引學習段落不依賴外部 AI API。即使模型額度用完或第三方服務暫時連線不順，三百題測驗與八十段教材仍能由機器人伺服器處理，答案也不會因模型生成而漂移。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a:t>
            </a:r>
          </a:p>
          <a:p xmlns:a="http://schemas.openxmlformats.org/drawingml/2006/main">
            <a:r>
              <a:t>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如果使用者的問題經過關鍵字與詞彙比對後，高信心命中本機的一千兩百三十六張知識卡，系統會直接提取卡片內容回覆。這條路徑不呼叫外部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額度用完了，整個問答功能就停擺吧？</a:t>
            </a:r>
          </a:p>
          <a:p xmlns:a="http://schemas.openxmlformats.org/drawingml/2006/main">
            <a:r>
              <a:t>於是我把系統底層重構成「可切換供應商」的架構，並將目前的預設模型切換為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在題庫結構上，我們逐一驗證了三百道題目的資料格式、選項均勻度與標準答案映射。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這裡我必須非常客觀地說明：這四次成功紀錄只證明在九月八日當天的四次嘗試中，這條通訊鏈路曾經順利完成；它不代表外部雲端 API 永遠不會中斷，也不代表任何尚未發生的現場展示已經通過驗證。</a:t>
            </a:r>
          </a:p>
          <a:p xmlns:a="http://schemas.openxmlformats.org/drawingml/2006/main">
            <a:r>
              <a:t/>
            </a:r>
          </a:p>
          <a:p xmlns:a="http://schemas.openxmlformats.org/drawingml/2006/main">
            <a:r>
              <a:t>專案資料沒有記載正式展示日期，所以這裡不會自行填入某一天，也不會宣稱已安排展示當日的檢查。能確定的是：主要程式流程有自動化測試，另有四次帶日期的模型連線紀錄。</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README 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隨著系統各個模組陸續到位，我們來總結目前已經具備的成果，以及現階段可以誠實說明的限制。</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開源模型」的雙路徑架構；</a:t>
            </a:r>
          </a:p>
          <a:p xmlns:a="http://schemas.openxmlformats.org/drawingml/2006/main">
            <a:r>
              <a:t>完成了涵蓋二十四個主題、具備三百道題目的防竄改測驗系統；</a:t>
            </a:r>
          </a:p>
          <a:p xmlns:a="http://schemas.openxmlformats.org/drawingml/2006/main">
            <a:r>
              <a:t>實現了四座獨立寶庫、十六個階段、八十段微課程的伺服器端導引學習；</a:t>
            </a:r>
          </a:p>
          <a:p xmlns:a="http://schemas.openxmlformats.org/drawingml/2006/main">
            <a:r>
              <a:t>並且用自動化測試檢查通訊、題庫、按鈕與資料交易。</a:t>
            </a:r>
          </a:p>
          <a:p xmlns:a="http://schemas.openxmlformats.org/drawingml/2006/main">
            <a:r>
              <a:t/>
            </a:r>
          </a:p>
          <a:p xmlns:a="http://schemas.openxmlformats.org/drawingml/2006/main">
            <a:r>
              <a:t>現階段也有三件事必須分清楚：</a:t>
            </a:r>
          </a:p>
          <a:p xmlns:a="http://schemas.openxmlformats.org/drawingml/2006/main">
            <a:r>
              <a:t>第一，自動化測試證明的是程式規則能否正確執行，不等於已經證明學習成效。</a:t>
            </a:r>
          </a:p>
          <a:p xmlns:a="http://schemas.openxmlformats.org/drawingml/2006/main">
            <a:r>
              <a:t>第二，固定題庫與導引教材在本機就能運作；開放式模型問答則需要網路、可用的 API 與足夠額度。</a:t>
            </a:r>
          </a:p>
          <a:p xmlns:a="http://schemas.openxmlformats.org/drawingml/2006/main">
            <a:r>
              <a:t>第三，目前專案資料沒有正式列出後續開發排程，因此手機實機展示、健康檢查腳本、學生試用、公開部署、備份、隱私政策與負載測試，都不能講成我們已經承諾要做的工作。</a:t>
            </a:r>
          </a:p>
          <a:p xmlns:a="http://schemas.openxmlformats.org/drawingml/2006/main">
            <a:r>
              <a:t/>
            </a:r>
          </a:p>
          <a:p xmlns:a="http://schemas.openxmlformats.org/drawingml/2006/main">
            <a:r>
              <a:t>所以這一頁的「未來工作」只有一個誠實答案：目前尚未排定。若之後真的繼續開發，應該依照實際需求再決定，而不是先把所有可能性包裝成既定計畫。</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第四項，對應第六頁與第八頁（P6、P8）的知識資產與四座寶庫，所有的一千兩百三十六張知識卡、三百題TSV題庫、八十段導引教材與SQLite資料庫綱要，均完整放在GitHub專案儲存庫中。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第六項，對應第九頁（P9）的系統驗證，測試範圍與 2026 年 9 月 8 日的四次真實對話紀錄，依據專案 README 與測試程式整理。</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abe2f203f540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edfc66b9a8421b" /><Relationship Type="http://schemas.openxmlformats.org/officeDocument/2006/relationships/slideLayout" Target="/ppt/slideLayouts/slideLayout1.xml" Id="Rcd2891d1e9ae47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2891d1e9ae47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1194c285b64c4b" /><Relationship Type="http://schemas.openxmlformats.org/officeDocument/2006/relationships/image" Target="/ppt/media/image.png" Id="Rb41c33c800754e89" /><Relationship Type="http://schemas.openxmlformats.org/officeDocument/2006/relationships/notesSlide" Target="/ppt/notesSlides/notesSlide1.xml" Id="R5215e95523fb40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37a719ef924ea4" /><Relationship Type="http://schemas.openxmlformats.org/officeDocument/2006/relationships/notesSlide" Target="/ppt/notesSlides/notesSlide2.xml" Id="R87cd0063443c41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3706de1eea4c13" /><Relationship Type="http://schemas.openxmlformats.org/officeDocument/2006/relationships/image" Target="/ppt/media/image2.png" Id="R841a199ab678405d" /><Relationship Type="http://schemas.openxmlformats.org/officeDocument/2006/relationships/notesSlide" Target="/ppt/notesSlides/notesSlide3.xml" Id="Rfe9a73e5eb7d40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4fe77a38504fc0" /><Relationship Type="http://schemas.openxmlformats.org/officeDocument/2006/relationships/notesSlide" Target="/ppt/notesSlides/notesSlide4.xml" Id="R957f4e3db1584e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f1d51dbb044820" /><Relationship Type="http://schemas.openxmlformats.org/officeDocument/2006/relationships/notesSlide" Target="/ppt/notesSlides/notesSlide5.xml" Id="R64f5e4fe1cd640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bb201c2c4a4b44" /><Relationship Type="http://schemas.openxmlformats.org/officeDocument/2006/relationships/chart" Target="/ppt/slides/charts/chart1.xml" Id="Rdf6c675ffd5b47e1" /><Relationship Type="http://schemas.openxmlformats.org/officeDocument/2006/relationships/notesSlide" Target="/ppt/notesSlides/notesSlide6.xml" Id="Rce81631b6fa249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23e39ae18b43ab" /><Relationship Type="http://schemas.openxmlformats.org/officeDocument/2006/relationships/notesSlide" Target="/ppt/notesSlides/notesSlide7.xml" Id="R66593f14fb3b4d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051e334bc74c19" /><Relationship Type="http://schemas.openxmlformats.org/officeDocument/2006/relationships/notesSlide" Target="/ppt/notesSlides/notesSlide8.xml" Id="R05933c9ce86743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e00242da0046a9" /><Relationship Type="http://schemas.openxmlformats.org/officeDocument/2006/relationships/notesSlide" Target="/ppt/notesSlides/notesSlide9.xml" Id="Rb090fb20eb2245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64e2ee3d8244cd" /><Relationship Type="http://schemas.openxmlformats.org/officeDocument/2006/relationships/notesSlide" Target="/ppt/notesSlides/notesSlide10.xml" Id="R1e55daee9f354c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65da72ab8154bed" /><Relationship Type="http://schemas.openxmlformats.org/officeDocument/2006/relationships/notesSlide" Target="/ppt/notesSlides/notesSlide11.xml" Id="Rb8c6cd5ff2c24f8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161</c:v>
                </c:pt>
                <c:pt idx="1">
                  <c:v>37</c:v>
                </c:pt>
                <c:pt idx="2">
                  <c:v>30</c:v>
                </c:pt>
                <c:pt idx="3">
                  <c:v>72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41c33c800754e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41A14D-B3B7-48C1-A54C-7BC47CEDE9BE}"/>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C378DD2F-B59C-4B9E-B8CA-B402F048D98E}"/>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97961FCB-B1E7-4A36-839F-3922FAD104E8}"/>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B58B29DF-8A4E-4545-B032-DA5B65B67FDE}"/>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67311710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052A7B2-C525-4CF7-8784-6EE5ADE1B38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E838A0D7-2895-4E3C-A0E5-7ABB9C2F641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1CA6A52E-9395-4C96-AC53-6E6C9812603C}"/>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4277CDC8-2CE8-4ADD-A3BE-D6F107CFA950}"/>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154EC982-FF8F-4750-BEAC-43AA94C1D2A2}"/>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4916C879-E1D9-4BBD-9ED9-225D73A240A7}"/>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37029333-9AB3-478D-AD99-1E612BDD4035}"/>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DBB5B4EC-5343-43DF-8324-299F90567F85}"/>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03A28B10-AF47-4ADA-A864-A565489DBC97}"/>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D34D00FF-1982-483E-B0C4-3022432737BF}"/>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99A65CF9-9034-412F-97E0-8B9189A625B1}"/>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82A0CCA5-848C-4970-A1F7-3FCD0EAE23FF}"/>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A7CC79E7-F5F1-47F4-9893-4B0504936A20}"/>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FA00B7D4-7F23-4BC5-AF41-BE55DA701602}"/>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DD285ED5-2AF6-48AE-9904-35A602BF2C0A}"/>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0BE016EC-45BF-4746-870D-2E17FB5EB668}"/>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0BB28BFC-A340-46DE-88D4-FE32F825BD2C}"/>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E18D491E-CCA4-4718-954B-1EBCF21178E4}"/>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847C76B6-EC0E-4767-B03E-312C5E26B1DC}"/>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1B9628D4-C32E-4303-94C6-03A758E7B0ED}"/>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AF1C7E57-D3EA-43DB-BF57-C14B35D75995}"/>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AC0EFF47-F2E3-4921-BDFB-8BEB6356E253}"/>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13848F48-1892-44D3-8517-8F19F7095938}"/>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70E5E60B-1E88-4843-B560-1F600C091ED5}"/>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成果、限制、來源</a:t>
            </a:r>
          </a:p>
        </p:txBody>
      </p:sp>
    </p:spTree>
    <p:extLst>
      <p:ext uri="{BB962C8B-B14F-4D97-AF65-F5344CB8AC3E}">
        <p14:creationId xmlns:p14="http://schemas.microsoft.com/office/powerpoint/2010/main" val="51894425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7DC9152-96F1-462E-A378-0D887164982E}"/>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E681CDB0-7142-4CC1-86B1-4858B5A849A3}"/>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41a199ab678405d"/>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8FA605-19A5-418B-86F3-F27AB96B91C0}"/>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95ED57E6-771E-40D3-AB9A-3E2790336956}"/>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064E37EA-F1CE-4432-A998-F4109D374165}"/>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C1F7B4CE-B64C-43EF-A1A2-C58DE8A375B7}"/>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46FBDA5D-6705-413F-A553-48B6FDD53645}"/>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014D9C80-CA9E-414D-8E3E-3B7F83750FDA}"/>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94652B8D-8AAD-4741-A727-3EB240ECA0A7}"/>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211D3DE5-9872-4A16-8019-2D0D91BECB14}"/>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782F3958-A496-4C6A-A7FC-BC456AAD8793}"/>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49DF694A-12BE-4249-A836-35AEC391B243}"/>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BDA72672-085D-483F-BACC-5CD3130CEFD5}"/>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3AA53F84-3E49-42E5-8133-C37592E941DC}"/>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EC3E53D2-81DF-4808-830C-9803BCBDCAB8}"/>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EC1EDCDF-1CB9-4931-ACAD-F491DD7F4339}"/>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7BAABACF-96DF-4C01-92F2-B851A75771E5}"/>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38727277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A421FF9-2D0E-4545-93B7-4E16240C647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C5B58A7E-F47E-493F-8E8D-8985929E3E44}"/>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B94E650F-9F98-49A3-81FB-FAAD863550FD}"/>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96ED68FD-FCAD-4EFC-8E7B-09461890C8BC}"/>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048E2FE6-1BE2-4053-BD43-94DA32DE74FE}"/>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A1A06319-E63B-4152-A577-2CEF8C9F6466}"/>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3A07211A-D6DF-4997-A80E-2A94B1533A90}"/>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A3078724-242A-4853-8C14-FB31E3527551}"/>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79D816B4-3BA9-49BA-A6D3-1974ACFB54D3}"/>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C27320BD-5BEE-47B0-82D1-ACF12A173C00}"/>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3FC43A81-49F1-4082-9B9C-3ADF5F6993FE}"/>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F77E3712-4659-493C-B4FE-5430A42DE24A}"/>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2793735D-6D1A-4877-AC72-4C9EDE09BC58}"/>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86F259A3-21B5-4934-8778-25367FA7B783}"/>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564A9705-349A-4143-BD91-02A2506E4D5D}"/>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7F31C196-97AD-4D7D-A2EB-6A03E18AC601}"/>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FC7EC0AE-B094-4CFD-8C8A-8782B6ECDC26}"/>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02D8FAEE-8B6B-411A-B87E-0CAA07671E56}"/>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115676310"/>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A79D2EF-2DDA-42A0-85B8-B0454546E79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872A2212-F77F-4775-BD47-9BABA9893CF2}"/>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DDABB3EF-E11B-4166-84F8-FBD650AEBE95}"/>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從手機訊息到可驗證回覆</a:t>
            </a:r>
          </a:p>
        </p:txBody>
      </p:sp>
      <p:sp>
        <p:nvSpPr>
          <p:cNvPr id="4" name="">
            <a:extLst xmlns:a="http://schemas.openxmlformats.org/drawingml/2006/main">
              <a:ext uri="{FF2B5EF4-FFF2-40B4-BE49-F238E27FC236}">
                <a16:creationId xmlns:a16="http://schemas.microsoft.com/office/drawing/2014/main" id="{A19DC075-CE78-41E8-A2F8-B4F633151649}"/>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B4BB8A18-72F6-4CB9-8215-A01B354B21C4}"/>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F3F89271-E18D-48B6-9E76-E60D15220518}"/>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9453D663-147E-4EE5-8E06-D95DCF983E02}"/>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575C1F3B-63C2-4728-982A-6269109BC80B}"/>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2A45A427-5254-457F-A9A7-DEE687BA39C7}"/>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068E568B-C10C-4317-9A92-10837D78C920}"/>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8EEF57CE-CEE4-420C-84A2-2ED6191C8806}"/>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B29FF20E-3E60-443D-A03B-F28F4D94FDB3}"/>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00EBC349-DDDE-42D0-8045-FE8AD2375F42}"/>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92CCCDC8-1B48-46A0-8DB9-EF171C221FBA}"/>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B29E84CC-AD0E-429B-9FAC-796AEDD3ACE4}"/>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ABD8278E-193E-4AD6-B1AF-3A8CA02C6AEE}"/>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1A35D0B6-953D-4AA9-BBD4-9076B33E5FA1}"/>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A1AFAF05-751A-4509-AE3F-71FA4B81D066}"/>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348914F9-7BB2-44B3-BF15-E7B669A4F2C4}"/>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4B3B8DDA-0C0B-4563-8995-5385F2DBAA80}"/>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0839BB2A-0FD5-4B4C-A9D6-99B5A9FE45C1}"/>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D237E432-FC5D-457E-B523-CDA858C8D64D}"/>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E422015C-59CF-474F-B17F-17740C22ACDE}"/>
              </a:ext>
            </a:extLst>
          </p:cNvPr>
          <p:cNvSpPr>
            <a:spLocks xmlns:a="http://schemas.openxmlformats.org/drawingml/2006/main" noGrp="1"/>
          </p:cNvSpPr>
          <p:nvPr/>
        </p:nvSpPr>
        <p:spPr>
          <a:xfrm xmlns:a="http://schemas.openxmlformats.org/drawingml/2006/main">
            <a:off x="685800" y="556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42830"/>
                </a:solidFill>
                <a:latin typeface="Microsoft JhengHei"/>
                <a:ea typeface="Microsoft JhengHei"/>
                <a:cs typeface="Microsoft JhengHei"/>
              </a:defRPr>
            </a:pPr>
            <a:r>
              <a:rPr sz="1800" b="1">
                <a:solidFill>
                  <a:srgbClr val="242830"/>
                </a:solidFill>
                <a:latin typeface="Microsoft JhengHei"/>
                <a:ea typeface="Microsoft JhengHei"/>
                <a:cs typeface="Microsoft JhengHei"/>
              </a:rPr>
              <a:t>明確指令交給程式，自然語言問題交給回答服務。</a:t>
            </a:r>
          </a:p>
        </p:txBody>
      </p:sp>
      <p:sp>
        <p:nvSpPr>
          <p:cNvPr id="24" name="">
            <a:extLst xmlns:a="http://schemas.openxmlformats.org/drawingml/2006/main">
              <a:ext uri="{FF2B5EF4-FFF2-40B4-BE49-F238E27FC236}">
                <a16:creationId xmlns:a16="http://schemas.microsoft.com/office/drawing/2014/main" id="{B354DBD8-6021-450B-97E1-E9A2E575EDF4}"/>
              </a:ext>
            </a:extLst>
          </p:cNvPr>
          <p:cNvSpPr>
            <a:spLocks xmlns:a="http://schemas.openxmlformats.org/drawingml/2006/main" noGrp="1"/>
          </p:cNvSpPr>
          <p:nvPr/>
        </p:nvSpPr>
        <p:spPr>
          <a:xfrm xmlns:a="http://schemas.openxmlformats.org/drawingml/2006/main">
            <a:off x="685800" y="6000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轉成假名代碼後使用；學習進度存在伺服器 SQLite</a:t>
            </a:r>
          </a:p>
        </p:txBody>
      </p:sp>
    </p:spTree>
    <p:extLst>
      <p:ext uri="{BB962C8B-B14F-4D97-AF65-F5344CB8AC3E}">
        <p14:creationId xmlns:p14="http://schemas.microsoft.com/office/powerpoint/2010/main" val="195220716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C444C1-B0B5-4EDF-AED1-25B7C507B597}"/>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3E8628D1-19EE-4986-8A09-BB427E361E7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4B5D2C79-505F-4AA7-8809-446021FF1383}"/>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1,236 張知識卡、300 題、24 個主題</a:t>
            </a:r>
          </a:p>
        </p:txBody>
      </p:sp>
      <p:graphicFrame>
        <p:nvGraphicFramePr>
          <p:cNvPr id="15"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df6c675ffd5b47e1"/>
          </a:graphicData>
        </a:graphic>
      </p:graphicFrame>
      <p:sp>
        <p:nvSpPr>
          <p:cNvPr id="5" name="">
            <a:extLst xmlns:a="http://schemas.openxmlformats.org/drawingml/2006/main">
              <a:ext uri="{FF2B5EF4-FFF2-40B4-BE49-F238E27FC236}">
                <a16:creationId xmlns:a16="http://schemas.microsoft.com/office/drawing/2014/main" id="{86F48FC6-B03F-4B17-AAC1-697C62D37D85}"/>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2FBCB142-3375-4478-9C41-82A4EFBF957A}"/>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712B6D3C-606A-40FC-8AD5-0192180318DC}"/>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F197E356-3D1F-4811-99AA-20A9117D9C7D}"/>
              </a:ext>
            </a:extLst>
          </p:cNvPr>
          <p:cNvSpPr>
            <a:spLocks xmlns:a="http://schemas.openxmlformats.org/drawingml/2006/main" noGrp="1"/>
          </p:cNvSpPr>
          <p:nvPr/>
        </p:nvSpPr>
        <p:spPr>
          <a:xfrm xmlns:a="http://schemas.openxmlformats.org/drawingml/2006/main">
            <a:off x="8562975" y="341947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2E0FE7FC-1AD9-4AFC-A918-676A56D94D88}"/>
              </a:ext>
            </a:extLst>
          </p:cNvPr>
          <p:cNvSpPr>
            <a:spLocks xmlns:a="http://schemas.openxmlformats.org/drawingml/2006/main" noGrp="1"/>
          </p:cNvSpPr>
          <p:nvPr/>
        </p:nvSpPr>
        <p:spPr>
          <a:xfrm xmlns:a="http://schemas.openxmlformats.org/drawingml/2006/main">
            <a:off x="7715250" y="44767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80 段重組導引教材</a:t>
            </a:r>
          </a:p>
        </p:txBody>
      </p:sp>
      <p:sp>
        <p:nvSpPr>
          <p:cNvPr id="10" name="">
            <a:extLst xmlns:a="http://schemas.openxmlformats.org/drawingml/2006/main">
              <a:ext uri="{FF2B5EF4-FFF2-40B4-BE49-F238E27FC236}">
                <a16:creationId xmlns:a16="http://schemas.microsoft.com/office/drawing/2014/main" id="{CC234910-019A-4D69-80DA-FC4BC09648F2}"/>
              </a:ext>
            </a:extLst>
          </p:cNvPr>
          <p:cNvSpPr>
            <a:spLocks xmlns:a="http://schemas.openxmlformats.org/drawingml/2006/main" noGrp="1"/>
          </p:cNvSpPr>
          <p:nvPr/>
        </p:nvSpPr>
        <p:spPr>
          <a:xfrm xmlns:a="http://schemas.openxmlformats.org/drawingml/2006/main">
            <a:off x="7524750" y="5019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固定題庫不依賴 AI API</a:t>
            </a:r>
          </a:p>
        </p:txBody>
      </p:sp>
      <p:sp>
        <p:nvSpPr>
          <p:cNvPr id="11" name="">
            <a:extLst xmlns:a="http://schemas.openxmlformats.org/drawingml/2006/main">
              <a:ext uri="{FF2B5EF4-FFF2-40B4-BE49-F238E27FC236}">
                <a16:creationId xmlns:a16="http://schemas.microsoft.com/office/drawing/2014/main" id="{68740894-A21F-4168-95DA-63502C32593B}"/>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知識卡提供來源；題庫答案固定；導引教材安排學習順序。</a:t>
            </a:r>
          </a:p>
        </p:txBody>
      </p:sp>
    </p:spTree>
    <p:extLst>
      <p:ext uri="{BB962C8B-B14F-4D97-AF65-F5344CB8AC3E}">
        <p14:creationId xmlns:p14="http://schemas.microsoft.com/office/powerpoint/2010/main" val="16473356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C00712D-E3FB-494A-9AEE-18830C55E70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8C771AA3-D621-4A60-9513-C866B47D1CA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DD14EFF8-FFC7-401A-9E86-97A960288067}"/>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5E7C692B-D740-4E19-B855-7B1750F614BC}"/>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F54A4A99-2535-421E-9704-4D4F69924DC6}"/>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8DBA2215-B17C-4026-90DA-CC8B77E2F04A}"/>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71F321DA-44B2-40ED-B003-0A4F91E62B1F}"/>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88427EAF-5222-4C24-A334-CF22DEB209F7}"/>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EB8D8BAC-EA6B-4D6C-9BD9-05265B36065D}"/>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CA9BCB8A-1684-4414-A2C8-8DB01B1AAA88}"/>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D29F00C3-8C0C-4C4D-A237-AF74DA4BEB07}"/>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786396A0-AAE0-4FFB-A65B-93000F015AD4}"/>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90DF65A8-C946-4E96-A261-87BAEC8FCC38}"/>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93934AFA-1123-4035-AE1D-B004E9C6E51C}"/>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C9C8A9B2-5C38-40E6-BDFA-D2860C15D72B}"/>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D2E86235-09C4-4EC6-8273-AC1E520F951A}"/>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4F0C329E-C701-4C05-B9C9-65ECE798512A}"/>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3ACACF5D-C737-4C64-A8B0-48644A7B5ADE}"/>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6933B8CE-459A-48CD-BA1F-396B18A9ED23}"/>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498C9F9B-5A41-4583-9E64-A2CBF9098291}"/>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FDF880D3-7CCD-42B8-B479-3C7FD28F3935}"/>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額度用完後，目前改採 Google AI Studio 免費方案</a:t>
            </a:r>
          </a:p>
        </p:txBody>
      </p:sp>
      <p:sp>
        <p:nvSpPr>
          <p:cNvPr id="22" name="">
            <a:extLst xmlns:a="http://schemas.openxmlformats.org/drawingml/2006/main">
              <a:ext uri="{FF2B5EF4-FFF2-40B4-BE49-F238E27FC236}">
                <a16:creationId xmlns:a16="http://schemas.microsoft.com/office/drawing/2014/main" id="{28564E5B-BFCC-4115-A0F3-75759CB48ADD}"/>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1325646948"/>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820170B-9D1F-4BDF-93A4-DE2486AB8D93}"/>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4621EC8A-6A77-4BA0-8075-2C07A4829E2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1728D0CC-ABF5-4A27-980C-08A5660FE7A1}"/>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「你對這世界感到好奇嗎？」</a:t>
            </a:r>
          </a:p>
        </p:txBody>
      </p:sp>
      <p:sp>
        <p:nvSpPr>
          <p:cNvPr id="4" name="">
            <a:extLst xmlns:a="http://schemas.openxmlformats.org/drawingml/2006/main">
              <a:ext uri="{FF2B5EF4-FFF2-40B4-BE49-F238E27FC236}">
                <a16:creationId xmlns:a16="http://schemas.microsoft.com/office/drawing/2014/main" id="{2600DD1B-F9D4-4416-ACC5-DC68BF5E339C}"/>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BBCC57FC-64E2-445F-865B-14A680B00DF1}"/>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6" name="">
            <a:extLst xmlns:a="http://schemas.openxmlformats.org/drawingml/2006/main">
              <a:ext uri="{FF2B5EF4-FFF2-40B4-BE49-F238E27FC236}">
                <a16:creationId xmlns:a16="http://schemas.microsoft.com/office/drawing/2014/main" id="{A446288C-C545-4E6D-AE14-48058AB32B86}"/>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27CB551E-ECC7-4FE8-8B1B-19BFE552C4F5}"/>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8" name="">
            <a:extLst xmlns:a="http://schemas.openxmlformats.org/drawingml/2006/main">
              <a:ext uri="{FF2B5EF4-FFF2-40B4-BE49-F238E27FC236}">
                <a16:creationId xmlns:a16="http://schemas.microsoft.com/office/drawing/2014/main" id="{7C3A7955-6165-4598-902D-B4600F0168CF}"/>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9" name="">
            <a:extLst xmlns:a="http://schemas.openxmlformats.org/drawingml/2006/main">
              <a:ext uri="{FF2B5EF4-FFF2-40B4-BE49-F238E27FC236}">
                <a16:creationId xmlns:a16="http://schemas.microsoft.com/office/drawing/2014/main" id="{D2C5B00F-C1AD-43E9-820B-B58212DF0EA2}"/>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0" name="">
            <a:extLst xmlns:a="http://schemas.openxmlformats.org/drawingml/2006/main">
              <a:ext uri="{FF2B5EF4-FFF2-40B4-BE49-F238E27FC236}">
                <a16:creationId xmlns:a16="http://schemas.microsoft.com/office/drawing/2014/main" id="{6477A9C7-3B10-48A5-9CE2-69ABC88D548F}"/>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1" name="">
            <a:extLst xmlns:a="http://schemas.openxmlformats.org/drawingml/2006/main">
              <a:ext uri="{FF2B5EF4-FFF2-40B4-BE49-F238E27FC236}">
                <a16:creationId xmlns:a16="http://schemas.microsoft.com/office/drawing/2014/main" id="{DEC28F64-5C14-41F9-8590-0CB728FD7B35}"/>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2" name="">
            <a:extLst xmlns:a="http://schemas.openxmlformats.org/drawingml/2006/main">
              <a:ext uri="{FF2B5EF4-FFF2-40B4-BE49-F238E27FC236}">
                <a16:creationId xmlns:a16="http://schemas.microsoft.com/office/drawing/2014/main" id="{B8AF3338-832A-4E89-A17B-38C0947D4369}"/>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3" name="">
            <a:extLst xmlns:a="http://schemas.openxmlformats.org/drawingml/2006/main">
              <a:ext uri="{FF2B5EF4-FFF2-40B4-BE49-F238E27FC236}">
                <a16:creationId xmlns:a16="http://schemas.microsoft.com/office/drawing/2014/main" id="{EE3E2521-4019-4249-BCF4-098718C7FF2E}"/>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4" name="">
            <a:extLst xmlns:a="http://schemas.openxmlformats.org/drawingml/2006/main">
              <a:ext uri="{FF2B5EF4-FFF2-40B4-BE49-F238E27FC236}">
                <a16:creationId xmlns:a16="http://schemas.microsoft.com/office/drawing/2014/main" id="{5F8F780C-ACFF-4D35-9FA2-1DEB7676CD96}"/>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5" name="">
            <a:extLst xmlns:a="http://schemas.openxmlformats.org/drawingml/2006/main">
              <a:ext uri="{FF2B5EF4-FFF2-40B4-BE49-F238E27FC236}">
                <a16:creationId xmlns:a16="http://schemas.microsoft.com/office/drawing/2014/main" id="{099A20C1-CD45-4E4E-8DCC-E3EBA0F5E7C0}"/>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6" name="">
            <a:extLst xmlns:a="http://schemas.openxmlformats.org/drawingml/2006/main">
              <a:ext uri="{FF2B5EF4-FFF2-40B4-BE49-F238E27FC236}">
                <a16:creationId xmlns:a16="http://schemas.microsoft.com/office/drawing/2014/main" id="{6E0BA9AF-00C3-4333-97A0-502AF1E6FED5}"/>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7" name="">
            <a:extLst xmlns:a="http://schemas.openxmlformats.org/drawingml/2006/main">
              <a:ext uri="{FF2B5EF4-FFF2-40B4-BE49-F238E27FC236}">
                <a16:creationId xmlns:a16="http://schemas.microsoft.com/office/drawing/2014/main" id="{D02463C7-480B-47CD-AEA6-F94170F308B9}"/>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3857C728-9920-4E84-B123-F9A7E84E6E49}"/>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19" name="">
            <a:extLst xmlns:a="http://schemas.openxmlformats.org/drawingml/2006/main">
              <a:ext uri="{FF2B5EF4-FFF2-40B4-BE49-F238E27FC236}">
                <a16:creationId xmlns:a16="http://schemas.microsoft.com/office/drawing/2014/main" id="{9DF38890-6E9E-4856-B76B-424D5C5BD51F}"/>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0" name="">
            <a:extLst xmlns:a="http://schemas.openxmlformats.org/drawingml/2006/main">
              <a:ext uri="{FF2B5EF4-FFF2-40B4-BE49-F238E27FC236}">
                <a16:creationId xmlns:a16="http://schemas.microsoft.com/office/drawing/2014/main" id="{62CE08A8-2ED7-4090-BDBC-17D53047B2E2}"/>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1" name="">
            <a:extLst xmlns:a="http://schemas.openxmlformats.org/drawingml/2006/main">
              <a:ext uri="{FF2B5EF4-FFF2-40B4-BE49-F238E27FC236}">
                <a16:creationId xmlns:a16="http://schemas.microsoft.com/office/drawing/2014/main" id="{49E7BC3A-B729-4EEB-A77D-3BB7C8C2B51C}"/>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2" name="">
            <a:extLst xmlns:a="http://schemas.openxmlformats.org/drawingml/2006/main">
              <a:ext uri="{FF2B5EF4-FFF2-40B4-BE49-F238E27FC236}">
                <a16:creationId xmlns:a16="http://schemas.microsoft.com/office/drawing/2014/main" id="{6A5B357B-7845-4FE2-B640-6AC0A9A10998}"/>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52008F7B-C610-48D7-BD55-878FA31E6345}"/>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4" name="">
            <a:extLst xmlns:a="http://schemas.openxmlformats.org/drawingml/2006/main">
              <a:ext uri="{FF2B5EF4-FFF2-40B4-BE49-F238E27FC236}">
                <a16:creationId xmlns:a16="http://schemas.microsoft.com/office/drawing/2014/main" id="{AA8DB488-2B29-49E4-B284-A891A4298BCF}"/>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5" name="">
            <a:extLst xmlns:a="http://schemas.openxmlformats.org/drawingml/2006/main">
              <a:ext uri="{FF2B5EF4-FFF2-40B4-BE49-F238E27FC236}">
                <a16:creationId xmlns:a16="http://schemas.microsoft.com/office/drawing/2014/main" id="{4D75C95E-24C5-444B-9F57-690367D968A6}"/>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6" name="">
            <a:extLst xmlns:a="http://schemas.openxmlformats.org/drawingml/2006/main">
              <a:ext uri="{FF2B5EF4-FFF2-40B4-BE49-F238E27FC236}">
                <a16:creationId xmlns:a16="http://schemas.microsoft.com/office/drawing/2014/main" id="{D30DAE90-D71C-4412-A454-6AA659E847FE}"/>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7" name="">
            <a:extLst xmlns:a="http://schemas.openxmlformats.org/drawingml/2006/main">
              <a:ext uri="{FF2B5EF4-FFF2-40B4-BE49-F238E27FC236}">
                <a16:creationId xmlns:a16="http://schemas.microsoft.com/office/drawing/2014/main" id="{4CB0817C-27CB-4E7C-89DD-EE8231EE5911}"/>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8" name="">
            <a:extLst xmlns:a="http://schemas.openxmlformats.org/drawingml/2006/main">
              <a:ext uri="{FF2B5EF4-FFF2-40B4-BE49-F238E27FC236}">
                <a16:creationId xmlns:a16="http://schemas.microsoft.com/office/drawing/2014/main" id="{680AF40F-9716-4F21-83BF-54647D8E731C}"/>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29" name="">
            <a:extLst xmlns:a="http://schemas.openxmlformats.org/drawingml/2006/main">
              <a:ext uri="{FF2B5EF4-FFF2-40B4-BE49-F238E27FC236}">
                <a16:creationId xmlns:a16="http://schemas.microsoft.com/office/drawing/2014/main" id="{CD091B47-A131-45B5-B5B3-F4FB9D0FEEA8}"/>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0" name="">
            <a:extLst xmlns:a="http://schemas.openxmlformats.org/drawingml/2006/main">
              <a:ext uri="{FF2B5EF4-FFF2-40B4-BE49-F238E27FC236}">
                <a16:creationId xmlns:a16="http://schemas.microsoft.com/office/drawing/2014/main" id="{A249D7D8-8816-4202-A8D5-250B003F2A0C}"/>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1" name="">
            <a:extLst xmlns:a="http://schemas.openxmlformats.org/drawingml/2006/main">
              <a:ext uri="{FF2B5EF4-FFF2-40B4-BE49-F238E27FC236}">
                <a16:creationId xmlns:a16="http://schemas.microsoft.com/office/drawing/2014/main" id="{73550F2D-ED6F-46F6-B80F-693ED41D1475}"/>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2" name="">
            <a:extLst xmlns:a="http://schemas.openxmlformats.org/drawingml/2006/main">
              <a:ext uri="{FF2B5EF4-FFF2-40B4-BE49-F238E27FC236}">
                <a16:creationId xmlns:a16="http://schemas.microsoft.com/office/drawing/2014/main" id="{F93CAE7F-76AD-4302-B141-44DC33138D88}"/>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3" name="">
            <a:extLst xmlns:a="http://schemas.openxmlformats.org/drawingml/2006/main">
              <a:ext uri="{FF2B5EF4-FFF2-40B4-BE49-F238E27FC236}">
                <a16:creationId xmlns:a16="http://schemas.microsoft.com/office/drawing/2014/main" id="{42E9745E-9BB1-418E-B49D-47779FC8BC51}"/>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4" name="">
            <a:extLst xmlns:a="http://schemas.openxmlformats.org/drawingml/2006/main">
              <a:ext uri="{FF2B5EF4-FFF2-40B4-BE49-F238E27FC236}">
                <a16:creationId xmlns:a16="http://schemas.microsoft.com/office/drawing/2014/main" id="{280FB964-6920-4CF7-96FE-317FA376F427}"/>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5" name="">
            <a:extLst xmlns:a="http://schemas.openxmlformats.org/drawingml/2006/main">
              <a:ext uri="{FF2B5EF4-FFF2-40B4-BE49-F238E27FC236}">
                <a16:creationId xmlns:a16="http://schemas.microsoft.com/office/drawing/2014/main" id="{41DA2FF2-F7B7-43DA-8EE6-7701AAB64792}"/>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6" name="">
            <a:extLst xmlns:a="http://schemas.openxmlformats.org/drawingml/2006/main">
              <a:ext uri="{FF2B5EF4-FFF2-40B4-BE49-F238E27FC236}">
                <a16:creationId xmlns:a16="http://schemas.microsoft.com/office/drawing/2014/main" id="{E9C1C359-00A0-4400-947B-101677EF58C5}"/>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位於機器人伺服器，LINE 手機端不執行 SQL。</a:t>
            </a:r>
          </a:p>
        </p:txBody>
      </p:sp>
    </p:spTree>
    <p:extLst>
      <p:ext uri="{BB962C8B-B14F-4D97-AF65-F5344CB8AC3E}">
        <p14:creationId xmlns:p14="http://schemas.microsoft.com/office/powerpoint/2010/main" val="786725584"/>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F33A0DB-1B4B-4768-846E-5798A6A45CA5}"/>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D4F07269-6C77-4533-AA88-CF50F9D41E13}"/>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026180BD-E338-40E7-8A51-C0D563100F92}"/>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ADC7A971-8882-42B8-B312-A28A0520054F}"/>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57C3D6EE-B46A-4D76-A5BB-38A81B62ECBD}"/>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3D69EA82-3CBD-4F9A-9DCA-0A8600AC64C2}"/>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726ABBD4-4951-4B83-9F44-A5401D58D403}"/>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EBF1A682-8FFB-4D43-8C4E-46894077C3D7}"/>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12D3A979-28D9-4E1B-B983-740E11D70103}"/>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355EC86F-4A19-4A6D-BE08-54A0017A31F6}"/>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46CD0DC7-1661-4C1D-B25A-470824908F87}"/>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48CFE29B-1AFC-44E5-8570-05D70619404E}"/>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A05FA0B5-FA0C-41D6-A177-8BAB76AA5999}"/>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A2F98950-CE2E-4EF2-BAB8-8B4EF3ECD4C8}"/>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4A2DCD7C-477F-4E01-836F-417D47F33A4A}"/>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B76548A1-34E8-44BE-A1E2-70384287A238}"/>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D3D3296C-CF43-4C4A-940D-7ABABEFA1114}"/>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66A31115-0BF1-4754-9153-ED3344758842}"/>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6B4DEF11-5556-4922-A111-5C1C6B8FB33A}"/>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AED52AB0-942C-4CF4-A745-37B62105C4E6}"/>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B78ED684-30D9-415B-815E-43C6C0B84AA4}"/>
              </a:ext>
            </a:extLst>
          </p:cNvPr>
          <p:cNvSpPr>
            <a:spLocks xmlns:a="http://schemas.openxmlformats.org/drawingml/2006/main" noGrp="1"/>
          </p:cNvSpPr>
          <p:nvPr/>
        </p:nvSpPr>
        <p:spPr>
          <a:xfrm xmlns:a="http://schemas.openxmlformats.org/drawingml/2006/main">
            <a:off x="7429500" y="5286375"/>
            <a:ext cx="3905250" cy="647700"/>
          </a:xfrm>
          <a:prstGeom xmlns:a="http://schemas.openxmlformats.org/drawingml/2006/main" prst="roundRect">
            <a:avLst>
              <a:gd name="adj" fmla="val 11765"/>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5A24284F-436B-4A55-8389-A6D014F7C2FE}"/>
              </a:ext>
            </a:extLst>
          </p:cNvPr>
          <p:cNvSpPr>
            <a:spLocks xmlns:a="http://schemas.openxmlformats.org/drawingml/2006/main" noGrp="1"/>
          </p:cNvSpPr>
          <p:nvPr/>
        </p:nvSpPr>
        <p:spPr>
          <a:xfrm xmlns:a="http://schemas.openxmlformats.org/drawingml/2006/main">
            <a:off x="7600950" y="54102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57869"/>
                </a:solidFill>
                <a:latin typeface="Microsoft JhengHei"/>
                <a:ea typeface="Microsoft JhengHei"/>
                <a:cs typeface="Microsoft JhengHei"/>
              </a:defRPr>
            </a:pPr>
            <a:r>
              <a:rPr sz="1425" b="1">
                <a:solidFill>
                  <a:srgbClr val="557869"/>
                </a:solidFill>
                <a:latin typeface="Microsoft JhengHei"/>
                <a:ea typeface="Microsoft JhengHei"/>
                <a:cs typeface="Microsoft JhengHei"/>
              </a:rPr>
              <a:t>2026-09-08：Gemma 26B 完成 4 次真實聊天測試</a:t>
            </a:r>
          </a:p>
        </p:txBody>
      </p:sp>
      <p:sp>
        <p:nvSpPr>
          <p:cNvPr id="23" name="">
            <a:extLst xmlns:a="http://schemas.openxmlformats.org/drawingml/2006/main">
              <a:ext uri="{FF2B5EF4-FFF2-40B4-BE49-F238E27FC236}">
                <a16:creationId xmlns:a16="http://schemas.microsoft.com/office/drawing/2014/main" id="{B1188423-4811-4C8C-BE01-5DA6D332E9E9}"/>
              </a:ext>
            </a:extLst>
          </p:cNvPr>
          <p:cNvSpPr>
            <a:spLocks xmlns:a="http://schemas.openxmlformats.org/drawingml/2006/main" noGrp="1"/>
          </p:cNvSpPr>
          <p:nvPr/>
        </p:nvSpPr>
        <p:spPr>
          <a:xfrm xmlns:a="http://schemas.openxmlformats.org/drawingml/2006/main">
            <a:off x="685800" y="60579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4 次成功只代表 2026-09-08 當天的連線紀錄。</a:t>
            </a:r>
          </a:p>
        </p:txBody>
      </p:sp>
    </p:spTree>
    <p:extLst>
      <p:ext uri="{BB962C8B-B14F-4D97-AF65-F5344CB8AC3E}">
        <p14:creationId xmlns:p14="http://schemas.microsoft.com/office/powerpoint/2010/main" val="1569997944"/>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E9CAEE2-5F11-4004-890E-9D247138693E}"/>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988EF1CC-E8CA-4476-8878-30826B2905E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2E39ECC8-A03F-4B18-A469-C9EBFCB1592C}"/>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已完成成果、已知限制、尚未排定的下一步</a:t>
            </a:r>
          </a:p>
        </p:txBody>
      </p:sp>
      <p:sp>
        <p:nvSpPr>
          <p:cNvPr id="4" name="">
            <a:extLst xmlns:a="http://schemas.openxmlformats.org/drawingml/2006/main">
              <a:ext uri="{FF2B5EF4-FFF2-40B4-BE49-F238E27FC236}">
                <a16:creationId xmlns:a16="http://schemas.microsoft.com/office/drawing/2014/main" id="{0FBE5942-E5FD-4343-8CF0-CE4632BDC0E2}"/>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471790BA-04C4-482A-B21C-A3AF3131BE7B}"/>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FA74A69F-8030-448C-8939-EE58D09C1453}"/>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518B38CC-C272-4536-A907-2015B1E50E2D}"/>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已完成</a:t>
            </a:r>
          </a:p>
        </p:txBody>
      </p:sp>
      <p:sp>
        <p:nvSpPr>
          <p:cNvPr id="8" name="">
            <a:extLst xmlns:a="http://schemas.openxmlformats.org/drawingml/2006/main">
              <a:ext uri="{FF2B5EF4-FFF2-40B4-BE49-F238E27FC236}">
                <a16:creationId xmlns:a16="http://schemas.microsoft.com/office/drawing/2014/main" id="{513BB418-3D32-4CD8-91D1-4E119F56F641}"/>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問答＋固定試煉</a:t>
            </a:r>
          </a:p>
        </p:txBody>
      </p:sp>
      <p:sp>
        <p:nvSpPr>
          <p:cNvPr id="9" name="">
            <a:extLst xmlns:a="http://schemas.openxmlformats.org/drawingml/2006/main">
              <a:ext uri="{FF2B5EF4-FFF2-40B4-BE49-F238E27FC236}">
                <a16:creationId xmlns:a16="http://schemas.microsoft.com/office/drawing/2014/main" id="{CB0E79BF-12EC-4CB2-9116-4E508322BCF7}"/>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EDBB73E5-0E34-4B23-8A93-BD9C8B7383B2}"/>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BAFED883-3C0C-4936-B131-435CA58D29D4}"/>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已完成</a:t>
            </a:r>
          </a:p>
        </p:txBody>
      </p:sp>
      <p:sp>
        <p:nvSpPr>
          <p:cNvPr id="12" name="">
            <a:extLst xmlns:a="http://schemas.openxmlformats.org/drawingml/2006/main">
              <a:ext uri="{FF2B5EF4-FFF2-40B4-BE49-F238E27FC236}">
                <a16:creationId xmlns:a16="http://schemas.microsoft.com/office/drawing/2014/main" id="{07546868-2D91-449B-B182-5E517EFA4DD9}"/>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四路導引＋進度</a:t>
            </a:r>
          </a:p>
        </p:txBody>
      </p:sp>
      <p:sp>
        <p:nvSpPr>
          <p:cNvPr id="13" name="">
            <a:extLst xmlns:a="http://schemas.openxmlformats.org/drawingml/2006/main">
              <a:ext uri="{FF2B5EF4-FFF2-40B4-BE49-F238E27FC236}">
                <a16:creationId xmlns:a16="http://schemas.microsoft.com/office/drawing/2014/main" id="{3239DAC5-E097-4FA0-970A-30716707FB16}"/>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204F8DD4-BD86-442A-A48F-B8E0A0F85D34}"/>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18E0DDA8-DD7B-4B14-8E7B-F4F3406AA2EE}"/>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使用限制</a:t>
            </a:r>
          </a:p>
        </p:txBody>
      </p:sp>
      <p:sp>
        <p:nvSpPr>
          <p:cNvPr id="16" name="">
            <a:extLst xmlns:a="http://schemas.openxmlformats.org/drawingml/2006/main">
              <a:ext uri="{FF2B5EF4-FFF2-40B4-BE49-F238E27FC236}">
                <a16:creationId xmlns:a16="http://schemas.microsoft.com/office/drawing/2014/main" id="{EBB195D4-F421-4250-9797-FD1FD46BA7FF}"/>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模型需網路與額度</a:t>
            </a:r>
          </a:p>
        </p:txBody>
      </p:sp>
      <p:sp>
        <p:nvSpPr>
          <p:cNvPr id="17" name="">
            <a:extLst xmlns:a="http://schemas.openxmlformats.org/drawingml/2006/main">
              <a:ext uri="{FF2B5EF4-FFF2-40B4-BE49-F238E27FC236}">
                <a16:creationId xmlns:a16="http://schemas.microsoft.com/office/drawing/2014/main" id="{BAB5EE9B-2228-4D93-9166-91CEE7AF3AEB}"/>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236320CE-993D-44F3-BFA9-1CEE6720EDCB}"/>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D322B96D-0E60-4158-9849-9BCA18611ADE}"/>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未來工作</a:t>
            </a:r>
          </a:p>
        </p:txBody>
      </p:sp>
      <p:sp>
        <p:nvSpPr>
          <p:cNvPr id="20" name="">
            <a:extLst xmlns:a="http://schemas.openxmlformats.org/drawingml/2006/main">
              <a:ext uri="{FF2B5EF4-FFF2-40B4-BE49-F238E27FC236}">
                <a16:creationId xmlns:a16="http://schemas.microsoft.com/office/drawing/2014/main" id="{EC678239-6EF3-4DD0-9EA4-B10B231BA630}"/>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目前尚未排定</a:t>
            </a:r>
          </a:p>
        </p:txBody>
      </p:sp>
      <p:sp>
        <p:nvSpPr>
          <p:cNvPr id="21" name="">
            <a:extLst xmlns:a="http://schemas.openxmlformats.org/drawingml/2006/main">
              <a:ext uri="{FF2B5EF4-FFF2-40B4-BE49-F238E27FC236}">
                <a16:creationId xmlns:a16="http://schemas.microsoft.com/office/drawing/2014/main" id="{65D14169-0F5F-4C63-B1EE-E8BDC9EE76EE}"/>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已完成：1,236 張知識卡、300 題、80 段導引教材、伺服器端學習進度</a:t>
            </a:r>
          </a:p>
        </p:txBody>
      </p:sp>
      <p:sp>
        <p:nvSpPr>
          <p:cNvPr id="22" name="">
            <a:extLst xmlns:a="http://schemas.openxmlformats.org/drawingml/2006/main">
              <a:ext uri="{FF2B5EF4-FFF2-40B4-BE49-F238E27FC236}">
                <a16:creationId xmlns:a16="http://schemas.microsoft.com/office/drawing/2014/main" id="{C426561F-4C8B-4523-960B-C5D5063E8C9C}"/>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只陳述已完成的功能，不把可能方向寫成既定計畫。</a:t>
            </a:r>
          </a:p>
        </p:txBody>
      </p:sp>
    </p:spTree>
    <p:extLst>
      <p:ext uri="{BB962C8B-B14F-4D97-AF65-F5344CB8AC3E}">
        <p14:creationId xmlns:p14="http://schemas.microsoft.com/office/powerpoint/2010/main" val="141048822"/>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45B88CBF-AB8C-449F-AD05-F3E523C28C7D}"/>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E4AAE5EA-1CF0-4AA3-8DB0-EFE56806F8DB}"/>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7321AE86-8578-48B6-AD65-4A81BC466B19}"/>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589C6CB4-0BBD-478F-A139-3E5CE2C3A0DF}"/>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AC4D05AF-1E89-41B9-8742-5396FE7CDDC4}"/>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D6277ED1-48C4-4E4E-AA17-334198F08615}"/>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60DE55B2-4088-4877-8BA3-F53EB54253EE}"/>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F10B0C54-EE4C-40CE-B273-4F886EBF2397}"/>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D8DB7BC1-8B93-488D-9B54-FF8A86A86F76}"/>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B690FD1C-5B71-4488-BA72-4616A653A316}"/>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E6BB0D65-3448-4076-97A2-F5491E045CA2}"/>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BDB5893F-9B49-4D05-8829-252398EA4F27}"/>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33FCBA5E-C296-419D-AA6C-3F899724B6D1}"/>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0F69897C-7EE7-4F6C-B299-34AD7E775612}"/>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CA68CD07-B856-4903-AFC9-20D97959006A}"/>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AD28DFD6-84C5-41D6-AA6E-C37A27010054}"/>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A4C94882-55C6-491F-8CB2-A9FDB008A501}"/>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39AB2576-926D-4790-B52A-09A256790AC4}"/>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D3C06A98-6199-434D-8ED6-B64F3ABFECD2}"/>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CC6C06BB-979D-40CD-B642-837BD3F6F8A6}"/>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63A65C2D-D3C4-4A53-9CA3-EF141F0213A8}"/>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C3B514ED-3BAF-40D3-ABB7-B648A6F9D228}"/>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7082BE8A-9A09-4BFE-BBD9-109F7C616E70}"/>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2E466ECB-40A5-415B-9FF7-4923BD6F18B9}"/>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8BE17B62-FC37-46CB-9B8D-A70E2269E2CB}"/>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0FE329A8-4670-4CE9-8165-B4F4671DF30F}"/>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9F31F0F8-7349-49EE-8605-62460133B364}"/>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3CBDC9EB-D853-4F04-A714-47EF10EB61EA}"/>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E76FB46F-3C31-49C3-AA97-C83BE9BB3640}"/>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9BFCCBF9-AA81-4102-AE8F-B10515824173}"/>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BCCA756E-FE94-46CE-A704-40DABD4D1564}"/>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8568FFE7-5BBC-4FCB-B0DA-E8EBACF828A1}"/>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2BC751DC-653D-4470-B808-F82E964218E7}"/>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349C087F-1E81-425E-82BC-CB5E9A04B588}"/>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16D69FAD-B53F-4ECD-BE42-646312E46C6D}"/>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63D265D9-236F-47F6-A7B3-5B941A0F315D}"/>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C8164E02-763E-47BF-AEBB-3163F8FE8304}"/>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E6442B99-608D-4F6C-BF36-48A2D1FED8EC}"/>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1,236 張知識卡與 300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80 段導引教材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SQLite 與四路進度</a:t>
            </a:r>
          </a:p>
        </p:txBody>
      </p:sp>
      <p:sp>
        <p:nvSpPr>
          <p:cNvPr id="39" name="">
            <a:extLst xmlns:a="http://schemas.openxmlformats.org/drawingml/2006/main">
              <a:ext uri="{FF2B5EF4-FFF2-40B4-BE49-F238E27FC236}">
                <a16:creationId xmlns:a16="http://schemas.microsoft.com/office/drawing/2014/main" id="{A2F32E91-4CBD-4576-B5F7-AC1F34AAB49E}"/>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AC9528D4-6E09-4FCC-8CC8-239C4B99561C}"/>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C743C341-1324-40FD-B3A1-26CFA097D89A}"/>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9FA0095E-75C9-4CB7-AD13-67E55959DA99}"/>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1CFA5896-FFD2-4AF5-9D96-5BB9E8F4DFEC}"/>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D5FA4D3D-DD5A-4E5B-BD88-149475094D91}"/>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8FBFDD55-A2C6-4304-B62A-AB64FD6BEEF9}"/>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3FACF2DC-C893-4751-8EDF-90D6B9187DB9}"/>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1830672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2026-09-19T11:05:10.5450000Z</dcterms:created>
  <dcterms:modified xsi:type="dcterms:W3CDTF">2026-09-19T11:05:10.5450000Z</dcterms:modified>
</coreProperties>
</file>