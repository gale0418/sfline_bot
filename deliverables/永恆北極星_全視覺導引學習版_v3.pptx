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6795f479dd43cc" /><Relationship Type="http://schemas.openxmlformats.org/officeDocument/2006/relationships/extended-properties" Target="/docProps/app.xml" Id="R22742a11f05b491a" /><Relationship Type="http://schemas.openxmlformats.org/officeDocument/2006/relationships/officeDocument" Target="/ppt/presentation.xml" Id="R196fbfe5c39149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9b09f1e9a4f7f"/>
  </p:sldMasterIdLst>
  <p:notesMasterIdLst>
    <p:notesMasterId xmlns:r="http://schemas.openxmlformats.org/officeDocument/2006/relationships" r:id="R533bac14c5cd46da"/>
  </p:notesMasterIdLst>
  <p:sldIdLst>
    <p:sldId xmlns:r="http://schemas.openxmlformats.org/officeDocument/2006/relationships" id="256" r:id="R449fab3d604642e3"/>
    <p:sldId xmlns:r="http://schemas.openxmlformats.org/officeDocument/2006/relationships" id="257" r:id="R7abb45a4942e49fa"/>
    <p:sldId xmlns:r="http://schemas.openxmlformats.org/officeDocument/2006/relationships" id="258" r:id="Rd5439e65c13846eb"/>
    <p:sldId xmlns:r="http://schemas.openxmlformats.org/officeDocument/2006/relationships" id="259" r:id="R0597a5bd08f04fd0"/>
    <p:sldId xmlns:r="http://schemas.openxmlformats.org/officeDocument/2006/relationships" id="260" r:id="R89dab8a9a5f04632"/>
    <p:sldId xmlns:r="http://schemas.openxmlformats.org/officeDocument/2006/relationships" id="261" r:id="R916afbfe75e64f62"/>
    <p:sldId xmlns:r="http://schemas.openxmlformats.org/officeDocument/2006/relationships" id="262" r:id="R9f41ad6e53124649"/>
    <p:sldId xmlns:r="http://schemas.openxmlformats.org/officeDocument/2006/relationships" id="263" r:id="R81437df6b23142d6"/>
    <p:sldId xmlns:r="http://schemas.openxmlformats.org/officeDocument/2006/relationships" id="264" r:id="Ra62ef6dcf8854ce5"/>
    <p:sldId xmlns:r="http://schemas.openxmlformats.org/officeDocument/2006/relationships" id="265" r:id="R63b2b3e46fa848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ccf48ed654818" /><Relationship Type="http://schemas.openxmlformats.org/officeDocument/2006/relationships/slideMaster" Target="/ppt/slideMasters/slideMaster1.xml" Id="R31f9b09f1e9a4f7f" /><Relationship Type="http://schemas.openxmlformats.org/officeDocument/2006/relationships/notesMaster" Target="/ppt/notesMasters/notesMaster1.xml" Id="R533bac14c5cd46da" /><Relationship Type="http://schemas.openxmlformats.org/officeDocument/2006/relationships/presProps" Target="/ppt/presProps.xml" Id="R5be1cf03a84d4d40" /><Relationship Type="http://schemas.openxmlformats.org/officeDocument/2006/relationships/tableStyles" Target="/ppt/tableStyles.xml" Id="R14c764fe284f4202" /><Relationship Type="http://schemas.openxmlformats.org/officeDocument/2006/relationships/slide" Target="/ppt/slides/slide1.xml" Id="R449fab3d604642e3" /><Relationship Type="http://schemas.openxmlformats.org/officeDocument/2006/relationships/slide" Target="/ppt/slides/slide2.xml" Id="R7abb45a4942e49fa" /><Relationship Type="http://schemas.openxmlformats.org/officeDocument/2006/relationships/slide" Target="/ppt/slides/slide3.xml" Id="Rd5439e65c13846eb" /><Relationship Type="http://schemas.openxmlformats.org/officeDocument/2006/relationships/slide" Target="/ppt/slides/slide4.xml" Id="R0597a5bd08f04fd0" /><Relationship Type="http://schemas.openxmlformats.org/officeDocument/2006/relationships/slide" Target="/ppt/slides/slide5.xml" Id="R89dab8a9a5f04632" /><Relationship Type="http://schemas.openxmlformats.org/officeDocument/2006/relationships/slide" Target="/ppt/slides/slide6.xml" Id="R916afbfe75e64f62" /><Relationship Type="http://schemas.openxmlformats.org/officeDocument/2006/relationships/slide" Target="/ppt/slides/slide7.xml" Id="R9f41ad6e53124649" /><Relationship Type="http://schemas.openxmlformats.org/officeDocument/2006/relationships/slide" Target="/ppt/slides/slide8.xml" Id="R81437df6b23142d6" /><Relationship Type="http://schemas.openxmlformats.org/officeDocument/2006/relationships/slide" Target="/ppt/slides/slide9.xml" Id="Ra62ef6dcf8854ce5" /><Relationship Type="http://schemas.openxmlformats.org/officeDocument/2006/relationships/slide" Target="/ppt/slides/slide10.xml" Id="R63b2b3e46fa848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dec7cbe4949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d9e6c0b3d4872" /><Relationship Type="http://schemas.openxmlformats.org/officeDocument/2006/relationships/notesMaster" Target="/ppt/notesMasters/notesMaster1.xml" Id="Re9bb2100ea28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f39b540a74703" /><Relationship Type="http://schemas.openxmlformats.org/officeDocument/2006/relationships/notesMaster" Target="/ppt/notesMasters/notesMaster1.xml" Id="Rf3020facb67d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eef54ac6044a2" /><Relationship Type="http://schemas.openxmlformats.org/officeDocument/2006/relationships/notesMaster" Target="/ppt/notesMasters/notesMaster1.xml" Id="Rdeb4e1b0c33444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66ff18e7c491e" /><Relationship Type="http://schemas.openxmlformats.org/officeDocument/2006/relationships/notesMaster" Target="/ppt/notesMasters/notesMaster1.xml" Id="R6b80e3086d624b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5ff085581c41f5" /><Relationship Type="http://schemas.openxmlformats.org/officeDocument/2006/relationships/notesMaster" Target="/ppt/notesMasters/notesMaster1.xml" Id="R0173f382d3a8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78acf73a64cf7" /><Relationship Type="http://schemas.openxmlformats.org/officeDocument/2006/relationships/notesMaster" Target="/ppt/notesMasters/notesMaster1.xml" Id="R184309743a4e4d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6e16ba8f02453b" /><Relationship Type="http://schemas.openxmlformats.org/officeDocument/2006/relationships/notesMaster" Target="/ppt/notesMasters/notesMaster1.xml" Id="R2f48c1e94bba4d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02019b904c4fbd" /><Relationship Type="http://schemas.openxmlformats.org/officeDocument/2006/relationships/notesMaster" Target="/ppt/notesMasters/notesMaster1.xml" Id="R19843e84e6a247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3aed87b1a44344" /><Relationship Type="http://schemas.openxmlformats.org/officeDocument/2006/relationships/notesMaster" Target="/ppt/notesMasters/notesMaster1.xml" Id="R343d2fe02dc941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cf6e178aad45f5" /><Relationship Type="http://schemas.openxmlformats.org/officeDocument/2006/relationships/notesMaster" Target="/ppt/notesMasters/notesMaster1.xml" Id="R8da69655c95549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各位評審老師、同學大家好，我是今天的報告者。我今天要介紹的專題是「永恆北極星」，這是一套在 LINE 通訊軟體中運作的科學問答與互動試煉系統。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先很坦率地說明這項專題的初衷：出發點純粹來自於我對科學與宇宙的好奇。例如冥王星表面為何會有一顆醒目的愛心、木星深處是否真有導電的金屬氫，以及科幻電影裡的星際航行在現實物理中究竟有多少真實性。這些問題始終吸引著我，而我希望將這份探索的熱情，化為一個能夠在日常通訊軟體中真實互動的對話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角色的塑造上，系統平時是一位從容、睿智且充滿耐心的星空導引者；當使用者發起挑戰時，他則化身為守護知識的引路老人，以五道星門試煉檢驗理解。今天的報告不只展示機器人能回答問題，更會深入說明我們如何透過嚴謹的軟體架構，讓每一次互動都具備清晰的依據與結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系統目前具備七十六張結構化知識卡、兩百二十題固定測驗題庫，以及八十段由核心知識精鍊重組的導引教材。整場簡報將依序涵蓋動機、專題目的與競品分析、架構技術、效能與缺口坦承、未來規劃，最後以完整的證據對應總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AI 概念插畫：內建 imagegen 生成，2026-09-13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我們的研究動機非常純粹：讓科學探索走入大眾最常使用的通訊介面。選擇 LINE 作為載體，是因為使用者不需要下載任何額外應用程式，就能以最自然的文字對話開始思考。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邊這張圖是冥王星的概念插畫，並非探測器拍攝的原相。它表面最著名的特徵，就是這片被稱為「湯博區」的愛心形平原。對科學愛好者而言，這顆愛心不只是一個浪漫的地貌，更引發了一連串實質的科學探究：它由什麼冰層構成？為何板塊邊緣如此平整？當冥王星在 2006 年被重新分類為矮行星之後，我們該如何重新理解外太陽系的演化？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【停頓，讓觀眾觀看簡報畫面約十秒。】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樣的好奇也經常出現在科幻作品中。例如《絕地救援》中在火星種植馬鈴薯的情節，引發我們思考：真實火星的過氯酸鹽土壤與極端大氣，究竟需要哪些生化條件才能維持作物生存？而《極限返航》的星際航行，則直接觸及了光速極限、相對論時間膨脹與星際推進的物理瓶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永恆北極星」的核心任務，就是回應並引導這類探索慾望。系統平時以溫和耐心的老人語調提供解釋，並附帶具體文獻來源；當使用者想檢驗自己的理解時，可隨時進入五題星門挑戰。即便使用者答錯，引路老人也會條理分明地解說原委，而非單純給出對錯標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此我們也必須界定動機與實際應用的界線：個人興趣是打造系統的起點，而未來雖可延伸至課後自學或科教輔助，但本專題目前尚未進行正式的教學實驗前後測，因此我們絕不宣稱它已具備提升學業成績的實證效果。我們今天所報告的，是嚴謹的系統架構與扎實的工程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https://science.nasa.gov/dwarf-planets/pluto/facts/</a:t>
            </a:r>
          </a:p>
          <a:p xmlns:a="http://schemas.openxmlformats.org/drawingml/2006/main">
            <a:r>
              <a:t>本機 docs/solar-wonders.md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專題的目標，是打造一個在單一對話介面中，兼顧「自由發問」、「系統化導引學習」與「客觀驗證試煉」的三合一科學伴學系統。自由問答解答突發的好奇，導引學習建立脈絡，而固定試煉則提供可重現的理解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在規劃系統時，我們參考了兩款代表性產品的定位。第一款是 Google 的 NotebookLM，它高度強調「基於來源文件」進行理解與回答，這啟發了我們在問答設計中落實嚴格的來源依據與可追溯性，避免模型隨意幻覺。第二款是 Kahoot!，它透過單選題目與即時回饋，創造了高互動性的課堂測驗體驗，讓我們體會到清晰解析與即時反饋在學習過程中的重要性。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必須澄清的是，本頁面探討的是產品策略與功能定位的差異，我們並未在相同題庫下對三個產品進行評測排名，因此不會做出「本系統準確率超越商業成熟產品」的不實宣稱。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「永恆北極星」的專注點在於整合與輕量化：使用者無須切換工具，在 LINE 對話中就能自由探索太陽內部反應，或從「四座寶庫」選擇一條路徑依序推進。所有試煉題目皆具備預先審查的固定標準答案、詳盡解說與資料出處，絕不交由語言模型在前端隨機生成答案，確保評量的公正與穩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https://github.com/Gale0418/SFLINE_BOT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請大家看畫面上這張完整的系統架構流程圖。這套架構的核心設計原則，是「明確狀態由程式掌握，開放語意由模型解析」。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當使用者在 LINE 發送訊息時，LINE 伺服器會將事件推送到我們的 Webhook 端點。伺服器首先執行嚴格的 LINE 簽章驗證，確認訊息來源合法，隨後進行假名化處理：我們絕不儲存使用者的真實 LINE ID 或聊天文字全文，僅使用加鹽的雜湊值作為內部狀態對應，確保個人隱私。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接著，訊息進入中央路由派發器。派發器根據當前使用者的對話狀態與意圖，分流至四個互不干擾的獨立管道：</a:t>
            </a:r>
          </a:p>
          <a:p xmlns:a="http://schemas.openxmlformats.org/drawingml/2006/main">
            <a:r>
              <a:t>第一是「自由問答路徑」：若使用者提出開放性科學疑問，系統會先比對本機高信心知識卡；若未命中，則調度外部大語言模型生成符合人設的回答。</a:t>
            </a:r>
          </a:p>
          <a:p xmlns:a="http://schemas.openxmlformats.org/drawingml/2006/main">
            <a:r>
              <a:t>第二是「五題星門試煉」：當使用者輸入「挑戰」或「考我」，系統切換為試煉守門人狀態，隨機抽選五道固定題目，逐題評分並記錄成績。</a:t>
            </a:r>
          </a:p>
          <a:p xmlns:a="http://schemas.openxmlformats.org/drawingml/2006/main">
            <a:r>
              <a:t>第三是「導引式學習路徑」：使用者說「學習」時進入，由四座寶庫循序引導。</a:t>
            </a:r>
          </a:p>
          <a:p xmlns:a="http://schemas.openxmlformats.org/drawingml/2006/main">
            <a:r>
              <a:t>第四是「系統指令路徑」：處理「說明」、「重設進度」等輔助管理功能。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在網路通訊層面，我們嚴格遵守 LINE Messaging API 的單次回覆限制，每個 Reply Token 僅使用一次，絕不做盲目的重複重試，以杜絕使用者端出現跳針或重覆訊息。整個流程確保各模組職責分明、資料流向完全可追蹤。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本機 src/eternal_polaris/app.py、dispatcher.py、learning.py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在內容資產的構建上，「永恆北極星」採用高度結構化的資料管理。目前系統包含七十六張結構化知識卡，以及兩百二十題經過專家審查的單選測驗題。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這些內容被嚴謹地劃分到「四座獨立寶庫」之中：</a:t>
            </a:r>
          </a:p>
          <a:p xmlns:a="http://schemas.openxmlformats.org/drawingml/2006/main">
            <a:r>
              <a:t>第一座是「星海寶庫」：涵蓋恆星演化、黑洞物理、系外行星與深空探測器歷程。</a:t>
            </a:r>
          </a:p>
          <a:p xmlns:a="http://schemas.openxmlformats.org/drawingml/2006/main">
            <a:r>
              <a:t>第二座是「地脈與生命寶庫」：探討地球板塊構造、地質年代、深海極限生物與外星生命宜居條件。</a:t>
            </a:r>
          </a:p>
          <a:p xmlns:a="http://schemas.openxmlformats.org/drawingml/2006/main">
            <a:r>
              <a:t>第三座是「萬象法則寶庫」：聚焦於相對論、量子力學基礎概念、熱力學定律與物質極端態。</a:t>
            </a:r>
          </a:p>
          <a:p xmlns:a="http://schemas.openxmlformats.org/drawingml/2006/main">
            <a:r>
              <a:t>第四座是「未來幻夢寶庫」：解析科幻電影與小說中的硬核物理，包含星艦曲速泡、戴森球假想以及戴森雲能量收集。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每一張知識卡都包含標準概念名詞、分層說明的重點內文，以及可追查的權威資料來源。而兩百二十道試煉題目，每題都具備確定的標準答案、干擾選項設計原則、詳細解析與關聯知識卡編號。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特別說明的是，這些題目全部以本機靜態資料集的形式儲存於伺服器端，由程式直接進行答案比對。這杜絕了模型隨機生成答案時可能出現的幻覺或評分不一致問題，使整套測驗系統具備完全的客觀性與可重現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data/knowledge_cards.json、data/quiz_questions.tsv、docs/guided-learning.md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自由問答是滿足使用者隨性探索的核心功能。為了在回答品質、反應速度與運算成本之間取得平衡，我們設計了雙路徑路由機制。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第一條是「本機高信心路徑」：當使用者的提問精準命中七十六張知識卡的核心實體或常見問題時，系統直接抽取知識庫內容，由伺服器在數十毫秒內組合回覆。這條路徑完全不發出外部 API 請求，既零成本又具備極高穩定度。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第二條是「雲端語言模型路徑」：當遇到跨領域、長句型或開放式提問時，系統會調用 Google Gemma 26B 模型（gemma-4-26b-a4b-it），透過系統提示詞約束模型的人格與邊界。引路老人的人格設定具備沉穩、謙遜與條理分明的特質：他用科學證據與生動比喻解惑，當遇到未解之謎時會坦誠說明「科學界目前尚無定論」，絕不不懂裝懂，更不編造虛假的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系統提示詞嚴格隔離科幻假設與真實科學，例如在討論曲速引擎時，會明確指出這是廣義相對論在阿庫別瑞度規下的數學推導，但目前缺乏負能量物質等工程實現基礎。透過這樣的雙軌設計，我們兼顧了問答的靈活性與科學敘述的嚴謹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本機 src/eternal_polaris/answer_service.py、knowledge.py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除了自由問答，許多學習者需要更具結構的循序路徑。為此，我們設計了「四座寶庫導引學習系統」與「五題星門試煉」。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導引系統將既有的知識資產重新精鍊為八十段短講教材。四條路線彼此完全獨立，每條路線規劃四個進階階段。每個階段包含五段概念講解與五道隨堂理解題，最後以綜合挑戰檢驗成效，學員須答對四題以上方能解鎖下一階段。必須誠實指出：這八十段教材是從七十六張知識卡與題庫體系中重新編排而來，並非憑空增加八十個全新主題，我們不誇大內容規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在資料架構方面，所有使用者的學習進度皆記錄在機器人伺服器端的 SQLite 資料庫中（data/private/learning.sqlite3）。使用者的手機端僅作為純粹的 LINE 介面展示文字與互動按鈕，絕對不會在用戶手機上儲存任何資料庫或執行 SQL 查詢。進度更新完全在伺服器端交易中處理，按鈕內嵌狀態版本防偽標記，有效防止重複點擊或跨階段作弊。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在語氣互動上，無論是在導引短講還是星門試煉中，引路老人始終保持耐心與鼓勵，提供充足的邏輯線索。如果使用者中途想回到自由提問或暫停，系統會完整保留其進度存檔，體現貼心而嚴謹的伴學體驗。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docs/guided-learning.md、src/eternal_polaris/learning.py、tests/test_learning.py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身為一個負責任的工程專題，在展示功能的同時，我們更必須客觀呈現量化數據與當前的技術缺口。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首先在程式碼與自動化測試方面：目前專案已建立完整的本機單元與整合測試套件，總計一百七十二項測試全部順利通過（172 tests passed）。整個系統的總體測試覆蓋率達到 81.34%，其中核心的導引學習模組覆蓋率更達到約 95%。這證明了狀態機轉換、按鈕驗證、SQLite 交易與訊息路由邏輯在程式層面具備高度可靠性。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然而，我們必須非常坦誠地面對兩個重要缺口：</a:t>
            </a:r>
          </a:p>
          <a:p xmlns:a="http://schemas.openxmlformats.org/drawingml/2006/main">
            <a:r>
              <a:t>第一是「線上大語言模型的效能指標」：在九月八日進行的三十題線上模型基準評估中，由於當時外部 API 遭遇不可預期的服務中斷與網路逾時，該次評估未能取得完整的有效推論結果。本著求真精神，我們認為該次評估在統計上無效，因此我們既不會將其記為零分，也絕不拿少數幾次隨機成功的對話記錄來拼湊充數。目前系統的客觀 Accuracy、F1-score 以及 P95 延遲等數據，仍然維持「未經驗證」的坦白狀態。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第二是「實質學習成效」：我們高達 95% 的模組覆蓋率僅代表程式邏輯沒有瑕疵，絕不等於學生的學習成效提升了 95%。本專題尚未經過雙盲受試者實驗或前後測統計，我們絕不混淆「軟體測試覆蓋率」與「教育心理學成效」。未來必須在固定測試集與穩定網路環境下，重新建立可信的模型基準。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results/guided-coverage.json；2026-09-13，172 passed，81.34%。</a:t>
            </a:r>
          </a:p>
          <a:p xmlns:a="http://schemas.openxmlformats.org/drawingml/2006/main">
            <a:r>
              <a:t>本機 results/google-evaluation-20260908.json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總結今天的報告，「永恆北極星」成功將個人對天文物理的好奇心，轉化為一套兼具深度與穩定度的對話學習系統。我們整合了 LINE 自由問答、五星門試煉與四條獨立導引路線，具備七十六張知識卡、兩百二十題固定試煉以及八十段導引教材，並在伺服器端落實了安全的 SQLite 進度管理。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在這個專題的開發過程中，我最深刻的體會是：呼叫大語言模型僅僅是智慧應用的冰山一角。要打造一個能長期穩定互動的陪伴系統，背後更需要健壯的架構設計、狀態隔離、隱私假名化與客觀的資料回溯機制。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針對未來的發展藍圖，我們規劃了明確的四階段推進路徑：</a:t>
            </a:r>
          </a:p>
          <a:p xmlns:a="http://schemas.openxmlformats.org/drawingml/2006/main">
            <a:r>
              <a:t>「現在」，我們已具備完整的問答、試煉與四路導引架構；</a:t>
            </a:r>
          </a:p>
          <a:p xmlns:a="http://schemas.openxmlformats.org/drawingml/2006/main">
            <a:r>
              <a:t>「下一步」，我們將在穩定環境中重啟三十題線上模型基準評估，取得可靠的延遲與準確率數據，並錄製完整手機操作流程；</a:t>
            </a:r>
          </a:p>
          <a:p xmlns:a="http://schemas.openxmlformats.org/drawingml/2006/main">
            <a:r>
              <a:t>「再下一步」，我們將規劃真實使用者的質性訪談與教學前後測設計，驗證系統在教育場域的實質助益；</a:t>
            </a:r>
          </a:p>
          <a:p xmlns:a="http://schemas.openxmlformats.org/drawingml/2006/main">
            <a:r>
              <a:t>「最後」，在正式大規模部署階段，我們將導入跨主機共享儲存架構、定期異地備份機制與完整的隱私政策合規審查。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我們期許這套系統不只是一個展示品，而是一座能持續進化、禁得起檢驗的科學知識燈塔。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本機 README.md、docs/guided-learning.md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最後，請參見簡報第十頁的文獻與專題證據對應圖。我們不再單純列舉外部超連結，而是將專案所依賴的各項依據，清晰映射至全份簡報的具體章節與論點之中。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這份證據地圖包含六大核心卡片：</a:t>
            </a:r>
          </a:p>
          <a:p xmlns:a="http://schemas.openxmlformats.org/drawingml/2006/main">
            <a:r>
              <a:t>首先，在簡報第二頁（P2）的天體分類與冥王星地貌中，我們依據 NASA Pluto Facts 與新視野號任務公開資料，支撐矮行星定義與湯博區平原特徵。</a:t>
            </a:r>
          </a:p>
          <a:p xmlns:a="http://schemas.openxmlformats.org/drawingml/2006/main">
            <a:r>
              <a:t>第二，在第三頁（P3）的產品定位分析中，我們對照 NotebookLM 與 Kahoot! 的官方技術文獻，確立基於來源研究與高互動測驗的設計取向。</a:t>
            </a:r>
          </a:p>
          <a:p xmlns:a="http://schemas.openxmlformats.org/drawingml/2006/main">
            <a:r>
              <a:t>第三，在第四頁（P4）的系統架構中，所有 Webhook 簽章防護與訊息回覆流程，均嚴格遵循 LINE Developers 官方規範。</a:t>
            </a:r>
          </a:p>
          <a:p xmlns:a="http://schemas.openxmlformats.org/drawingml/2006/main">
            <a:r>
              <a:t>第四，在第六頁（P6）的問答路由中，雙路徑架構與 Google Gemma 26B 模型的調用，皆基於 Google AI 官方文件設計。</a:t>
            </a:r>
          </a:p>
          <a:p xmlns:a="http://schemas.openxmlformats.org/drawingml/2006/main">
            <a:r>
              <a:t>第五，在第四、五、七、九頁（P4/P5/P7/P9）涵蓋的系統實作、七十六張知識卡、兩百二十題庫、八十段導引教材與未來規劃，皆完整落地於專案原始碼、資料檔案與本機導引學習設計文件。</a:t>
            </a:r>
          </a:p>
          <a:p xmlns:a="http://schemas.openxmlformats.org/drawingml/2006/main">
            <a:r>
              <a:t>第六，在第八頁（P8）的效能與缺口中，一百七十二項測試、81.34% 總體覆蓋率與約 95% 導引模組覆蓋率，均來自本機自動化測試紀錄；同時我們據實載明九月八日線上模型指標未經驗證的客觀限制。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本專題的所有程式碼、測試記錄與架構文件皆已開源並妥善保存。以上是我的專題報告，誠摯感謝各位老師與同學的聆聽，請各位師長多加指教。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P2: https://science.nasa.gov/dwarf-planets/pluto/ (NASA Pluto Facts)</a:t>
            </a:r>
          </a:p>
          <a:p xmlns:a="http://schemas.openxmlformats.org/drawingml/2006/main">
            <a:r>
              <a:t>P3: https://blog.google/innovation-and-ai/models-and-research/google-labs/notebooklm-discover-sources/ (NotebookLM 官方介紹)</a:t>
            </a:r>
          </a:p>
          <a:p xmlns:a="http://schemas.openxmlformats.org/drawingml/2006/main">
            <a:r>
              <a:t>P3: https://kahoot.com/schools/how-it-works/ (Kahoot! 運作機制)</a:t>
            </a:r>
          </a:p>
          <a:p xmlns:a="http://schemas.openxmlformats.org/drawingml/2006/main">
            <a:r>
              <a:t>P4: https://developers.line.biz/en/docs/messaging-api/receiving-messages/ (LINE Messaging API Webhook)</a:t>
            </a:r>
          </a:p>
          <a:p xmlns:a="http://schemas.openxmlformats.org/drawingml/2006/main">
            <a:r>
              <a:t>P6: https://ai.google.dev/gemma/docs/core/gemma_on_gemini_api (Gemma on Gemini Developer API)</a:t>
            </a:r>
          </a:p>
          <a:p xmlns:a="http://schemas.openxmlformats.org/drawingml/2006/main">
            <a:r>
              <a:t>P4/P5/P7/P9: https://github.com/Gale0418/SFLINE_BOT (開源專案代碼、題庫資料與 docs/guided-learning.md)</a:t>
            </a:r>
          </a:p>
          <a:p xmlns:a="http://schemas.openxmlformats.org/drawingml/2006/main">
            <a:r>
              <a:t>P8: 本機自動化測試套件（172 測試通過、覆蓋率 81.34%、導引模組約 95%）與 2026-09-08 評估紀錄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bbb7d74f7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69292efa1546f3" /><Relationship Type="http://schemas.openxmlformats.org/officeDocument/2006/relationships/slideLayout" Target="/ppt/slideLayouts/slideLayout1.xml" Id="Rfc4d68fb4e5e44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d68fb4e5e44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938d59b9d434c" /><Relationship Type="http://schemas.openxmlformats.org/officeDocument/2006/relationships/image" Target="/ppt/media/image.png" Id="R9e5a8b2374e54c32" /><Relationship Type="http://schemas.openxmlformats.org/officeDocument/2006/relationships/notesSlide" Target="/ppt/notesSlides/notesSlide1.xml" Id="R0166c37376b5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97fdf4df94557" /><Relationship Type="http://schemas.openxmlformats.org/officeDocument/2006/relationships/image" Target="/ppt/media/image2.png" Id="Rb9db999c4e974e9e" /><Relationship Type="http://schemas.openxmlformats.org/officeDocument/2006/relationships/notesSlide" Target="/ppt/notesSlides/notesSlide2.xml" Id="Rb05966ba5ee2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27bfe322e4698" /><Relationship Type="http://schemas.openxmlformats.org/officeDocument/2006/relationships/notesSlide" Target="/ppt/notesSlides/notesSlide3.xml" Id="R8f19be9f8e76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082262b8d455c" /><Relationship Type="http://schemas.openxmlformats.org/officeDocument/2006/relationships/notesSlide" Target="/ppt/notesSlides/notesSlide4.xml" Id="Rbfa166123f45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d00c03720418c" /><Relationship Type="http://schemas.openxmlformats.org/officeDocument/2006/relationships/chart" Target="/ppt/slides/charts/chart1.xml" Id="R7fd1040e975c41ec" /><Relationship Type="http://schemas.openxmlformats.org/officeDocument/2006/relationships/notesSlide" Target="/ppt/notesSlides/notesSlide5.xml" Id="Rbd3738ab96e04f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82cc0c58941f4" /><Relationship Type="http://schemas.openxmlformats.org/officeDocument/2006/relationships/notesSlide" Target="/ppt/notesSlides/notesSlide6.xml" Id="R07a4dc4c1a95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913c7af04b47" /><Relationship Type="http://schemas.openxmlformats.org/officeDocument/2006/relationships/notesSlide" Target="/ppt/notesSlides/notesSlide7.xml" Id="R18bd41f01ece43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3e879eb64d49" /><Relationship Type="http://schemas.openxmlformats.org/officeDocument/2006/relationships/chart" Target="/ppt/slides/charts/chart2.xml" Id="R7d0c216cd6d04096" /><Relationship Type="http://schemas.openxmlformats.org/officeDocument/2006/relationships/notesSlide" Target="/ppt/notesSlides/notesSlide8.xml" Id="R95fc936e3073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9d7822d404169" /><Relationship Type="http://schemas.openxmlformats.org/officeDocument/2006/relationships/notesSlide" Target="/ppt/notesSlides/notesSlide9.xml" Id="Rdae2f390315c4b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a7c480d6b431a" /><Relationship Type="http://schemas.openxmlformats.org/officeDocument/2006/relationships/notesSlide" Target="/ppt/notesSlides/notesSlide10.xml" Id="R2a7175e2a7bb43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題數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Data'!$A$2:$A$5</c:f>
              <c:strCache>
                <c:ptCount val="4"/>
                <c:pt idx="0">
                  <c:v>星海</c:v>
                </c:pt>
                <c:pt idx="1">
                  <c:v>地脈與生命</c:v>
                </c:pt>
                <c:pt idx="2">
                  <c:v>萬象法則</c:v>
                </c:pt>
                <c:pt idx="3">
                  <c:v>未來幻夢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106</c:v>
                </c:pt>
                <c:pt idx="1">
                  <c:v>37</c:v>
                </c:pt>
                <c:pt idx="2">
                  <c:v>30</c:v>
                </c:pt>
                <c:pt idx="3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百分比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Data'!$A$2:$A$3</c:f>
              <c:strCache>
                <c:ptCount val="2"/>
                <c:pt idx="0">
                  <c:v>覆蓋率</c:v>
                </c:pt>
                <c:pt idx="1">
                  <c:v>門檻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81.34</c:v>
                </c:pt>
                <c:pt idx="1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a8b2374e54c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07BE8-6BEB-49BB-BAE9-AB110F53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E4861-A55A-436B-A034-F320F21C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709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LINE 科學問答、四座寶庫與導引式學習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8338A-3ECE-4790-BCD3-A42F1ED2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9AD"/>
          </a:solidFill>
          <a:ln xmlns:a="http://schemas.openxmlformats.org/drawingml/2006/main" w="0">
            <a:solidFill>
              <a:srgbClr val="D5B9A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8939-2D93-45B3-BF22-967089D6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半導體 AI 課程專題報告</a:t>
            </a:r>
          </a:p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7166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5E213-ED15-4844-B70C-02BCFA56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1. 簡介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3F24-41FC-47D8-8288-CBD9763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b999c4e974e9e"/>
          <a:stretch xmlns:a="http://schemas.openxmlformats.org/drawingml/2006/main"/>
        </p:blipFill>
        <p:spPr>
          <a:xfrm xmlns:a="http://schemas.openxmlformats.org/drawingml/2006/main">
            <a:off x="7239000" y="1676400"/>
            <a:ext cx="3857625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EB612-8DDA-47D3-B5A7-6CE87E9F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因為喜歡，所以想把好奇心做成作品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DB367-1789-409E-999B-99D54BEB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527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8BBCA-A00A-450C-AD4E-14D114BA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624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B03AE-CA3E-4FDF-A66D-09CCE5D6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A190F-E202-4B19-82FD-3F247FB6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看見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冥王星的愛心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5E71E-3F0B-4062-9417-C0CBB1F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ECEF7-C221-4258-943E-9A6A8DF2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90775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追問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它為什麼長這樣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95C79-C9C1-40B9-AF60-DFC3160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3FF90-1074-4DCA-B7E0-4F63449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科學與未知的邊界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93833-32BD-4823-A29F-9452611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33775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4BD09-1ABB-46A8-ADD6-D362F43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做出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能陪人探索的機器人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EDE60-1E55-4BA8-A408-D653FE8C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57475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AE119-DA9D-4E7D-A545-D53149B0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1895E-F56C-4929-B5F6-21E76E74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未來可用於課後練習與科學導覽；學習效果仍待使用者研究。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CBEE4-FF05-4A97-943B-7B3B355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483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冥王星概念插畫，非觀測照片</a:t>
            </a:r>
          </a:p>
        </p:txBody>
      </p:sp>
    </p:spTree>
    <p:extLst>
      <p:ext uri="{BB962C8B-B14F-4D97-AF65-F5344CB8AC3E}">
        <p14:creationId xmlns:p14="http://schemas.microsoft.com/office/powerpoint/2010/main" val="1279932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AFD76-2BF4-4FE3-99E8-09E578D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2. 專題目的、相關產品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893B0-027B-4171-BC78-4DFF2710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397C0-8B50-411C-BBB1-8308C16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三種能力在同一個 LINE 對話裡相遇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17F4D-DE1C-4A76-8AC3-9E046ED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79C2F-6E8F-4D55-B9D6-49D54F36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E8FE-1863-4009-86A3-00ED0F7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CAC76-FB62-4BAB-A2E3-FB1044D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6E2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6D157-FB46-4E42-A76F-3E3F3E9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1C0E3-0FA9-40D6-9AE9-1E8B6528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問答＋導引＋試煉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F06FD-7A43-43BD-8CC3-A1E1818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E7F94-429D-4A31-A501-765177B9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依來源問答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F411A-803C-4E0A-B1DD-42D472B0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CDC7A-31DF-4163-8F9F-5341F6A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Kahoot!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測驗互動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D017E-461C-4C1C-8AC0-E6DE9F2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339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9CBA0-3F2C-46A7-AAF4-A353926D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日常聊天入口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DBDA8-0045-4309-80D1-C59734FA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參考引用思路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AC03B-93E6-490C-92E3-986B80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參考即時回饋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9504A-5E66-40F1-BA24-A356A79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比較產品定位，沒有進行同題效能排名。</a:t>
            </a:r>
          </a:p>
        </p:txBody>
      </p:sp>
    </p:spTree>
    <p:extLst>
      <p:ext uri="{BB962C8B-B14F-4D97-AF65-F5344CB8AC3E}">
        <p14:creationId xmlns:p14="http://schemas.microsoft.com/office/powerpoint/2010/main" val="1885273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26AAC-870F-41CE-AEC4-20AA7E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系統架構與技術：整體流程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C16A4-1372-454C-A440-B2522B6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59BB-6A7E-43D1-A449-322A3FEE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從手機訊息到可驗證回覆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0ED9-6381-4C89-A7E0-9DB41F5F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0CB7F-7994-4E7D-A581-7B2E91DE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2127A-665B-4619-BC84-463D847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使用者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文字／按鈕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7430E-8311-4AB1-A814-114A768F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ACFD-15B2-4F2D-9F80-256C8E24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A82D8-D7E1-406D-8528-3769C23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簽章驗證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569B7-DF77-4528-9320-43A9844B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F29D-9277-4377-86B5-FBFB833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0280E-5437-4D41-9B5E-04F3B01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事件排程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去重／依序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DF24-3F70-42F8-B9B4-B9CF40F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DAD4A-A600-41CC-9193-9F7DA660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DF64E-F8F5-40B2-AACE-F16A0CE9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路由判斷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命令／問答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1110-66EA-4CF3-B5B0-A9FEB44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20103-C479-40C6-A503-E0B912A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回覆 LINE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文字／Quick Reply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8483F-00A0-4C79-AFE7-FAF50C9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480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05402-07FE-45BF-A401-5B80647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3067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A0694-CB0C-4B88-8A54-807618A8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2876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規則路徑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Help、學習、計分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8AE5E-3406-4D93-8F68-9EAE2A0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866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84D94-490A-45E4-8936-C01F627B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33875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模型路徑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開放問題與追問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6C852-4E08-43FD-98EC-B2C9DA20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19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明確規則交給程式；自然語言理解交給模型。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C2F09-96DD-4351-95D5-35D86E31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導引進度保存在伺服器 SQLite</a:t>
            </a:r>
          </a:p>
        </p:txBody>
      </p:sp>
    </p:spTree>
    <p:extLst>
      <p:ext uri="{BB962C8B-B14F-4D97-AF65-F5344CB8AC3E}">
        <p14:creationId xmlns:p14="http://schemas.microsoft.com/office/powerpoint/2010/main" val="1604764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D8BBE-5E8B-4068-B14B-7BDED0EC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系統架構與技術：內容宇宙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657DE-069B-465C-A0FA-94C8B559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836EA-9C88-4F57-A505-857AA95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76 張知識卡、220 題、20 個主題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2076450"/>
          <a:ext xmlns:a="http://schemas.openxmlformats.org/drawingml/2006/main" cx="60483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d1040e975c41e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5F11D-23D5-4CCA-B8C5-5DC17ECB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05025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9525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07509-4BEF-47DC-A4E7-9A76EE9D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28900"/>
            <a:ext cx="2228850" cy="2228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F2240-34D0-492E-A1A3-612E1219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718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587A0-A0CA-474F-BA32-0664BC6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194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四座寶庫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93BAA-C5C4-49D3-AC61-8839170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80 段導引教材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C3388-E1D1-40A3-844C-4B55CDCE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9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220 題固定試煉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ECED-0E11-4787-8D90-22FD8FCF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知識卡提供事實與來源，題庫提供可重現的練習。</a:t>
            </a:r>
          </a:p>
        </p:txBody>
      </p:sp>
    </p:spTree>
    <p:extLst>
      <p:ext uri="{BB962C8B-B14F-4D97-AF65-F5344CB8AC3E}">
        <p14:creationId xmlns:p14="http://schemas.microsoft.com/office/powerpoint/2010/main" val="269583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EADBF-27B4-4391-93D7-E9F6847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系統架構與技術：回答策略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CA07-0227-4142-8E16-1031CE5C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91BDA-D10A-46BC-962C-F60B94D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一個問題，依證據與用途走不同路徑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B22A4-CD38-4E88-BEFA-DE2F2F88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24125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B703F-7FD0-434A-BCF1-F120A4B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185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0EC85-435F-4F07-A5C7-680BCFA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91932-84AF-44D1-8A3B-38EA595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90775"/>
            <a:ext cx="211455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81029-6884-4AF4-A94B-4A7BAA51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57450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高信心命中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知識卡？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AA5D0-D98D-4E92-9228-8063B79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0E725-FC2F-42A9-8C8F-99BDA042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4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16819-A256-42A4-BAD4-A0CEE91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FFB8B-A741-4CA0-B2C3-85DE0A77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909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48E"/>
          </a:solidFill>
          <a:ln xmlns:a="http://schemas.openxmlformats.org/drawingml/2006/main" w="0">
            <a:solidFill>
              <a:srgbClr val="5874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6F7FC-7596-4E41-9C09-A71B06E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90775"/>
            <a:ext cx="19526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C7830-15AB-410A-AE36-B8252943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57450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本機回答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事實＋來源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C0E71-CC5D-44D4-BAC4-FE8FE61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33800"/>
            <a:ext cx="25241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814BC-E0A1-40F3-BFC9-98FA0539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004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模型回答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開放問題＋三組對話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62F29-7854-462E-B726-2E690804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5E83B-0E3F-4A22-8C0C-8551C0AF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4F7F2-AA40-48F4-AC21-3925540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76575"/>
            <a:ext cx="1238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B2957-C01E-4770-8C88-8FFF2E8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43250"/>
            <a:ext cx="104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格式與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來源檢查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29E0E-F3F5-45AB-B6D0-D81D614E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模型：Gemma 4 26B A4B　　知識卡命中時不發出外部模型請求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8AB8F-E584-4DD1-91AB-A14D35D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來源存在仍不等於所有敘述正確，科學內容需持續人工查核。</a:t>
            </a:r>
          </a:p>
        </p:txBody>
      </p:sp>
    </p:spTree>
    <p:extLst>
      <p:ext uri="{BB962C8B-B14F-4D97-AF65-F5344CB8AC3E}">
        <p14:creationId xmlns:p14="http://schemas.microsoft.com/office/powerpoint/2010/main" val="183777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9F310C-9DE7-4CC4-A895-60A41252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系統架構與技術：導引式學習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8016A-FDD6-428F-A4DF-21FA9693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DB70B-C59F-44D3-B981-4877500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「你對這世界感到好奇嗎？」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41E6A-198F-4A9C-9C79-D6B2F379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99F57-EEDD-46FB-A781-9DCB08B9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選擇路線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7F484-67FE-4307-929F-761EC7B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24150"/>
            <a:ext cx="5048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22DA5-919E-48D1-820A-0413C51B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15C3C-8319-4818-8FDA-C0F6A0E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907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🌌 星海之庫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5AFBB-83CB-4242-8153-6A0B1C5E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335A1-1CA8-42A6-A051-B71B8C32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🌍 地脈與生命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738C-76D1-477C-8495-B98FAD51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CD039-6F55-4E47-8B87-8B5DC49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⚛️ 萬象法則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B5D72-C625-47DD-BF97-363027F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F84AF-9B2C-41F7-B9EF-BE52FCEF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96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🚀 未來幻夢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8CB6C-099A-493E-AD18-FA05DD0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38375"/>
            <a:ext cx="285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5C6FE-9D5C-4737-954D-88D9F539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3A05-4BA8-4F67-A1C6-101E068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2854A-7AD7-4882-9D47-0EDCC21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B78A1-87E7-4DC7-96C1-215CD18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短講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709A3-4220-45DE-ADAC-D6745C5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4897E-13D0-4BD9-9319-17792F09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8BD8A-ACCD-403B-AA30-D623D12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69A68-3795-451A-B2F6-45C0D29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8D414-CDAB-4FB5-ACC6-14ADBCDB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425E4-417B-4094-A335-13B565E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立即解說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486CA-37A6-4674-9080-9D5BF16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05C09-4B5F-45D4-AB0F-2EC500CF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F4B04-E638-46E2-B4BE-F18A0D8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421D1-0D2D-4B0D-9619-00537871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過關挑戰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52F63-82D9-4E8D-B703-8C364DB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題答對 4 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45DC3-E2F4-43FD-9241-7338E56C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A29C8-62F4-4FC2-891B-1C11597A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900B70-651B-4135-B74D-2FF6C5AD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下一階段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E0F25-6EA2-4C50-8C60-DF49633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各路獨立進度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AD0D88-49B4-48D1-854B-D96A0D6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0125"/>
            <a:ext cx="561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自由提問不鎖住。答錯只決定要不要再複習，不替使用者貼能力標籤。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8AF83E-CBCE-4171-A19A-88A3A68B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388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SQLite 位於機器人伺服器，不存取手機資料。</a:t>
            </a:r>
          </a:p>
        </p:txBody>
      </p:sp>
    </p:spTree>
    <p:extLst>
      <p:ext uri="{BB962C8B-B14F-4D97-AF65-F5344CB8AC3E}">
        <p14:creationId xmlns:p14="http://schemas.microsoft.com/office/powerpoint/2010/main" val="985257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18F92-310A-4D52-880D-D510FC8D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4. 效能分析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C307-D738-4FBF-A263-A7C2083E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A6CD5-272B-4B4A-A9F2-5D576C5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程式驗證已更新，模型效能仍待有效資料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6238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0c216cd6d040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E660C-3CBD-432E-B1D1-D6487A9A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097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6C8D9-402E-4757-BCF9-BD5BDD8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8AA1-F0B1-4EE8-AC3F-6EC2F4C3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項測試通過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71CC6-B9A8-44E6-B0D9-F6401C6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導引模組約 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76F73-61B0-427C-A4C6-4942CA5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816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已確認：程式與資料契約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FD3EA-67F8-4238-92E6-4D0A62A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尚未確認：30 題模型準確率、F1、P95、學習成效</a:t>
            </a:r>
          </a:p>
        </p:txBody>
      </p:sp>
    </p:spTree>
    <p:extLst>
      <p:ext uri="{BB962C8B-B14F-4D97-AF65-F5344CB8AC3E}">
        <p14:creationId xmlns:p14="http://schemas.microsoft.com/office/powerpoint/2010/main" val="316863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A9B89-24A5-4CD0-B1A7-7685A39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5. 結論與未來工作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EC717-300E-41BE-A616-9F1E9828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65E88-EEE2-40B7-BCF3-C505CC1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從可展示系統走向可驗證的學習工具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7FB93-7BC5-4EF1-B2AA-2AF9EB1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4225"/>
            <a:ext cx="9667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EE9DA-0BD2-487C-9AFF-84C88986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843C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8A0E4-EDE3-4E2F-9102-C71B65C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D8324-8264-4C0E-8863-2213CB8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B167F-F0E4-40C1-9EF1-566F1F02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問答＋試煉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四路導引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A72F7-695F-4095-B11C-F79CD68F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874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4B75C-3439-45BE-BA70-5E99A9E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D1E81-0D15-4E2A-B978-4323EED0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13E83-B6D9-4FB9-B05F-2CF6C1A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真實手機流程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30 題有效評估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7AA68-C241-4002-AC09-F96EE229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9603C-1DC3-415B-B14D-5D90A97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F4CC-F863-485A-90A4-454C8A4D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再下一步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530A8-5CE4-470F-8CAF-12DE98E4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使用者訪談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前後測設計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48EA8-43A0-430C-A953-38DFA70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B990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B1A60-F99F-46B6-B3F3-5C249F6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399D0-2A0F-4BDC-A610-BE2730A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之後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B7AD7-C25F-4D5D-8A2B-1F373554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正式部署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共享儲存與隱私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C79D-7451-422E-A167-DD60EE2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已完成：76 張知識卡、220 題、80 段導引教材、伺服器端學習進度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DA6CF-5F11-40CE-9404-0D6F0B5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教育效果保留為待驗證成果，不用程式覆蓋率代替。</a:t>
            </a:r>
          </a:p>
        </p:txBody>
      </p:sp>
    </p:spTree>
    <p:extLst>
      <p:ext uri="{BB962C8B-B14F-4D97-AF65-F5344CB8AC3E}">
        <p14:creationId xmlns:p14="http://schemas.microsoft.com/office/powerpoint/2010/main" val="958553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E8973-D1FF-433B-A546-52D7108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6. 文獻參考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9282D-B03D-4B8F-AFC6-1BBE9CE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11751-0352-4C7D-A6F3-0B7EFC5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全報告核心論點與對應來源依據地圖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1A9D5-A2F4-450E-86DC-9D390C5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3EAF2-054A-4493-BCA6-C6B2178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9904A"/>
          </a:solidFill>
          <a:ln xmlns:a="http://schemas.openxmlformats.org/drawingml/2006/main" w="0">
            <a:solidFill>
              <a:srgbClr val="B990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5720C-2E56-47C9-AAE0-63D1230F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817E6-1D34-4109-A164-32F323E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954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天體分類與地貌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57355-8D2F-46B1-AD28-2130C25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NASA Pluto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47B57-D1E4-47AA-A6F9-A783CFF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C30D1-28AD-4F3C-AFE6-5AF6062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冥王星矮行星分類與特徵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湯博區「愛心」氮冰平原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支持科學動機與問題引導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37196-E1E3-43F6-822A-9D848D6D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1BEA6-34F7-40B1-944B-698CE7C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F9A3-9448-4187-B0A9-7852B7B6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28684-2E3B-4226-B71A-B9FBAB3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954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競品與產品定位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AB8E-A273-4F51-8A96-CD2586B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 / Kahoot!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4B22F-9115-4672-9DC3-8A562623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6D8FD-6AA9-42B5-AE83-EF4044E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NotebookLM：依據來源研究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Kahoot!：高互動測驗反饋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三方產品定位差異比較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AF280-CDEB-4564-B259-48FF41B8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634FD-A1F9-4648-BFA6-7E83A2B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DC16A-C360-4776-A983-42B3C44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41DB2-79B6-4783-8F13-83CECAB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954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通訊架構與通訊協定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877EB-6023-41FD-A2F2-36FCE16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Developers Docs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58365-7683-4ABA-B617-9EB06C4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6F884-12A4-461F-965D-8B52215B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Webhook 事件安全驗證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Messaging API 路由派發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單次回覆防重複機制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09469-B667-4917-99F9-E9D22F1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98B33-B2A6-4B1B-8927-284793F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8748E"/>
          </a:solidFill>
          <a:ln xmlns:a="http://schemas.openxmlformats.org/drawingml/2006/main" w="0">
            <a:solidFill>
              <a:srgbClr val="58748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FD576-1899-4CD3-AD68-A63A2FF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4D14A-7F0E-4BE9-9960-6D87EA0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模型調用與 API 路由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57777-1DA1-49FE-86A1-008C42FB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Google AI Gemma Docs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A5E88-B499-47C2-8871-A3884E5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0B096-9CAA-4762-A819-5E2837A7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Gemma 26B (a4b-it) 呼叫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雙路徑路由（本機/雲端）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謙遜老人人設與邊界約束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A2DC6-1F6D-433E-9404-EAF7A548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D738A-A4B0-4DE9-A60C-24F7BAAC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7658B"/>
          </a:solidFill>
          <a:ln xmlns:a="http://schemas.openxmlformats.org/drawingml/2006/main" w="0">
            <a:solidFill>
              <a:srgbClr val="77658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53056-6C6D-484C-A587-2D6579F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P4/P5/P7/P9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1FA37-6105-4BAE-9E18-D565D63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65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7658B"/>
                </a:solidFill>
                <a:latin typeface="Microsoft JhengHei"/>
                <a:ea typeface="Microsoft JhengHei"/>
                <a:cs typeface="Microsoft JhengHei"/>
              </a:rPr>
              <a:t>系統實作與內容資產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F3C6C-9219-404D-BEB9-C664FBC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專案代碼、資料與導引文件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5B5688-6EB8-4223-9035-53A2BE2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4A676F-2D0A-4888-ABB2-BF706250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76 張知識卡與 220 題庫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80 段重組導引教材架構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伺服器端 SQLite 進度交易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9633F4-43B2-422D-B5AA-1A58688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9CD0D9-2B14-4A2C-8307-8471319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8622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D4345D-2941-47C3-B8C3-2E39F02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994498-9983-4E12-94BC-363493DE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862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效能驗證與缺口坦承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0DD21-9C65-4DBD-91E1-590F61A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本機測試與評估紀錄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873AFD-1FC9-4125-9CEC-721662B0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41D408-8E92-49F3-8ED7-9A3006B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172 項測試通過、覆蓋率 81.34%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導引模組覆蓋率約 95%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坦承模型評估指標未經驗證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E9DD05-C949-455F-8690-24C2ED2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完整來源連結、測試日誌與架構文件均存於投影片備忘稿與開源儲存庫。</a:t>
            </a:r>
          </a:p>
        </p:txBody>
      </p:sp>
    </p:spTree>
    <p:extLst>
      <p:ext uri="{BB962C8B-B14F-4D97-AF65-F5344CB8AC3E}">
        <p14:creationId xmlns:p14="http://schemas.microsoft.com/office/powerpoint/2010/main" val="1369791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2026-09-13T13:22:06.5430000Z</dcterms:created>
  <dcterms:modified xsi:type="dcterms:W3CDTF">2026-09-13T13:22:06.5430000Z</dcterms:modified>
</coreProperties>
</file>