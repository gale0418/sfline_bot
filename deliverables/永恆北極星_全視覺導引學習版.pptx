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a4dd61eba14ff8" /><Relationship Type="http://schemas.openxmlformats.org/officeDocument/2006/relationships/extended-properties" Target="/docProps/app.xml" Id="R59a438212dce4ce4" /><Relationship Type="http://schemas.openxmlformats.org/officeDocument/2006/relationships/officeDocument" Target="/ppt/presentation.xml" Id="Rca886f4808794b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1101e08bf4b9b"/>
  </p:sldMasterIdLst>
  <p:notesMasterIdLst>
    <p:notesMasterId xmlns:r="http://schemas.openxmlformats.org/officeDocument/2006/relationships" r:id="R78ee8c4be5c24d1f"/>
  </p:notesMasterIdLst>
  <p:sldIdLst>
    <p:sldId xmlns:r="http://schemas.openxmlformats.org/officeDocument/2006/relationships" id="256" r:id="Rd74a1e3800f94b01"/>
    <p:sldId xmlns:r="http://schemas.openxmlformats.org/officeDocument/2006/relationships" id="257" r:id="Rf025896f6fca46a9"/>
    <p:sldId xmlns:r="http://schemas.openxmlformats.org/officeDocument/2006/relationships" id="258" r:id="Rb5c0e9d6ed8842c2"/>
    <p:sldId xmlns:r="http://schemas.openxmlformats.org/officeDocument/2006/relationships" id="259" r:id="R0c51b22dbc854c13"/>
    <p:sldId xmlns:r="http://schemas.openxmlformats.org/officeDocument/2006/relationships" id="260" r:id="R83551170265144b5"/>
    <p:sldId xmlns:r="http://schemas.openxmlformats.org/officeDocument/2006/relationships" id="261" r:id="Rd926f21976e542ac"/>
    <p:sldId xmlns:r="http://schemas.openxmlformats.org/officeDocument/2006/relationships" id="262" r:id="R07af82bea4784a40"/>
    <p:sldId xmlns:r="http://schemas.openxmlformats.org/officeDocument/2006/relationships" id="263" r:id="R1ea173ad86ae4979"/>
    <p:sldId xmlns:r="http://schemas.openxmlformats.org/officeDocument/2006/relationships" id="264" r:id="R83c504ee54564390"/>
    <p:sldId xmlns:r="http://schemas.openxmlformats.org/officeDocument/2006/relationships" id="265" r:id="R77318f49c4824a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9f45ce33774d51" /><Relationship Type="http://schemas.openxmlformats.org/officeDocument/2006/relationships/slideMaster" Target="/ppt/slideMasters/slideMaster1.xml" Id="R14d1101e08bf4b9b" /><Relationship Type="http://schemas.openxmlformats.org/officeDocument/2006/relationships/notesMaster" Target="/ppt/notesMasters/notesMaster1.xml" Id="R78ee8c4be5c24d1f" /><Relationship Type="http://schemas.openxmlformats.org/officeDocument/2006/relationships/presProps" Target="/ppt/presProps.xml" Id="Re2f9c1c708b44c4c" /><Relationship Type="http://schemas.openxmlformats.org/officeDocument/2006/relationships/tableStyles" Target="/ppt/tableStyles.xml" Id="Rb71c55ec38ef4d2a" /><Relationship Type="http://schemas.openxmlformats.org/officeDocument/2006/relationships/slide" Target="/ppt/slides/slide1.xml" Id="Rd74a1e3800f94b01" /><Relationship Type="http://schemas.openxmlformats.org/officeDocument/2006/relationships/slide" Target="/ppt/slides/slide2.xml" Id="Rf025896f6fca46a9" /><Relationship Type="http://schemas.openxmlformats.org/officeDocument/2006/relationships/slide" Target="/ppt/slides/slide3.xml" Id="Rb5c0e9d6ed8842c2" /><Relationship Type="http://schemas.openxmlformats.org/officeDocument/2006/relationships/slide" Target="/ppt/slides/slide4.xml" Id="R0c51b22dbc854c13" /><Relationship Type="http://schemas.openxmlformats.org/officeDocument/2006/relationships/slide" Target="/ppt/slides/slide5.xml" Id="R83551170265144b5" /><Relationship Type="http://schemas.openxmlformats.org/officeDocument/2006/relationships/slide" Target="/ppt/slides/slide6.xml" Id="Rd926f21976e542ac" /><Relationship Type="http://schemas.openxmlformats.org/officeDocument/2006/relationships/slide" Target="/ppt/slides/slide7.xml" Id="R07af82bea4784a40" /><Relationship Type="http://schemas.openxmlformats.org/officeDocument/2006/relationships/slide" Target="/ppt/slides/slide8.xml" Id="R1ea173ad86ae4979" /><Relationship Type="http://schemas.openxmlformats.org/officeDocument/2006/relationships/slide" Target="/ppt/slides/slide9.xml" Id="R83c504ee54564390" /><Relationship Type="http://schemas.openxmlformats.org/officeDocument/2006/relationships/slide" Target="/ppt/slides/slide10.xml" Id="R77318f49c4824a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51c84cff174d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5b5574c14846d9" /><Relationship Type="http://schemas.openxmlformats.org/officeDocument/2006/relationships/notesMaster" Target="/ppt/notesMasters/notesMaster1.xml" Id="Ra1ea5aa7c57b43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0fd7ab4b384a28" /><Relationship Type="http://schemas.openxmlformats.org/officeDocument/2006/relationships/notesMaster" Target="/ppt/notesMasters/notesMaster1.xml" Id="R53dfabe909f840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b8ca2622154e85" /><Relationship Type="http://schemas.openxmlformats.org/officeDocument/2006/relationships/notesMaster" Target="/ppt/notesMasters/notesMaster1.xml" Id="Ra346551e787a4f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d00ec39a674188" /><Relationship Type="http://schemas.openxmlformats.org/officeDocument/2006/relationships/notesMaster" Target="/ppt/notesMasters/notesMaster1.xml" Id="R01c359a2875f40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842a18e74a4953" /><Relationship Type="http://schemas.openxmlformats.org/officeDocument/2006/relationships/notesMaster" Target="/ppt/notesMasters/notesMaster1.xml" Id="R9e2d31410ad247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be9d60c0574692" /><Relationship Type="http://schemas.openxmlformats.org/officeDocument/2006/relationships/notesMaster" Target="/ppt/notesMasters/notesMaster1.xml" Id="R7fff94e06ae14c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d44a138aa441a1" /><Relationship Type="http://schemas.openxmlformats.org/officeDocument/2006/relationships/notesMaster" Target="/ppt/notesMasters/notesMaster1.xml" Id="Rb4e99cb94a7841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3131667dd14e14" /><Relationship Type="http://schemas.openxmlformats.org/officeDocument/2006/relationships/notesMaster" Target="/ppt/notesMasters/notesMaster1.xml" Id="R9de479d01eae44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ecb3d142e643db" /><Relationship Type="http://schemas.openxmlformats.org/officeDocument/2006/relationships/notesMaster" Target="/ppt/notesMasters/notesMaster1.xml" Id="R1fe66e79f54d4e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f92b1702db4779" /><Relationship Type="http://schemas.openxmlformats.org/officeDocument/2006/relationships/notesMaster" Target="/ppt/notesMasters/notesMaster1.xml" Id="R3395fbb7868f49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各位老師、同學大家好，我今天要介紹的專題是「永恆北極星」，一套在 LINE 裡運作的科學問答與互動試煉系統。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先很直接地說明做這個題目的原因：因為我喜歡。像是冥王星為什麼有一顆愛心、木星裡面為什麼可能有金屬氫，還有電影裡的太空旅行究竟哪些地方是真的，這些都是我自己會想繼續查下去的問題。我想試著把這份好奇心做成一個可以互動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今天的重點不只是展示機器人會回答一句話。我會介紹它如何處理不同問題、怎麼把知識整理成可以追溯的內容，以及四座寶庫如何帶著使用者循序學習。目前版本包含七十六張知識卡、兩百二十題固定測驗，以及八十段由既有內容重組的導引教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接下來依序說明簡介、專題目的與相關產品、系統架構與技術、效能分析、結論與未來工作，最後列出參考資料。中間會安排問答與五題試煉的展示。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https://github.com/Gale0418/SFLINE_BOT</a:t>
            </a:r>
          </a:p>
          <a:p xmlns:a="http://schemas.openxmlformats.org/drawingml/2006/main">
            <a:r>
              <a:t>AI 概念插畫：內建 imagegen 生成，2026-09-13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我的研究動機其實很單純。我沒有一開始就設定要解決很大的教育問題，而是喜歡科學，也想親手做出一個能聊天、能陪人探索的機器人。選擇 LINE，是因為它本來就是日常會使用的聊天介面，提問時不必另外學一套複雜操作。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邊這張是冥王星的概念插畫，不是探測器原始照片。它表面的心形亮區叫湯博區。對我來說，最吸引人的地方是：一個外觀上的小發現，可以帶出很多後續問題。這顆愛心是什麼成分？為什麼有些地方看起來比較平？它被重新分類成矮行星之後，還有哪些值得研究的地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【停頓，讓觀眾看圖約十秒。】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樣的好奇也會出現在電影裡。例如《火星救援》把種馬鈴薯變成一段很有記憶點的情節。看完後，我會想知道：真實火星環境下，植物需要哪些條件？只把種子埋進紅色土裡，真的就夠了嗎？而《極限返航》這類星際旅行故事，又會讓人想到距離、時間與推進的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機器人可以接住這些問題。先用容易理解的話解釋，再讓使用者透過來源或追問往下走。如果想換一種互動，就進入五題試煉，看自己是不是掌握了概念。答錯的時候，系統會解說原因，而不是只留下一個叉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也要區分動機與未來應用。個人興趣是我開始做的原因。課後練習、科學社團或博物館導覽，則是往後可能發展的方向。目前沒有進行正式教學實驗，所以不能說這個作品已經證明能提升學習成績。我現在能負責任地介紹的是系統功能、內容設計和目前取得的驗證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https://science.nasa.gov/dwarf-planets/pluto/facts/</a:t>
            </a:r>
          </a:p>
          <a:p xmlns:a="http://schemas.openxmlformats.org/drawingml/2006/main">
            <a:r>
              <a:t>本機 docs/solar-wonders.md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專題目的，是讓使用者在同一個聊天入口完成自由提問、導引學習與簡短練習。自由問答接住沒有固定格式的好奇心，導引路線安排先後順序，固定試煉則提供可重現的檢核。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參考了兩種相關產品的定位。NotebookLM重視依據來源進行研究與回答，這讓我注意到引用與來源追溯的重要性。Kahoot!提供測驗和課堂互動，讓我思考如何讓作答後的回饋更清楚。這一頁比較的是產品定位，沒有做三個產品在相同題目下的準確率排名，所以不會宣稱自己的作品比它們更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永恆北極星選擇較小、可以自己掌握的範圍：在LINE裡整合問答、導引路線與五題個人試煉。使用者可以先問太陽為什麼發光，也可以從四座寶庫選一條路，逐段學習後接受挑戰。題目有固定正解、解說和來源，不由模型在作答當下臨時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這個選擇帶來一個取捨。固定題庫不可能像生成模型一樣無限變化，但它比較容易檢查答案，也可以做重複測試。模型可以處理自然語言與開放追問，卻不應該隨意改變已經定好的計分規則。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老師問：既然已經有聊天模型，為什麼還要做這個系統？我的回答是，專題的工作在於把模型接到一個完整可用的互動流程，整理內容、管理對話和作答狀態，並檢查結果是否符合約定。使用者看到的是聊天視窗，背後卻需要清楚的資料與程式分工。接下來從一則訊息的處理旅程說明這個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https://blog.google/innovation-and-ai/models-and-research/google-labs/notebooklm-discover-sources/</a:t>
            </a:r>
          </a:p>
          <a:p xmlns:a="http://schemas.openxmlformats.org/drawingml/2006/main">
            <a:r>
              <a:t>https://kahoot.com/schools/how-it-works/</a:t>
            </a:r>
          </a:p>
          <a:p xmlns:a="http://schemas.openxmlformats.org/drawingml/2006/main">
            <a:r>
              <a:t>https://developers.line.biz/en/docs/messaging-api/receiving-messages/</a:t>
            </a:r>
          </a:p>
          <a:p xmlns:a="http://schemas.openxmlformats.org/drawingml/2006/main">
            <a:r>
              <a:t>https://github.com/Gale0418/SFLINE_BOT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請從表格第一列往下看。使用者在LINE傳送文字或按下答案後，LINE會把事件送到Webhook網址。這次展示環境使用ngrok，將公開網址的請求轉到本機Flask服務。Flask負責接收請求，再交給後續模組。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件事是驗證來源。Webhook必須使用原始請求內容檢查LINE簽章，避免任何人都可以假裝LINE送進事件。下一步處理重複事件，因為同一個事件有可能再次抵達。如果沒有去重，使用者只按一次，就可能被系統當成兩次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是排程。外部模型需要等待網路回覆，因此系統採用有容量限制的背景工作池。容量限制的作用是把能接受的工作量定清楚，滿載時回覆忙碌，讓問題可以被辨識，而不是無限制累積請求。同一位使用者的事件依序處理，降低兩個答案同時修改同一場試煉的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【指向命令與一般問答兩列，停頓約十秒。】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由會判斷這則訊息屬於哪個工作。幫助、退出、分數和試煉操作走程式規則。一般問題才進入問答服務。這樣一來，使用者說退出時，系統不需要請模型猜測要不要退出。規則明確的狀態轉換能直接測試，也比較容易重現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答服務有兩種主要情況。清楚命中知識卡時，直接用卡片事實回答，不需要發出外部模型請求。如果問題比較開放，或是在延續上一輪的話題，就交給選定模型理解。模型回傳後還要檢查結構、分類和來源代號，再轉成LINE可以顯示的文字或Quick Reply按鈕。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這些步驟不是單靠一份很長的提示詞完成。提示詞只能約束模型應該如何回答，無法代替伺服器驗證事件，也不能負責確定性的計分。所以我的架構把語言理解與狀態控制分開，讓每一層有自己的責任。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目前仍有展示環境的限制。本機電腦、網路與轉接通道必須保持運作。導引學習進度已保存到伺服器端 SQLite，不會操作使用者手機；短期對話與一般五題試煉仍在記憶體中，服務重啟後會消失。如果改成多台主機或容器部署，還需要共享儲存與備份，不能把現在的展示方式直接等同正式上線。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https://developers.line.biz/en/docs/messaging-api/receiving-messages/</a:t>
            </a:r>
          </a:p>
          <a:p xmlns:a="http://schemas.openxmlformats.org/drawingml/2006/main">
            <a:r>
              <a:t>本機 src/eternal_polaris/app.py、dispatcher.py、learning.py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要分清楚四種用途。七十六張知識卡用於回答與來源檢查；兩百二十題提供固定試煉；八十段導引教材把既有內容排成四條循序路線；另有三十題自由問答評估集。八十段不是新增八十張知識卡，它是重新組織後的學習順序。這些用途不能混在一起，也不能把題庫檢查通過說成模型已答對兩百二十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試煉保留原本九十六題基礎內容，接著有二十題科學史與媒體識讀、三十四題趣味科普。這次又加入五十題太陽系驚奇和二十題電影科學，總共二十個主題。圖表則按寶庫分類，星海一百零六題、地脈與生命三十七題、萬象法則三十題、未來幻夢四十七題。這是同一份資料的不同分類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內容從外觀開始，逐漸帶到看不見的內部。水星的撞擊坑、金星的厚雲、木星條紋、天王星側躺的自轉，都能當提問入口。但我不希望每題只是背名字。例如海王星看起來特別深藍，可以進一步問：這張照片有沒有做色彩增強？看到的是自然色，還是為了顯示細節而處理過的影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以超離子冰為例。這是一種在極端溫壓條件下，氧形成晶格、氫離子仍可移動的物態。實驗已有支持，但不能因此說我們直接拍到了海王星裡面的超離子冰層。物態實驗與行星內部分布是兩個問題。知識卡會把這個限制一起保存，題目也會測使用者是否分得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【互動約三十秒。】如果我問：木衛二或土衛二有海洋，是不是就已經找到外星生命？可以先讓大家想一下。答案是還不能。液態水、能量與化學成分讓它們值得探索，但宜居條件與生命存在，需要不同的證據。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題有唯一ID、寶庫、主題、難度、四個選項、正解、解說與來源代號。載入時會檢查欄位、重複ID、來源是否存在，以及文字長度等限制。正確選項的位置會依規則重新分布，讓各寶庫與難度組內的A、B、C、D數量盡量平衡，避免使用者靠猜固定位置取得高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的內容規模並不是越大越好。每次擴充都要檢查來源、別名能不能命中，還要避免把同一個觀念換句話重複計數。兩百二十題是目前可展示的範圍。未來有新的小行星消息或科學發現時，內容也必須帶日期，不能一直沿用舊新聞裡的風險數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因此，資料整理本身就是專題的一部分。題庫不是模型訓練資料，也沒有讓我自行訓練出新的模型。它提供的是可控制的互動內容和可追溯的解說。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data/knowledge_cards.json、data/quiz_questions.tsv、docs/guided-learning.md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一般問答採混合策略。對於清楚命中的知識卡問題，系統使用本機內容，這條路徑不必等待外部模型。對較開放的問題與連續追問，模型則可以利用短期上下文，最多保留最近三組對話。Demo設定使用Gemma 4 26B A4B，系統也保留可切換的模型服務介面。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機匹配採精確問題、別名與保守的相似度判斷。例如有人問天空為什麼是藍的，可以對應既有卡片。但如果一句話包含黑洞，卻是在要求寫某種程式，不能只因為看見關鍵字，就回覆一張黑洞知識卡。保守判斷會漏掉部分可以命中的句子，但可以降低明顯答非所問的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回答會接受程式端檢查，有卡片依據時才能使用對應來源代號。一般知識仍可以回答，但不能冒用卡片引用。這能降低來源亂填的問題，卻不能保證每個科學敘述全對。來源存在與答案真的符合來源，是相關但不同的兩件事，仍需要人工查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太空旅行的問題最容易看出這個差別。使用者問最快太空船去比鄰星要多久，很容易得到一個看似精準的數字。我會先說明：Parker探測器在近太陽飛掠時，日心速度約每秒一百九十二公里，這是局部最高速度，並不是可以全程維持的星際巡航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只為了比較尺度，假設全程維持這個速度、沿直線飛行、忽略加減速與恆星相對運動，飛過約四點二四光年會得到大約六千六百年。這個數字有助理解星際距離，但不能寫成現成任務需要的時間。對行星的估算也同樣要交代行星位置、距離假設，以及是否需要在終點減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電影內容也採取同樣原則。《極限返航》可以帶出相對論，但電影裡的任務和推進設定不等於已實現技術。談時間膨脹時，船上的人不會覺得自己的手錶變成慢動作。差異是在比較不同路徑累積的時間時出現。以簡化的等速航段為例，速度若是零點八倍光速，地球慣性系經過十年，船上對應六年。這個例子省略了完整旅程的加減速，所以不能拿來直接推算整部電影的結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《火星救援》的馬鈴薯則能引出另一種問題：物理上可以想像，不等於工程上已經做到。真實栽培要處理壓力、溫度、水、養分與化學風險。NASA做過深空作物研究，也不代表人類已在火星實地種植成功。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我希望系統能保留這些有趣問題，又不為了讓答案更刺激而省略條件。說明目前知道什麼、還不知道什麼，也是科學回答的一部分。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https://ai.google.dev/gemma/docs/core/gemma_on_gemini_api</a:t>
            </a:r>
          </a:p>
          <a:p xmlns:a="http://schemas.openxmlformats.org/drawingml/2006/main">
            <a:r>
              <a:t>本機 src/eternal_polaris/answer_service.py、knowledge.py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是這次新增的核心流程。我輸入「學習」，老人先問：「你對這世界感到好奇嗎？」接著讓使用者從星海、地脈與生命、萬象法則、未來幻夢四座寶庫中選擇。四條路線各自保存進度，所以沒學完天文，也能先去探索人體或人工智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【操作約一分鐘：輸入「學習」，選一座寶庫，展示第一段短講與理解題。】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個階段有五段短講。讀完一段就回答一題理解題，答錯時老人會重新說明概念，不把一次失誤當作能力不足。五段完成後進入五題過關挑戰，答對四題便解鎖下一階段。這是一個明確的規則式檢核，目前還不是經過學習研究校準的適性能力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【操作約兩分鐘：故意答錯一題，再答對；指出解說與下一段按鈕。接著切換另一座寶庫，顯示進度互不影響。】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畫面上的按鈕綁定使用者、路線和當下狀態，並加上HMAC簽章。目的在於防止修改內容、跨使用者操作，以及重播上一個步驟。每次狀態更新都在SQLite交易內完成，同一個按鈕同時點兩次，也只有一次能被接受。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【操作約三十秒：問一個自由問題，再輸入「繼續學習」，顯示教材位置仍然保留。】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ite檔案位在執行機器人的電腦或伺服器，不在使用者手機。LINE手機端只負責傳送訊息和按鈕事件。資料庫保存假名化的使用者識別、路線與進度，不保存原始聊天全文。正式部署仍要保護資料檔、備份，並說明保存政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【備援，不要與成功版本一起念。】如果展示通道無法連線，我會沿著投影片上的四步圖說明：選路、短講、理解題、過關解鎖。手機是否真的收到每則訊息仍需另存實機證據，不能用程式測試代替。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docs/guided-learning.md、src/eternal_polaris/learning.py、tests/test_learning.py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能分析先從可以重跑的結果開始。這次擴充後，本機一百七十二項自動化測試通過，含分支的整體覆蓋率是百分之八十一點三四，高於專案設定的百分之七十門檻。導引模組本身約百分之九十五。測試涵蓋四路完整通關、答錯補救、換路隔離、資料重新載入、刪除確認、舊按鈕、同時點擊與LINE webhook模擬。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最重要的是數字的解讀範圍。覆蓋率描述測試執行到多少程式與分支，不是使用者滿意度，也不是模型答對題目的比例。一百七十二項測試通過，表示它們在測試條件下符合預期，不能延伸成任何輸入或網路環境都不會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真實對答已經確認可以運作。但一次能聊天，和在固定條件下完成整套評估，是不同層次的證據。完整五題的手機操作也需要留存畫面，確認訊息實際抵達、按鈕能使用，以及解說在手機上讀起來是否清楚。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最明確的缺口是模型效能。九月八日保存的三十題線上評估，當次全部遇到服務錯誤或逾時，沒有得到可評分的有效答案。這代表該次評估無效，不能報成模型準確率零分，也不能拿後來幾次成功聊天補成三十題通過。因此現在沒有有效的Accuracy、F1、平均延遲或P95可以發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如果要把評估補完整，第一步是固定模型、問題集、設定與執行時間，再保存原始輸出及每題耗時。發生服務錯誤時，要把服務可用性與答案正確性分開，不然就會把網路問題錯算成科學錯誤。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第二步是逐題檢查答案。分類是否正確、來源是否對得上、答案有沒有超出來源，最好分開記錄。像超離子冰這題，光有提到氧和氫還不夠，如果把可能的內部結構說成已直接觀測到，仍然需要扣分或註記。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後才是比較不同策略。高信心本機路徑確實不會發出外部模型請求，但節省多少時間或費用，仍要用實測數據說明。現在我能說的是這個架構減少了該路徑的外部依賴，還不能拿沒有量測過的百分比當成果。這份報告保留缺口，是希望讓每個結論都對得上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results/guided-coverage.json；2026-09-13，172 passed，81.34%。</a:t>
            </a:r>
          </a:p>
          <a:p xmlns:a="http://schemas.openxmlformats.org/drawingml/2006/main">
            <a:r>
              <a:t>本機 results/google-evaluation-20260908.json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一開始的動機，我想把自己喜歡的科學內容，做成可以親手操作的作品。目前完成的是LINE問答、五題試煉與四條導引路線的整合，包含七十六張知識卡、兩百二十題固定內容、八十段導引教材，以及伺服器端的學習進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在這個專題裡學到，會呼叫模型只是其中一個步驟。讓一個聊天機器人可以持續互動，需要處理訊息來源、狀態、資料和錯誤。模型適合理解開放問題，程式適合執行明確規則，而內容來源決定回答能不能被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來最優先的工作，是完成有效的模型評估與人工查核，並保存完整手機展示。如果要往教學方向發展，還需要訪談、可讀性測試，或有設計的前後測。沒有做這些研究之前，我會把教育效果保留為待驗證的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內容方面，可以持續收集使用者真正想問、卻沒有被回答好的問題，再補知識卡。導引系統下一步要研究新的遷移題與程度估計，避免只靠重複本階段題目判斷理解。正式部署則需要共享儲存、備份與隱私說明。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這個作品從「我覺得這些事情很有趣」開始。現在它至少已經讓這份興趣變成可展示、可檢查、也能繼續改進的系統。這是我目前最想呈現的成果。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https://github.com/Gale0418/SFLINE_BOT</a:t>
            </a:r>
          </a:p>
          <a:p xmlns:a="http://schemas.openxmlformats.org/drawingml/2006/main">
            <a:r>
              <a:t>本機 README.md、docs/guided-learning.md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最後列出主要參考資料。LINE官方文件用於Webhook與訊息處理，Google官方文件用於Gemma模型呼叫。NotebookLM與Kahoot!的官方介紹用於相關產品定位。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新增科學內容主要參考NASA、ESA、國際天文聯合會、LLNL及Einstein Online。電影官方介紹只支持作品背景，真實科學則另外查研究機構資料，不把電影內容當成實驗證據。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完整連結放在各頁備忘稿、演講稿與專案資料檔。圖片中的概念插畫也有標示，沒有把AI插畫當成探測器觀測照片。以上是我的專題報告，謝謝老師與同學，歡迎提問。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https://developers.line.biz/en/docs/messaging-api/receiving-messages/</a:t>
            </a:r>
          </a:p>
          <a:p xmlns:a="http://schemas.openxmlformats.org/drawingml/2006/main">
            <a:r>
              <a:t>https://ai.google.dev/gemma/docs/core/gemma_on_gemini_api</a:t>
            </a:r>
          </a:p>
          <a:p xmlns:a="http://schemas.openxmlformats.org/drawingml/2006/main">
            <a:r>
              <a:t>https://blog.google/innovation-and-ai/models-and-research/google-labs/notebooklm-discover-sources/</a:t>
            </a:r>
          </a:p>
          <a:p xmlns:a="http://schemas.openxmlformats.org/drawingml/2006/main">
            <a:r>
              <a:t>https://kahoot.com/schools/how-it-works/</a:t>
            </a:r>
          </a:p>
          <a:p xmlns:a="http://schemas.openxmlformats.org/drawingml/2006/main">
            <a:r>
              <a:t>https://science.nasa.gov/</a:t>
            </a:r>
          </a:p>
          <a:p xmlns:a="http://schemas.openxmlformats.org/drawingml/2006/main">
            <a:r>
              <a:t>https://www.llnl.gov/</a:t>
            </a:r>
          </a:p>
          <a:p xmlns:a="http://schemas.openxmlformats.org/drawingml/2006/main">
            <a:r>
              <a:t>https://www.einstein-online.info/</a:t>
            </a:r>
          </a:p>
          <a:p xmlns:a="http://schemas.openxmlformats.org/drawingml/2006/main">
            <a:r>
              <a:t>https://github.com/Gale0418/SFLINE_BOT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790e0a84f46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a291404e7443ad" /><Relationship Type="http://schemas.openxmlformats.org/officeDocument/2006/relationships/slideLayout" Target="/ppt/slideLayouts/slideLayout1.xml" Id="R15cbe78e301c40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cbe78e301c40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afccb32e04823" /><Relationship Type="http://schemas.openxmlformats.org/officeDocument/2006/relationships/image" Target="/ppt/media/image.png" Id="Rb9d0422aca3c45af" /><Relationship Type="http://schemas.openxmlformats.org/officeDocument/2006/relationships/notesSlide" Target="/ppt/notesSlides/notesSlide1.xml" Id="Re4030908bff24b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7c211e4cb4506" /><Relationship Type="http://schemas.openxmlformats.org/officeDocument/2006/relationships/image" Target="/ppt/media/image2.png" Id="R0294fb0fb16742af" /><Relationship Type="http://schemas.openxmlformats.org/officeDocument/2006/relationships/notesSlide" Target="/ppt/notesSlides/notesSlide2.xml" Id="Rf688f57b8f9f41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799a55cf94ead" /><Relationship Type="http://schemas.openxmlformats.org/officeDocument/2006/relationships/notesSlide" Target="/ppt/notesSlides/notesSlide3.xml" Id="Rbc669a0cada64c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42c61f6a84b65" /><Relationship Type="http://schemas.openxmlformats.org/officeDocument/2006/relationships/notesSlide" Target="/ppt/notesSlides/notesSlide4.xml" Id="R42d5e3b535e341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c59cd682e4ef2" /><Relationship Type="http://schemas.openxmlformats.org/officeDocument/2006/relationships/chart" Target="/ppt/slides/charts/chart1.xml" Id="R8b13dc4297194dd7" /><Relationship Type="http://schemas.openxmlformats.org/officeDocument/2006/relationships/notesSlide" Target="/ppt/notesSlides/notesSlide5.xml" Id="Re730b46fee0646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40b3eae3948bb" /><Relationship Type="http://schemas.openxmlformats.org/officeDocument/2006/relationships/notesSlide" Target="/ppt/notesSlides/notesSlide6.xml" Id="R30db7bbec2294e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bc947e6184b5c" /><Relationship Type="http://schemas.openxmlformats.org/officeDocument/2006/relationships/notesSlide" Target="/ppt/notesSlides/notesSlide7.xml" Id="R804af7a794614a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44d26d0b14f2d" /><Relationship Type="http://schemas.openxmlformats.org/officeDocument/2006/relationships/chart" Target="/ppt/slides/charts/chart2.xml" Id="R89cba74263d543f9" /><Relationship Type="http://schemas.openxmlformats.org/officeDocument/2006/relationships/notesSlide" Target="/ppt/notesSlides/notesSlide8.xml" Id="Rf9f4b6bc58204f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39b6f17e4485c" /><Relationship Type="http://schemas.openxmlformats.org/officeDocument/2006/relationships/notesSlide" Target="/ppt/notesSlides/notesSlide9.xml" Id="R0b28c4e679ec43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f4957fb814276" /><Relationship Type="http://schemas.openxmlformats.org/officeDocument/2006/relationships/notesSlide" Target="/ppt/notesSlides/notesSlide10.xml" Id="R13546b820ed1479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題數</c:v>
          </c:tx>
          <c:spPr>
            <a:solidFill xmlns:a="http://schemas.openxmlformats.org/drawingml/2006/main">
              <a:srgbClr val="843C46"/>
            </a:solidFill>
          </c:spPr>
          <c:cat>
            <c:strRef>
              <c:f>'Chart Data'!$A$2:$A$5</c:f>
              <c:strCache>
                <c:ptCount val="4"/>
                <c:pt idx="0">
                  <c:v>星海</c:v>
                </c:pt>
                <c:pt idx="1">
                  <c:v>地脈與生命</c:v>
                </c:pt>
                <c:pt idx="2">
                  <c:v>萬象法則</c:v>
                </c:pt>
                <c:pt idx="3">
                  <c:v>未來幻夢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106</c:v>
                </c:pt>
                <c:pt idx="1">
                  <c:v>37</c:v>
                </c:pt>
                <c:pt idx="2">
                  <c:v>30</c:v>
                </c:pt>
                <c:pt idx="3">
                  <c:v>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4283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百分比</c:v>
          </c:tx>
          <c:spPr>
            <a:solidFill xmlns:a="http://schemas.openxmlformats.org/drawingml/2006/main">
              <a:srgbClr val="843C46"/>
            </a:solidFill>
          </c:spPr>
          <c:cat>
            <c:strRef>
              <c:f>'Chart Data'!$A$2:$A$3</c:f>
              <c:strCache>
                <c:ptCount val="2"/>
                <c:pt idx="0">
                  <c:v>覆蓋率</c:v>
                </c:pt>
                <c:pt idx="1">
                  <c:v>門檻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81.34</c:v>
                </c:pt>
                <c:pt idx="1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283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2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0422aca3c45a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8BF03-C103-4ACD-B03B-40A3D66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rPr>
              <a:t>永恆北極星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3E31E-9582-410B-B31C-25F533D5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709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rPr>
              <a:t>LINE 科學問答、四座寶庫與導引式學習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69BB8-E28D-4D4F-856A-346F91C8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9AD"/>
          </a:solidFill>
          <a:ln xmlns:a="http://schemas.openxmlformats.org/drawingml/2006/main" w="0">
            <a:solidFill>
              <a:srgbClr val="D5B9A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713C2-AA8C-4159-A43B-0D3A4666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半導體 AI 課程專題報告</a:t>
            </a:r>
          </a:p>
          <a:p xmlns:a="http://schemas.openxmlformats.org/drawingml/2006/main">
            <a:pPr algn="l">
              <a:def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2026 年 9 月</a:t>
            </a:r>
          </a:p>
        </p:txBody>
      </p:sp>
    </p:spTree>
    <p:extLst>
      <p:ext uri="{BB962C8B-B14F-4D97-AF65-F5344CB8AC3E}">
        <p14:creationId xmlns:p14="http://schemas.microsoft.com/office/powerpoint/2010/main" val="211563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21AC2-EF64-48D2-AC95-9A85A897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1. 簡介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B7B9C-4F29-4658-971D-17F3B20C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4fb0fb16742af"/>
          <a:stretch xmlns:a="http://schemas.openxmlformats.org/drawingml/2006/main"/>
        </p:blipFill>
        <p:spPr>
          <a:xfrm xmlns:a="http://schemas.openxmlformats.org/drawingml/2006/main">
            <a:off x="7239000" y="1676400"/>
            <a:ext cx="3857625" cy="3857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48913-96C2-4145-A457-30019E5A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因為喜歡，所以想把好奇心做成作品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C067A-8B50-478E-BEBA-3DC0B2F1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7527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D7AA3-8C18-4F61-BE2A-E394D1EF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624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6D71C-E252-4C03-82A5-5E04ABAF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383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0E2D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CA480-66F8-4D03-8608-4D4A9764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47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看見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冥王星的愛心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2958D-BF9F-4959-9C91-BA3742B4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2038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9FD7F-43F8-4D31-96D4-DE69F262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90775"/>
            <a:ext cx="1847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追問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它為什麼長這樣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49673-96E4-4368-BE27-92F78580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22383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31B7E-2247-49FD-AF18-4B55390F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047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科學與未知的邊界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4D3C9-8AD1-4DB7-9134-1D3DB99E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33775"/>
            <a:ext cx="2038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CB0C4-6F42-4448-990A-8760109A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00450"/>
            <a:ext cx="1847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做出</a:t>
            </a:r>
          </a:p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能陪人探索的機器人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E5004-2229-4AEA-A4B1-081C3FF9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57475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FEECA-D867-42A6-B599-5B0EF824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67150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777C6-841E-4C8C-A16A-E73FFC60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623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未來可用於課後練習與科學導覽；學習效果仍待使用者研究。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BD156-0BCA-4FA6-AF63-E42AA36C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4832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冥王星概念插畫，非觀測照片</a:t>
            </a:r>
          </a:p>
        </p:txBody>
      </p:sp>
    </p:spTree>
    <p:extLst>
      <p:ext uri="{BB962C8B-B14F-4D97-AF65-F5344CB8AC3E}">
        <p14:creationId xmlns:p14="http://schemas.microsoft.com/office/powerpoint/2010/main" val="109098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1B40C-3470-496A-85FA-F6C3FA96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2. 專題目的、相關產品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471BB-3C6D-463D-BDA9-51773FAB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42F82-C217-4850-9525-E5F77405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三種能力在同一個 LINE 對話裡相遇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A24E8-7045-4F0E-8B6C-1C1211EC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542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3BBBC-8162-4E8F-8FF4-5F79C4A2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28875"/>
            <a:ext cx="285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362F1-9C94-464D-A2D3-EF069B9F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285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0528D-AE99-4E06-8038-F7B11614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622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6E2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B5046-CCA5-42A0-95DD-CD56B014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永恆北極星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16104-E4C5-4E0C-B0B1-4085BBB2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99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問答＋導引＋試煉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E0A77-CC16-4BC2-8343-1793272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DACB7-7780-4C54-88F0-48D563C6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NotebookLM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依來源問答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CF79E-9CB0-4F66-8D68-3326B90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90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888CC-4F1B-464F-ADFD-409025A7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95575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Kahoot!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測驗互動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A26B2-127C-4F47-A94B-31594F23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339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754C7-58F5-457E-8F93-AF8435DC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00625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日常聊天入口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CC4FC6-85B6-4EB5-B5C3-395999CD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43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參考引用思路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56868-3D9F-4B03-AA47-16C9F4DD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43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參考即時回饋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CCA2E-652B-4608-98B4-FFE2CA9A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比較產品定位，沒有進行同題效能排名。</a:t>
            </a:r>
          </a:p>
        </p:txBody>
      </p:sp>
    </p:spTree>
    <p:extLst>
      <p:ext uri="{BB962C8B-B14F-4D97-AF65-F5344CB8AC3E}">
        <p14:creationId xmlns:p14="http://schemas.microsoft.com/office/powerpoint/2010/main" val="1377155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A099DB-1AC1-44D5-8506-A004698F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系統架構與技術：整體流程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C20AC-DD71-4F55-A0E4-62999AB5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55BAA-AE32-44EB-9591-3C37F64C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從手機訊息到可驗證回覆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0EF07-0BAF-4D38-B0AC-2E2AE361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13185-DFDC-4E41-9BCB-54E656DC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DE855-0B80-4F85-B80F-308E8003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LINE 使用者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文字／按鈕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59831-7538-4DBD-9722-A18B5FF7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2759A-DB1A-4DA0-9B29-7341D9A8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9EFBC-9BAE-44F3-9731-455CED3C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Webhook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簽章驗證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8FF30-9AA0-47A4-86BB-2A384C69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66221-2DCB-4BAF-B903-B9C543A5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6BF07-30C4-4E21-9E83-0509B6B3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事件排程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去重／依序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A1F2A-788D-4D97-BA89-2F1150C0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E465B-3460-44EE-A10B-981AC1F3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C5197-9E1D-49F2-96AF-71A4DBC5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路由判斷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命令／問答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222B9-9162-4DD5-ACFF-CD4AD516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AA150-6FCD-4535-958D-9D9D6C91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回覆 LINE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文字／Quick Reply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47815-8319-41A9-AE8D-7E9C1999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4805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0F2C9-C5E1-461C-88E3-16327139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30670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0E2D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D0550-3C1E-4E24-9D8B-6EE81A98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33875"/>
            <a:ext cx="2876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規則路徑</a:t>
            </a:r>
          </a:p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Help、學習、計分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31470-604C-4D1E-AF8D-9C9EAA86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67200"/>
            <a:ext cx="1866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EBE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5F339-73C8-48F9-B13F-D05541E1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33875"/>
            <a:ext cx="167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模型路徑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開放問題與追問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79F93-9BBD-4B1B-97D3-60E9B7A6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19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明確規則交給程式；自然語言理解交給模型。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5872F-0615-457F-8EC9-8713028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導引進度保存在伺服器 SQLite</a:t>
            </a:r>
          </a:p>
        </p:txBody>
      </p:sp>
    </p:spTree>
    <p:extLst>
      <p:ext uri="{BB962C8B-B14F-4D97-AF65-F5344CB8AC3E}">
        <p14:creationId xmlns:p14="http://schemas.microsoft.com/office/powerpoint/2010/main" val="17137618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DC51D-5979-4595-A32B-E80C62C5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系統架構與技術：內容宇宙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C7037-5826-4558-B421-2EDD8FCE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B4FCB-A970-4C5F-9BCC-7989674A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76 張知識卡、220 題、20 個主題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95300" y="2076450"/>
          <a:ext xmlns:a="http://schemas.openxmlformats.org/drawingml/2006/main" cx="60483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13dc4297194dd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37ECF-8487-427B-B2C6-2333E957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05025"/>
            <a:ext cx="3276600" cy="327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9525">
            <a:solidFill>
              <a:srgbClr val="D8D1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D437E-0000-47DB-92D8-25B8E6ED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28900"/>
            <a:ext cx="2228850" cy="2228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54EC2-F345-4C3F-9535-38F3787E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7182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830"/>
          </a:solidFill>
          <a:ln xmlns:a="http://schemas.openxmlformats.org/drawingml/2006/main" w="0">
            <a:solidFill>
              <a:srgbClr val="2428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446B1-5A7B-4C77-9985-586DFA13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194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四座寶庫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613D2-10E8-4A3D-BCAF-6EAD8999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80 段導引教材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47E11-3EEA-479A-ACB7-F7FCFAD2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96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220 題固定試煉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A217D-ECA1-434D-B06D-7A23ABA5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知識卡提供事實與來源，題庫提供可重現的練習。</a:t>
            </a:r>
          </a:p>
        </p:txBody>
      </p:sp>
    </p:spTree>
    <p:extLst>
      <p:ext uri="{BB962C8B-B14F-4D97-AF65-F5344CB8AC3E}">
        <p14:creationId xmlns:p14="http://schemas.microsoft.com/office/powerpoint/2010/main" val="694325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4E2EB-5211-4E3A-B78B-05F7FB90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系統架構與技術：回答策略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878BB-E3F9-46A5-A05B-9FEA3DC2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6F7FB-9FBE-4966-9AF5-7EB4B584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一個問題，依證據與用途走不同路徑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D4023-981B-4315-96E5-DFFEFD75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24125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2830"/>
          </a:solidFill>
          <a:ln xmlns:a="http://schemas.openxmlformats.org/drawingml/2006/main" w="19050">
            <a:solidFill>
              <a:srgbClr val="2428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0AF4F-BF2A-4AF9-8FD2-B7262F37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1857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使用者問題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098DE-FECB-4B9E-97CD-C5304831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A16CE-E62F-4A7B-B5A6-F59AB619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90775"/>
            <a:ext cx="2114550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6F16D-2A01-4BE4-8246-D2E6359C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57450"/>
            <a:ext cx="1924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高信心命中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知識卡？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F2AC4-A865-4B68-9B7E-951AAD9A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F4BB2-D689-4046-934F-FB12DE3D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24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ADFC8-B8E6-4A0C-AE20-71889947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41BEE-EAC1-42A6-B8C0-06A88FA3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90975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48E"/>
          </a:solidFill>
          <a:ln xmlns:a="http://schemas.openxmlformats.org/drawingml/2006/main" w="0">
            <a:solidFill>
              <a:srgbClr val="5874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A6908-CB96-4889-824A-FFD0E7A9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90775"/>
            <a:ext cx="19526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0E2D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CF676-A4D3-4A62-84E5-6E016C2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57450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本機回答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事實＋來源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8D726-2FFE-4133-BFD3-A1E9AFC1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33800"/>
            <a:ext cx="25241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E7EBE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07E31-67D0-406A-9560-76EC2E79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004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模型回答</a:t>
            </a:r>
          </a:p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開放問題＋三組對話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FAC71-B0EE-4369-9613-51365EF2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FFD0C-0190-41D2-BF99-03D1145F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003E3-7DCF-4A52-8F0A-C3F5654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76575"/>
            <a:ext cx="1238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E211D-731B-4025-8E39-46523D2F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143250"/>
            <a:ext cx="104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格式與</a:t>
            </a:r>
          </a:p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來源檢查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A793C-6F22-4396-A223-99E0A191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模型：Gemma 4 26B A4B　　知識卡命中時不發出外部模型請求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8B201-C3AC-4AB9-A4CC-4A18ADFE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來源存在仍不等於所有敘述正確，科學內容需持續人工查核。</a:t>
            </a:r>
          </a:p>
        </p:txBody>
      </p:sp>
    </p:spTree>
    <p:extLst>
      <p:ext uri="{BB962C8B-B14F-4D97-AF65-F5344CB8AC3E}">
        <p14:creationId xmlns:p14="http://schemas.microsoft.com/office/powerpoint/2010/main" val="819487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A1C294-EB77-44F3-A5B2-4676BC38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系統架構與技術：導引式學習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209F3-6434-45C6-AECE-FF636DB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9807B-B13C-4BA2-AD17-C65F5C44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「你對這世界感到好奇嗎？」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F15E6-A795-454E-B369-4BE0D2AF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2830"/>
          </a:solidFill>
          <a:ln xmlns:a="http://schemas.openxmlformats.org/drawingml/2006/main" w="19050">
            <a:solidFill>
              <a:srgbClr val="2428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E77E6-99E6-494D-92A8-71C287A3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選擇路線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0389E-C989-446A-BDCF-EDD4340B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24150"/>
            <a:ext cx="5048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B1647-761F-499E-9F64-E69B010F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79C3A-E0A8-4A9C-9C53-CEB33976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907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🌌 星海之庫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684D9-011C-45BA-AD4B-83488684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E506D-7A68-4773-B828-1711E51F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670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🌍 地脈與生命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9B58A-5001-41DD-85FF-7DF8A7DB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65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B6796-A6E7-4DD0-811B-C0FD332E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⚛️ 萬象法則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BEA68-2593-4750-BC4D-B8F95976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90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C10CB-03CB-4C3D-839A-363AB38E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196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🚀 未來幻夢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3E340-CE00-4F5C-B64C-FA91523B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38375"/>
            <a:ext cx="28575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8F8BE-5F7A-485B-A504-9C518485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384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AD29A-5BB2-4397-AEB5-AFEAB1E1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8B696-EE2E-4B73-A546-88F827EB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8E919-09C3-4C2E-A367-6219EB29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短講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30E94-7C9C-46EE-BE4A-EB341A85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5 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6B8C2-D10C-48D2-87A5-077CF41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384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C8D17-209B-4993-B0D9-CC722AC1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6386F-E0C8-419E-818F-20B08E89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43251-61EF-42AB-B6C6-8B944305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理解題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4F3AE-8963-4F92-817E-A53D5A8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立即解說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198C2-D409-4E02-831B-16103581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384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6691A-AF6C-4AE1-ADA7-6E22BE1E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A957CD-E8D4-4E0D-926F-BB04D737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279F86-127C-4902-A50A-427B972E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過關挑戰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2E2055-74C2-4D7D-9836-40D5BDD3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5 題答對 4 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34A075-31AC-4392-B08D-7BBF154F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5D7A40-C0E5-4B4D-A992-F3D97C17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4E94DC-CCAC-4364-BF05-CA475546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下一階段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8C5B56-2771-4CED-8DB3-BD6C2BFB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各路獨立進度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922B18-4CEC-47A0-8BBF-DE010CEE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10125"/>
            <a:ext cx="561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自由提問不鎖住。答錯只決定要不要再複習，不替使用者貼能力標籤。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EC6FDF-B46D-414D-94E2-8F8F8A18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388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SQLite 位於機器人伺服器，不存取手機資料。</a:t>
            </a:r>
          </a:p>
        </p:txBody>
      </p:sp>
    </p:spTree>
    <p:extLst>
      <p:ext uri="{BB962C8B-B14F-4D97-AF65-F5344CB8AC3E}">
        <p14:creationId xmlns:p14="http://schemas.microsoft.com/office/powerpoint/2010/main" val="1438675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B34F3-5741-40EA-93FA-9961ECA4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4. 效能分析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39184-D94A-4CD7-9EC9-EB64501B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4CD06-210B-4707-B88A-BBBAFC76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程式驗證已更新，模型效能仍待有效資料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62388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cba74263d543f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449A3-54BB-4D7B-967A-91008439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097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830"/>
          </a:solidFill>
          <a:ln xmlns:a="http://schemas.openxmlformats.org/drawingml/2006/main" w="0">
            <a:solidFill>
              <a:srgbClr val="24283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B1BE8-E562-4D33-AC6C-5A1BE79F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454C5-398A-4B6C-A49F-124120AD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項測試通過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E3FFD-9BD6-43A7-A521-A6365F0A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導引模組約 95%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920E0-25BA-4E4B-910B-A664EEA8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816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已確認：程式與資料契約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74913-04F6-4C20-85CD-B8D3B1AE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尚未確認：30 題模型準確率、F1、P95、學習成效</a:t>
            </a:r>
          </a:p>
        </p:txBody>
      </p:sp>
    </p:spTree>
    <p:extLst>
      <p:ext uri="{BB962C8B-B14F-4D97-AF65-F5344CB8AC3E}">
        <p14:creationId xmlns:p14="http://schemas.microsoft.com/office/powerpoint/2010/main" val="338101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9ED1A-A393-46BF-92FB-91F10DE8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5. 結論與未來工作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2E826-24D4-4CE0-A799-826A58F5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A30CE-86A8-42AA-955E-732E2EAF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從可展示系統走向可驗證的學習工具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93142-853B-419D-9D05-2CA59699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24225"/>
            <a:ext cx="9667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11384-811C-4333-9AFE-B24333A7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843C4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CD0E3-15C4-4E0B-986C-2A6159A9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3CE9A-D70E-488D-80DC-43F5311C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現在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7D348-AE55-43B2-952F-405FE9DD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問答＋試煉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四路導引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55AD2-79C2-4193-8926-F7501E95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58748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B5261-CE9C-4E76-910C-ADD4794A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F2645-F271-4AF0-96B9-E0934F67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56A53-A122-46F9-899E-38D48C89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真實手機流程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30 題有效評估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F9856-46EB-4FCD-9B06-B8D8FBAA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5578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FAD69-5D39-4C27-9AAC-D1851724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1FAFA-8196-4E45-B910-5CBB7AF9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再下一步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79988-FE78-49BE-8033-178E4C12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使用者訪談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前後測設計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2CC1D-B009-49BC-8A72-A6FF6D2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B990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812B6-9BE2-44AC-9220-7B9D88C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EB287-37A4-4522-A720-582BB22D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之後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19C45-87A6-45C3-B7B4-3F6B1438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正式部署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共享儲存與隱私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C9528-FDFD-4D82-B713-C8B401C2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已完成：76 張知識卡、220 題、80 段導引教材、伺服器端學習進度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3396E-1FF0-4789-A719-3866EAAB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教育效果保留為待驗證成果，不用程式覆蓋率代替。</a:t>
            </a:r>
          </a:p>
        </p:txBody>
      </p:sp>
    </p:spTree>
    <p:extLst>
      <p:ext uri="{BB962C8B-B14F-4D97-AF65-F5344CB8AC3E}">
        <p14:creationId xmlns:p14="http://schemas.microsoft.com/office/powerpoint/2010/main" val="781098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9047F-9AFD-4EDE-956C-04555DD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6. 文獻參考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DD561-7E91-4812-828A-E7CA7121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D9C29-8D0B-4C9E-A92D-CA520D06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工程、科學與產品資料共同支撐報告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E309F-D175-4A72-8178-D02E97E3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830"/>
          </a:solidFill>
          <a:ln xmlns:a="http://schemas.openxmlformats.org/drawingml/2006/main" w="0">
            <a:solidFill>
              <a:srgbClr val="2428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09321-F8C1-4E47-8E82-99D9C4FD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956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永恆北極星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專題證據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67546-FAF3-4486-A6C3-4D8B8E95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764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C9937-D35D-4561-A5EF-00CCB781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43125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LINE Developers</a:t>
            </a:r>
          </a:p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Webhook 與訊息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77FBF-D6B8-4B3B-B72B-C6943A91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764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BAF74-590A-4987-AEBF-01BB554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43125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Google AI</a:t>
            </a:r>
          </a:p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Gemma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6727D-8963-4AF3-B4B0-6D8E46EE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10075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90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199E5-A562-4368-A7D1-8F7DAFDA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767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NASA／ESA／IAU</a:t>
            </a:r>
          </a:p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天體與任務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6A45A-D4C0-45BA-835B-7613FA8B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10075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658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D4F98-E3A7-4A9D-A054-8A2B7DBA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4767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LLNL／Einstein Online</a:t>
            </a:r>
          </a:p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物態與相對論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CED9B-EED0-45BF-A0F4-F1BF61DC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476875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5C114-FDDA-46E5-8E76-BA7E8044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5435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NotebookLM／Kahoot!</a:t>
            </a:r>
          </a:p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產品定位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CC187-089C-4E7D-88C3-477E0D5D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765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929A0-A5A6-4ED1-AB11-6F121A57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76525"/>
            <a:ext cx="100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18A12-B758-4B9D-8547-72F54137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52975"/>
            <a:ext cx="1209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CF462-6175-4C0E-9AE4-F39465D2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52975"/>
            <a:ext cx="1076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EC3E9-D47F-433A-AFEC-47A8272A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57800"/>
            <a:ext cx="285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2D7197-F01C-41B6-BD0A-6B42D4DC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完整網址存於投影片備忘稿、演講稿及專案資料。</a:t>
            </a:r>
          </a:p>
        </p:txBody>
      </p:sp>
    </p:spTree>
    <p:extLst>
      <p:ext uri="{BB962C8B-B14F-4D97-AF65-F5344CB8AC3E}">
        <p14:creationId xmlns:p14="http://schemas.microsoft.com/office/powerpoint/2010/main" val="1981722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2026-09-13T12:08:25.0190000Z</dcterms:created>
  <dcterms:modified xsi:type="dcterms:W3CDTF">2026-09-13T12:08:25.0190000Z</dcterms:modified>
</coreProperties>
</file>