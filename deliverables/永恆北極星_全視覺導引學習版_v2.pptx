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ab08499b1f4995" /><Relationship Type="http://schemas.openxmlformats.org/officeDocument/2006/relationships/extended-properties" Target="/docProps/app.xml" Id="Raef579a1c8c54452" /><Relationship Type="http://schemas.openxmlformats.org/officeDocument/2006/relationships/officeDocument" Target="/ppt/presentation.xml" Id="R048eb3214a22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0532f4013f4925"/>
  </p:sldMasterIdLst>
  <p:notesMasterIdLst>
    <p:notesMasterId xmlns:r="http://schemas.openxmlformats.org/officeDocument/2006/relationships" r:id="R598896d43cbd4529"/>
  </p:notesMasterIdLst>
  <p:sldIdLst>
    <p:sldId xmlns:r="http://schemas.openxmlformats.org/officeDocument/2006/relationships" id="256" r:id="R91536ed25c484360"/>
    <p:sldId xmlns:r="http://schemas.openxmlformats.org/officeDocument/2006/relationships" id="257" r:id="Re2a2a1270dc145ca"/>
    <p:sldId xmlns:r="http://schemas.openxmlformats.org/officeDocument/2006/relationships" id="258" r:id="Re98390a5aae4498b"/>
    <p:sldId xmlns:r="http://schemas.openxmlformats.org/officeDocument/2006/relationships" id="259" r:id="R3f654297ac7d4e14"/>
    <p:sldId xmlns:r="http://schemas.openxmlformats.org/officeDocument/2006/relationships" id="260" r:id="Rbfb3d35fa514458f"/>
    <p:sldId xmlns:r="http://schemas.openxmlformats.org/officeDocument/2006/relationships" id="261" r:id="R009614d0687a4d1c"/>
    <p:sldId xmlns:r="http://schemas.openxmlformats.org/officeDocument/2006/relationships" id="262" r:id="R5edf5657d77a4040"/>
    <p:sldId xmlns:r="http://schemas.openxmlformats.org/officeDocument/2006/relationships" id="263" r:id="R432fc7f64d2d4230"/>
    <p:sldId xmlns:r="http://schemas.openxmlformats.org/officeDocument/2006/relationships" id="264" r:id="R67812685895341e4"/>
    <p:sldId xmlns:r="http://schemas.openxmlformats.org/officeDocument/2006/relationships" id="265" r:id="Ra5a9a29c6e6042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0864e316594aa9" /><Relationship Type="http://schemas.openxmlformats.org/officeDocument/2006/relationships/slideMaster" Target="/ppt/slideMasters/slideMaster1.xml" Id="Rdf0532f4013f4925" /><Relationship Type="http://schemas.openxmlformats.org/officeDocument/2006/relationships/notesMaster" Target="/ppt/notesMasters/notesMaster1.xml" Id="R598896d43cbd4529" /><Relationship Type="http://schemas.openxmlformats.org/officeDocument/2006/relationships/presProps" Target="/ppt/presProps.xml" Id="R614ec80bbd8d4f77" /><Relationship Type="http://schemas.openxmlformats.org/officeDocument/2006/relationships/tableStyles" Target="/ppt/tableStyles.xml" Id="R409cf87490ed4488" /><Relationship Type="http://schemas.openxmlformats.org/officeDocument/2006/relationships/slide" Target="/ppt/slides/slide1.xml" Id="R91536ed25c484360" /><Relationship Type="http://schemas.openxmlformats.org/officeDocument/2006/relationships/slide" Target="/ppt/slides/slide2.xml" Id="Re2a2a1270dc145ca" /><Relationship Type="http://schemas.openxmlformats.org/officeDocument/2006/relationships/slide" Target="/ppt/slides/slide3.xml" Id="Re98390a5aae4498b" /><Relationship Type="http://schemas.openxmlformats.org/officeDocument/2006/relationships/slide" Target="/ppt/slides/slide4.xml" Id="R3f654297ac7d4e14" /><Relationship Type="http://schemas.openxmlformats.org/officeDocument/2006/relationships/slide" Target="/ppt/slides/slide5.xml" Id="Rbfb3d35fa514458f" /><Relationship Type="http://schemas.openxmlformats.org/officeDocument/2006/relationships/slide" Target="/ppt/slides/slide6.xml" Id="R009614d0687a4d1c" /><Relationship Type="http://schemas.openxmlformats.org/officeDocument/2006/relationships/slide" Target="/ppt/slides/slide7.xml" Id="R5edf5657d77a4040" /><Relationship Type="http://schemas.openxmlformats.org/officeDocument/2006/relationships/slide" Target="/ppt/slides/slide8.xml" Id="R432fc7f64d2d4230" /><Relationship Type="http://schemas.openxmlformats.org/officeDocument/2006/relationships/slide" Target="/ppt/slides/slide9.xml" Id="R67812685895341e4" /><Relationship Type="http://schemas.openxmlformats.org/officeDocument/2006/relationships/slide" Target="/ppt/slides/slide10.xml" Id="Ra5a9a29c6e60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2899ca8c3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9188a402f4b38" /><Relationship Type="http://schemas.openxmlformats.org/officeDocument/2006/relationships/notesMaster" Target="/ppt/notesMasters/notesMaster1.xml" Id="R84f94ad22a2442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5f6643263747ce" /><Relationship Type="http://schemas.openxmlformats.org/officeDocument/2006/relationships/notesMaster" Target="/ppt/notesMasters/notesMaster1.xml" Id="R37ae8037c9d746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b3a8f44a754497" /><Relationship Type="http://schemas.openxmlformats.org/officeDocument/2006/relationships/notesMaster" Target="/ppt/notesMasters/notesMaster1.xml" Id="R76c5b1ccee6a41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8e32cb94c9422c" /><Relationship Type="http://schemas.openxmlformats.org/officeDocument/2006/relationships/notesMaster" Target="/ppt/notesMasters/notesMaster1.xml" Id="R2ac8ef73a0fe4e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bd6593f76b4f9c" /><Relationship Type="http://schemas.openxmlformats.org/officeDocument/2006/relationships/notesMaster" Target="/ppt/notesMasters/notesMaster1.xml" Id="Rfeec82244e7c4a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e3f9661f44d86" /><Relationship Type="http://schemas.openxmlformats.org/officeDocument/2006/relationships/notesMaster" Target="/ppt/notesMasters/notesMaster1.xml" Id="R53539be1b3774e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e05644e9de4f80" /><Relationship Type="http://schemas.openxmlformats.org/officeDocument/2006/relationships/notesMaster" Target="/ppt/notesMasters/notesMaster1.xml" Id="R8168bccce0ec4c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19277c420d4bfc" /><Relationship Type="http://schemas.openxmlformats.org/officeDocument/2006/relationships/notesMaster" Target="/ppt/notesMasters/notesMaster1.xml" Id="R053645ba527e44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bbd22dd223446e" /><Relationship Type="http://schemas.openxmlformats.org/officeDocument/2006/relationships/notesMaster" Target="/ppt/notesMasters/notesMaster1.xml" Id="R7f9f0b0557c447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8ebfd7fb8a4dde" /><Relationship Type="http://schemas.openxmlformats.org/officeDocument/2006/relationships/notesMaster" Target="/ppt/notesMasters/notesMaster1.xml" Id="Ra7193b397ecf43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各位評審老師、同學大家好，我是今天的報告者。我今天要介紹的專題是「永恆北極星」，這是一套在 LINE 通訊軟體中運作的科學問答與互動試煉系統。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先很坦率地說明這項專題的初衷：出發點純粹來自於我對科學與宇宙的好奇。例如冥王星表面為何會有一顆醒目的愛心、木星深處是否真有導電的金屬氫，以及科幻電影裡的星際航行在現實物理中究竟有多少真實性。這些問題始終吸引著我，而我希望將這份探索的熱情，化為一個能夠在日常通訊軟體中真實互動的對話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角色的塑造上，系統平時是一位從容、睿智且充滿耐心的星空導引者；當使用者發起挑戰時，他則化身為守護知識的引路老人，以五道星門試煉檢驗理解。今天的報告不只展示機器人能回答問題，更會深入說明我們如何透過嚴謹的軟體架構，讓每一次互動都具備清晰的依據與結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系統目前具備七十六張結構化知識卡、兩百二十題固定測驗題庫，以及八十段由核心知識精鍊重組的導引教材。整場簡報將依序涵蓋動機、專題目的與競品分析、架構技術、效能與缺口坦承、未來規劃，最後以完整的證據對應總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AI 概念插畫：內建 imagegen 生成，2026-09-13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我們的研究動機非常純粹：讓科學探索走入大眾最常使用的通訊介面。選擇 LINE 作為載體，是因為使用者不需要下載任何額外應用程式，就能以最自然的文字對話開始思考。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邊這張圖是冥王星的概念插畫，並非探測器拍攝的原相。它表面最著名的特徵，就是這片被稱為「湯博區」的愛心形平原。對科學愛好者而言，這顆愛心不只是一個浪漫的地貌，更引發了一連串實質的科學探究：它由什麼冰層構成？為何板塊邊緣如此平整？當冥王星在 2006 年被重新分類為矮行星之後，我們該如何重新理解外太陽系的演化？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【停頓，讓觀眾觀看簡報畫面約十秒。】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樣的好奇也經常出現在科幻作品中。例如《絕地救援》中在火星種植馬鈴薯的情節，引發我們思考：真實火星的過氯酸鹽土壤與極端大氣，究竟需要哪些生化條件才能維持作物生存？而《極限返航》的星際航行，則直接觸及了光速極限、相對論時間膨脹與星際推進的物理瓶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永恆北極星」的核心任務，就是回應並引導這類探索慾望。系統平時以溫和耐心的老人語調提供解釋，並附帶具體文獻來源；當使用者想檢驗自己的理解時，可隨時進入五題星門挑戰。即便使用者答錯，引路老人也會條理分明地解說原委，而非單純給出對錯標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此我們也必須界定動機與實際應用的界線：個人興趣是打造系統的起點，而未來雖可延伸至課後自學或科教輔助，但本專題目前尚未進行正式的教學實驗前後測，因此我們絕不宣稱它已具備提升學業成績的實證效果。我們今天所報告的，是嚴謹的系統架構與扎實的工程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https://science.nasa.gov/dwarf-planets/pluto/facts/</a:t>
            </a:r>
          </a:p>
          <a:p xmlns:a="http://schemas.openxmlformats.org/drawingml/2006/main">
            <a:r>
              <a:t>本機 docs/solar-wonders.md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專題的目標，是打造一個在單一對話介面中，兼顧「自由發問」、「系統化導引學習」與「客觀驗證試煉」的三合一科學伴學系統。自由問答解答突發的好奇，導引學習建立脈絡，而固定試煉則提供可重現的理解檢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在規劃系統時，我們參考了兩款代表性產品的定位。第一款是 Google 的 NotebookLM，它高度強調「基於來源文件」進行理解與回答，這啟發了我們在問答設計中落實嚴格的來源依據與可追溯性，避免模型隨意幻覺。第二款是 Kahoot!，它透過單選題目與即時回饋，創造了高互動性的課堂測驗體驗，讓我們體會到清晰解析與即時反饋在學習過程中的重要性。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必須澄清的是，本頁面探討的是產品策略與功能定位的差異，我們並未在相同題庫下對三個產品進行評測排名，因此不會做出「本系統準確率超越商業成熟產品」的不實宣稱。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「永恆北極星」的專注點在於整合與輕量化：使用者無須切換工具，在 LINE 對話中就能自由探索太陽內部反應，或從「四座寶庫」選擇一條路徑依序推進。所有試煉題目皆具備預先審查的固定標準答案、詳盡解說與資料出處，絕不交由語言模型在前端隨機生成答案，確保評量的公正與穩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https://blog.google/innovation-and-ai/models-and-research/google-labs/notebooklm-discover-sources/</a:t>
            </a:r>
          </a:p>
          <a:p xmlns:a="http://schemas.openxmlformats.org/drawingml/2006/main">
            <a:r>
              <a:t>https://kahoot.com/schools/how-it-works/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https://github.com/Gale0418/SFLINE_BOT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請大家看畫面上這張完整的系統架構流程圖。這套架構的核心設計原則，是「明確狀態由程式掌握，開放語意由模型解析」。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當使用者在 LINE 發送訊息時，LINE 伺服器會將事件推送到我們的 Webhook 端點。伺服器首先執行嚴格的 LINE 簽章驗證，確認訊息來源合法，隨後進行假名化處理：我們絕不儲存使用者的真實 LINE ID 或聊天文字全文，僅使用加鹽的雜湊值作為內部狀態對應，確保個人隱私。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接著，訊息進入中央路由派發器。派發器根據當前使用者的對話狀態與意圖，分流至四個互不干擾的獨立管道：</a:t>
            </a:r>
          </a:p>
          <a:p xmlns:a="http://schemas.openxmlformats.org/drawingml/2006/main">
            <a:r>
              <a:t>第一是「自由問答路徑」：若使用者提出開放性科學疑問，系統會先比對本機高信心知識卡；若未命中，則調度外部大語言模型生成符合人設的回答。</a:t>
            </a:r>
          </a:p>
          <a:p xmlns:a="http://schemas.openxmlformats.org/drawingml/2006/main">
            <a:r>
              <a:t>第二是「五題星門試煉」：當使用者輸入「挑戰」或「考我」，系統切換為試煉守門人狀態，隨機抽選五道固定題目，逐題評分並記錄成績。</a:t>
            </a:r>
          </a:p>
          <a:p xmlns:a="http://schemas.openxmlformats.org/drawingml/2006/main">
            <a:r>
              <a:t>第三是「導引式學習路徑」：使用者說「學習」時進入，由四座寶庫循序引導。</a:t>
            </a:r>
          </a:p>
          <a:p xmlns:a="http://schemas.openxmlformats.org/drawingml/2006/main">
            <a:r>
              <a:t>第四是「系統指令路徑」：處理「說明」、「重設進度」等輔助管理功能。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在網路通訊層面，我們嚴格遵守 LINE Messaging API 的單次回覆限制，每個 Reply Token 僅使用一次，絕不做盲目的重複重試，以杜絕使用者端出現跳針或重覆訊息。整個流程確保各模組職責分明、資料流向完全可追蹤。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https://developers.line.biz/en/docs/messaging-api/receiving-messages/</a:t>
            </a:r>
          </a:p>
          <a:p xmlns:a="http://schemas.openxmlformats.org/drawingml/2006/main">
            <a:r>
              <a:t>本機 src/eternal_polaris/app.py、dispatcher.py、learning.py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在內容資產的構建上，「永恆北極星」採用高度結構化的資料管理。目前系統包含七十六張結構化知識卡，以及兩百二十題經過專家審查的單選測驗題。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這些內容被嚴謹地劃分到「四座獨立寶庫」之中：</a:t>
            </a:r>
          </a:p>
          <a:p xmlns:a="http://schemas.openxmlformats.org/drawingml/2006/main">
            <a:r>
              <a:t>第一座是「星海寶庫」：涵蓋恆星演化、黑洞物理、系外行星與深空探測器歷程。</a:t>
            </a:r>
          </a:p>
          <a:p xmlns:a="http://schemas.openxmlformats.org/drawingml/2006/main">
            <a:r>
              <a:t>第二座是「地脈與生命寶庫」：探討地球板塊構造、地質年代、深海極限生物與外星生命宜居條件。</a:t>
            </a:r>
          </a:p>
          <a:p xmlns:a="http://schemas.openxmlformats.org/drawingml/2006/main">
            <a:r>
              <a:t>第三座是「萬象法則寶庫」：聚焦於相對論、量子力學基礎概念、熱力學定律與物質極端態。</a:t>
            </a:r>
          </a:p>
          <a:p xmlns:a="http://schemas.openxmlformats.org/drawingml/2006/main">
            <a:r>
              <a:t>第四座是「未來幻夢寶庫」：解析科幻電影與小說中的硬核物理，包含星艦曲速泡、戴森球假想以及戴森雲能量收集。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每一張知識卡都包含標準概念名詞、分層說明的重點內文，以及可追查的權威資料來源。而兩百二十道試煉題目，每題都具備確定的標準答案、干擾選項設計原則、詳細解析與關聯知識卡編號。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特別說明的是，這些題目全部以本機靜態資料集的形式儲存於伺服器端，由程式直接進行答案比對。這杜絕了模型隨機生成答案時可能出現的幻覺或評分不一致問題，使整套測驗系統具備完全的客觀性與可重現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data/knowledge_cards.json、data/quiz_questions.tsv、docs/guided-learning.md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自由問答是滿足使用者隨性探索的核心功能。為了在回答品質、反應速度與運算成本之間取得平衡，我們設計了雙路徑路由機制。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第一條是「本機高信心路徑」：當使用者的提問精準命中七十六張知識卡的核心實體或常見問題時，系統直接抽取知識庫內容，由伺服器在數十毫秒內組合回覆。這條路徑完全不發出外部 API 請求，既零成本又具備極高穩定度。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第二條是「雲端語言模型路徑」：當遇到跨領域、長句型或開放式提問時，系統會調用 Google Gemma 26B 模型（gemma-4-26b-a4b-it），透過系統提示詞約束模型的人格與邊界。引路老人的人格設定具備沉穩、謙遜與條理分明的特質：他用科學證據與生動比喻解惑，當遇到未解之謎時會坦誠說明「科學界目前尚無定論」，絕不不懂裝懂，更不編造虛假的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外，系統提示詞嚴格隔離科幻假設與真實科學，例如在討論曲速引擎時，會明確指出這是廣義相對論在阿庫別瑞度規下的數學推導，但目前缺乏負能量物質等工程實現基礎。透過這樣的雙軌設計，我們兼顧了問答的靈活性與科學敘述的嚴謹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https://ai.google.dev/gemma/docs/core/gemma_on_gemini_api</a:t>
            </a:r>
          </a:p>
          <a:p xmlns:a="http://schemas.openxmlformats.org/drawingml/2006/main">
            <a:r>
              <a:t>本機 src/eternal_polaris/answer_service.py、knowledge.py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除了自由問答，許多學習者需要更具結構的循序路徑。為此，我們設計了「四座寶庫導引學習系統」與「五題星門試煉」。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導引系統將既有的知識資產重新精鍊為八十段短講教材。四條路線彼此完全獨立，每條路線規劃四個進階階段。每個階段包含五段概念講解與五道隨堂理解題，最後以綜合挑戰檢驗成效，學員須答對四題以上方能解鎖下一階段。必須誠實指出：這八十段教材是從七十六張知識卡與題庫體系中重新編排而來，並非憑空增加八十個全新主題，我們不誇大內容規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在資料架構方面，所有使用者的學習進度皆記錄在機器人伺服器端的 SQLite 資料庫中（data/private/learning.sqlite3）。使用者的手機端僅作為純粹的 LINE 介面展示文字與互動按鈕，絕對不會在用戶手機上儲存任何資料庫或執行 SQL 查詢。進度更新完全在伺服器端交易中處理，按鈕內嵌狀態版本防偽標記，有效防止重複點擊或跨階段作弊。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在語氣互動上，無論是在導引短講還是星門試煉中，引路老人始終保持耐心與鼓勵，提供充足的邏輯線索。如果使用者中途想回到自由提問或暫停，系統會完整保留其進度存檔，體現貼心而嚴謹的伴學體驗。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docs/guided-learning.md、src/eternal_polaris/learning.py、tests/test_learning.py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身為一個負責任的工程專題，在展示功能的同時，我們更必須客觀呈現量化數據與當前的技術缺口。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首先在程式碼與自動化測試方面：目前專案已建立完整的本機單元與整合測試套件，總計一百七十二項測試全部順利通過（172 tests passed）。整個系統的總體測試覆蓋率達到 81.34%，其中核心的導引學習模組覆蓋率更達到約 95%。這證明了狀態機轉換、按鈕驗證、SQLite 交易與訊息路由邏輯在程式層面具備高度可靠性。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然而，我們必須非常坦誠地面對兩個重要缺口：</a:t>
            </a:r>
          </a:p>
          <a:p xmlns:a="http://schemas.openxmlformats.org/drawingml/2006/main">
            <a:r>
              <a:t>第一是「線上大語言模型的效能指標」：在九月八日進行的三十題線上模型基準評估中，由於當時外部 API 遭遇不可預期的服務中斷與網路逾時，該次評估未能取得完整的有效推論結果。本著求真精神，我們認為該次評估在統計上無效，因此我們既不會將其記為零分，也絕不拿少數幾次隨機成功的對話記錄來拼湊充數。目前系統的客觀 Accuracy、F1-score 以及 P95 延遲等數據，仍然維持「未經驗證」的坦白狀態。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第二是「實質學習成效」：我們高達 95% 的模組覆蓋率僅代表程式邏輯沒有瑕疵，絕不等於學生的學習成效提升了 95%。本專題尚未經過雙盲受試者實驗或前後測統計，我們絕不混淆「軟體測試覆蓋率」與「教育心理學成效」。未來必須在固定測試集與穩定網路環境下，重新建立可信的模型基準。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本機 results/guided-coverage.json；2026-09-13，172 passed，81.34%。</a:t>
            </a:r>
          </a:p>
          <a:p xmlns:a="http://schemas.openxmlformats.org/drawingml/2006/main">
            <a:r>
              <a:t>本機 results/google-evaluation-20260908.json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總結今天的報告，「永恆北極星」成功將個人對天文物理的好奇心，轉化為一套兼具深度與穩定度的對話學習系統。我們整合了 LINE 自由問答、五星門試煉與四條獨立導引路線，具備七十六張知識卡、兩百二十題固定試煉以及八十段導引教材，並在伺服器端落實了安全的 SQLite 進度管理。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在這個專題的開發過程中，我最深刻的體會是：呼叫大語言模型僅僅是智慧應用的冰山一角。要打造一個能長期穩定互動的陪伴系統，背後更需要健壯的架構設計、狀態隔離、隱私假名化與客觀的資料回溯機制。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針對未來的發展藍圖，我們規劃了明確的四階段推進路徑：</a:t>
            </a:r>
          </a:p>
          <a:p xmlns:a="http://schemas.openxmlformats.org/drawingml/2006/main">
            <a:r>
              <a:t>「現在」，我們已具備完整的問答、試煉與四路導引架構；</a:t>
            </a:r>
          </a:p>
          <a:p xmlns:a="http://schemas.openxmlformats.org/drawingml/2006/main">
            <a:r>
              <a:t>「下一步」，我們將在穩定環境中重啟三十題線上模型基準評估，取得可靠的延遲與準確率數據，並錄製完整手機操作流程；</a:t>
            </a:r>
          </a:p>
          <a:p xmlns:a="http://schemas.openxmlformats.org/drawingml/2006/main">
            <a:r>
              <a:t>「再下一步」，我們將規劃真實使用者的質性訪談與教學前後測設計，驗證系統在教育場域的實質助益；</a:t>
            </a:r>
          </a:p>
          <a:p xmlns:a="http://schemas.openxmlformats.org/drawingml/2006/main">
            <a:r>
              <a:t>「最後」，在正式大規模部署階段，我們將導入跨主機共享儲存架構、定期異地備份機制與完整的隱私政策合規審查。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我們期許這套系統不只是一個展示品，而是一座能持續進化、禁得起檢驗的科學知識燈塔。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https://github.com/Gale0418/SFLINE_BOT</a:t>
            </a:r>
          </a:p>
          <a:p xmlns:a="http://schemas.openxmlformats.org/drawingml/2006/main">
            <a:r>
              <a:t>本機 README.md、docs/guided-learning.md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最後，請參見簡報第十頁的文獻與專題證據對應圖。我們不再單純列舉外部超連結，而是將專案所依賴的各項依據，清晰映射至全份簡報的具體章節與論點之中。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這份證據地圖包含六大核心卡片：</a:t>
            </a:r>
          </a:p>
          <a:p xmlns:a="http://schemas.openxmlformats.org/drawingml/2006/main">
            <a:r>
              <a:t>首先，在簡報第二頁（P2）的天體分類與冥王星地貌中，我們依據 NASA Pluto Facts 與新視野號任務公開資料，支撐矮行星定義與湯博區平原特徵。</a:t>
            </a:r>
          </a:p>
          <a:p xmlns:a="http://schemas.openxmlformats.org/drawingml/2006/main">
            <a:r>
              <a:t>第二，在第三頁（P3）的產品定位分析中，我們對照 NotebookLM 與 Kahoot! 的官方技術文獻，確立基於來源研究與高互動測驗的設計取向。</a:t>
            </a:r>
          </a:p>
          <a:p xmlns:a="http://schemas.openxmlformats.org/drawingml/2006/main">
            <a:r>
              <a:t>第三，在第四頁（P4）的系統架構中，所有 Webhook 簽章防護與訊息回覆流程，均嚴格遵循 LINE Developers 官方規範。</a:t>
            </a:r>
          </a:p>
          <a:p xmlns:a="http://schemas.openxmlformats.org/drawingml/2006/main">
            <a:r>
              <a:t>第四，在第六頁（P6）的問答路由中，雙路徑架構與 Google Gemma 26B 模型的調用，皆基於 Google AI 官方文件設計。</a:t>
            </a:r>
          </a:p>
          <a:p xmlns:a="http://schemas.openxmlformats.org/drawingml/2006/main">
            <a:r>
              <a:t>第五，在第四、五、七、九頁（P4/P5/P7/P9）涵蓋的系統實作、七十六張知識卡、兩百二十題庫、八十段導引教材與未來規劃，皆完整落地於專案原始碼、資料檔案與本機導引學習設計文件。</a:t>
            </a:r>
          </a:p>
          <a:p xmlns:a="http://schemas.openxmlformats.org/drawingml/2006/main">
            <a:r>
              <a:t>第六，在第八頁（P8）的效能與缺口中，一百七十二項測試、81.34% 總體覆蓋率與約 95% 導引模組覆蓋率，均來自本機自動化測試紀錄；同時我們據實載明九月八日線上模型指標未經驗證的客觀限制。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本專題的所有程式碼、測試記錄與架構文件皆已開源並妥善保存。以上是我的專題報告，誠摯感謝各位老師與同學的聆聽，請各位師長多加指教。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資料來源：</a:t>
            </a:r>
          </a:p>
          <a:p xmlns:a="http://schemas.openxmlformats.org/drawingml/2006/main">
            <a:r>
              <a:t>P2: https://science.nasa.gov/dwarf-planets/pluto/ (NASA Pluto Facts)</a:t>
            </a:r>
          </a:p>
          <a:p xmlns:a="http://schemas.openxmlformats.org/drawingml/2006/main">
            <a:r>
              <a:t>P3: https://blog.google/innovation-and-ai/models-and-research/google-labs/notebooklm-discover-sources/ (NotebookLM 官方介紹)</a:t>
            </a:r>
          </a:p>
          <a:p xmlns:a="http://schemas.openxmlformats.org/drawingml/2006/main">
            <a:r>
              <a:t>P3: https://kahoot.com/schools/how-it-works/ (Kahoot! 運作機制)</a:t>
            </a:r>
          </a:p>
          <a:p xmlns:a="http://schemas.openxmlformats.org/drawingml/2006/main">
            <a:r>
              <a:t>P4: https://developers.line.biz/en/docs/messaging-api/receiving-messages/ (LINE Messaging API Webhook)</a:t>
            </a:r>
          </a:p>
          <a:p xmlns:a="http://schemas.openxmlformats.org/drawingml/2006/main">
            <a:r>
              <a:t>P6: https://ai.google.dev/gemma/docs/core/gemma_on_gemini_api (Gemma on Gemini Developer API)</a:t>
            </a:r>
          </a:p>
          <a:p xmlns:a="http://schemas.openxmlformats.org/drawingml/2006/main">
            <a:r>
              <a:t>P4/P5/P7/P9: https://github.com/Gale0418/SFLINE_BOT (開源專案代碼、題庫資料與 docs/guided-learning.md)</a:t>
            </a:r>
          </a:p>
          <a:p xmlns:a="http://schemas.openxmlformats.org/drawingml/2006/main">
            <a:r>
              <a:t>P8: 本機自動化測試套件（172 測試通過、覆蓋率 81.34%、導引模組約 95%）與 2026-09-08 評估紀錄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ee9ebdb514e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caf0e7b61400a" /><Relationship Type="http://schemas.openxmlformats.org/officeDocument/2006/relationships/slideLayout" Target="/ppt/slideLayouts/slideLayout1.xml" Id="R6d54decbda3a49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4decbda3a49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040efa02d433b" /><Relationship Type="http://schemas.openxmlformats.org/officeDocument/2006/relationships/image" Target="/ppt/media/image.png" Id="Rad086fcc97514440" /><Relationship Type="http://schemas.openxmlformats.org/officeDocument/2006/relationships/notesSlide" Target="/ppt/notesSlides/notesSlide1.xml" Id="Rc3dcaada48c243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04ed5cb7742d2" /><Relationship Type="http://schemas.openxmlformats.org/officeDocument/2006/relationships/image" Target="/ppt/media/image2.png" Id="Ra76b15f803754187" /><Relationship Type="http://schemas.openxmlformats.org/officeDocument/2006/relationships/notesSlide" Target="/ppt/notesSlides/notesSlide2.xml" Id="R6cb662a3000f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144521f2e4610" /><Relationship Type="http://schemas.openxmlformats.org/officeDocument/2006/relationships/notesSlide" Target="/ppt/notesSlides/notesSlide3.xml" Id="R8630a823533d49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f7a7ad8d4011" /><Relationship Type="http://schemas.openxmlformats.org/officeDocument/2006/relationships/notesSlide" Target="/ppt/notesSlides/notesSlide4.xml" Id="R0f5e3192c17b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f15e1b12645f3" /><Relationship Type="http://schemas.openxmlformats.org/officeDocument/2006/relationships/chart" Target="/ppt/slides/charts/chart1.xml" Id="R10aad231fa08458f" /><Relationship Type="http://schemas.openxmlformats.org/officeDocument/2006/relationships/notesSlide" Target="/ppt/notesSlides/notesSlide5.xml" Id="Rb64eeddfe8a5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b91f308064468" /><Relationship Type="http://schemas.openxmlformats.org/officeDocument/2006/relationships/notesSlide" Target="/ppt/notesSlides/notesSlide6.xml" Id="R1cdbbb2e58ea45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ad8e880b24e44" /><Relationship Type="http://schemas.openxmlformats.org/officeDocument/2006/relationships/notesSlide" Target="/ppt/notesSlides/notesSlide7.xml" Id="R98f3794202dd45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d9843a71e4a37" /><Relationship Type="http://schemas.openxmlformats.org/officeDocument/2006/relationships/chart" Target="/ppt/slides/charts/chart2.xml" Id="R2b5c7453d4e34f10" /><Relationship Type="http://schemas.openxmlformats.org/officeDocument/2006/relationships/notesSlide" Target="/ppt/notesSlides/notesSlide8.xml" Id="Re184ef3ab6bc4c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915589aaa4102" /><Relationship Type="http://schemas.openxmlformats.org/officeDocument/2006/relationships/notesSlide" Target="/ppt/notesSlides/notesSlide9.xml" Id="R5e6274ac368c42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165fc22f6455b" /><Relationship Type="http://schemas.openxmlformats.org/officeDocument/2006/relationships/notesSlide" Target="/ppt/notesSlides/notesSlide10.xml" Id="R7aaad74098b24f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題數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Data'!$A$2:$A$5</c:f>
              <c:strCache>
                <c:ptCount val="4"/>
                <c:pt idx="0">
                  <c:v>星海</c:v>
                </c:pt>
                <c:pt idx="1">
                  <c:v>地脈與生命</c:v>
                </c:pt>
                <c:pt idx="2">
                  <c:v>萬象法則</c:v>
                </c:pt>
                <c:pt idx="3">
                  <c:v>未來幻夢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106</c:v>
                </c:pt>
                <c:pt idx="1">
                  <c:v>37</c:v>
                </c:pt>
                <c:pt idx="2">
                  <c:v>30</c:v>
                </c:pt>
                <c:pt idx="3">
                  <c:v>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百分比</c:v>
          </c:tx>
          <c:spPr>
            <a:solidFill xmlns:a="http://schemas.openxmlformats.org/drawingml/2006/main">
              <a:srgbClr val="843C46"/>
            </a:solidFill>
          </c:spPr>
          <c:cat>
            <c:strRef>
              <c:f>'Chart Data'!$A$2:$A$3</c:f>
              <c:strCache>
                <c:ptCount val="2"/>
                <c:pt idx="0">
                  <c:v>覆蓋率</c:v>
                </c:pt>
                <c:pt idx="1">
                  <c:v>門檻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81.34</c:v>
                </c:pt>
                <c:pt idx="1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4283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6fcc9751444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0064E-5DB2-4DAA-8EEB-4A51195B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518D7-CF1F-441B-B16D-175AF68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7096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F7F5F0"/>
                </a:solidFill>
                <a:latin typeface="Microsoft JhengHei"/>
                <a:ea typeface="Microsoft JhengHei"/>
                <a:cs typeface="Microsoft JhengHei"/>
              </a:rPr>
              <a:t>LINE 科學問答、四座寶庫與導引式學習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C4410-0135-44C5-BD6D-7FD7B8B6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9AD"/>
          </a:solidFill>
          <a:ln xmlns:a="http://schemas.openxmlformats.org/drawingml/2006/main" w="0">
            <a:solidFill>
              <a:srgbClr val="D5B9A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73182-76AF-433E-8453-445E93BE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半導體 AI 課程專題報告</a:t>
            </a:r>
          </a:p>
          <a:p xmlns:a="http://schemas.openxmlformats.org/drawingml/2006/main">
            <a:pPr algn="l">
              <a:def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356349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5F6E7-4851-4631-8B8F-A470D312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1. 簡介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6530B-51FE-4665-8E8D-F2A29824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b15f803754187"/>
          <a:stretch xmlns:a="http://schemas.openxmlformats.org/drawingml/2006/main"/>
        </p:blipFill>
        <p:spPr>
          <a:xfrm xmlns:a="http://schemas.openxmlformats.org/drawingml/2006/main">
            <a:off x="7239000" y="1676400"/>
            <a:ext cx="3857625" cy="3857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2ABBC-00C5-4033-8292-F8902C71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因為喜歡，所以想把好奇心做成作品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6F9D8-4D4B-4EDA-99FA-63D2F294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527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70E08-B2B4-491B-97DF-26655D0E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624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8BDD8-63C0-49FC-889C-F8532B95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383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F6F23-B9BC-406E-9FD0-455AB25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看見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冥王星的愛心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35DF3-F67C-4E58-BE16-C9257348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2038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90494-6B22-441C-AA9A-A04A39B7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90775"/>
            <a:ext cx="1847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追問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它為什麼長這樣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A7215-409F-4532-9C1B-19B9245D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22383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28174-6FC6-40BD-8BE0-BD79E422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047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科學與未知的邊界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4B167-2489-456B-94C5-0C1B7F0D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33775"/>
            <a:ext cx="20383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228B8-F283-480A-8160-236DFB4D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18478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做出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能陪人探索的機器人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0B946-76E3-4F0A-905E-D8551118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57475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3F0E8-E8A2-4D6E-B03B-00EB8896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6715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54082-AEAE-4019-BDC0-C4E4B71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623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未來可用於課後練習與科學導覽；學習效果仍待使用者研究。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8DA54-63F5-44F5-AE4C-41E18088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483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冥王星概念插畫，非觀測照片</a:t>
            </a:r>
          </a:p>
        </p:txBody>
      </p:sp>
    </p:spTree>
    <p:extLst>
      <p:ext uri="{BB962C8B-B14F-4D97-AF65-F5344CB8AC3E}">
        <p14:creationId xmlns:p14="http://schemas.microsoft.com/office/powerpoint/2010/main" val="2020348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C524A-0D23-4ECA-B9FC-74BEC070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2. 專題目的、相關產品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853AC-B917-4A12-8112-339091CC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3E4BD-F17D-4B0C-B27F-45B754CA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三種能力在同一個 LINE 對話裡相遇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355F1-D7F9-4FC3-B8D8-352371A4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542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0EBD4-71F1-4F35-A2FB-687CA63E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F5D44-27E0-4409-BDF1-7B74F17D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87EDB-0653-48A1-AF0F-DDC5F86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22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6E2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85E3B-ABCA-4AB2-B18C-1708161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永恆北極星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74536-BB00-43CB-A022-5C43B685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9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問答＋導引＋試煉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0DBCF-9323-4515-B7FC-52BDFD4A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9F042-0DED-4A08-95BC-6DE18FA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NotebookLM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依來源問答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42481-F6F6-4A5B-AE7D-DE73A12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5C522-E004-4EFA-AF63-CAEC3D5E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95575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Kahoot!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測驗互動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FE474-31C8-4430-B3C0-F2000A6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339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415B7-49F5-4FFB-A54C-6BF25C3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006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日常聊天入口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1671A-EF28-4183-BED6-12F5E19C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參考引用思路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26CCF-1706-4553-8629-6E0D5FC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參考即時回饋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C0179-7FCE-487B-97C0-3E8D713B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比較產品定位，沒有進行同題效能排名。</a:t>
            </a:r>
          </a:p>
        </p:txBody>
      </p:sp>
    </p:spTree>
    <p:extLst>
      <p:ext uri="{BB962C8B-B14F-4D97-AF65-F5344CB8AC3E}">
        <p14:creationId xmlns:p14="http://schemas.microsoft.com/office/powerpoint/2010/main" val="168401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D2EFB-48A9-46A2-AE3D-FD9C13FB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系統架構與技術：整體流程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57006-8A6E-46BC-AE7D-FE3A699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C3B3E-5D02-4386-B686-DACBFF11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從手機訊息到可驗證回覆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54E0A-2C0D-49AE-9338-217A1BE5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B2D3A-C803-4224-9B1F-1D2371B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7FAD3-617F-477A-8D5E-9792871A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使用者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文字／按鈕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08BF7-EC41-430D-A515-27F474B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9FD47-7F4E-4934-A3C0-2ED9A079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491C0-BB8C-4E40-A9C9-B7D19E7C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Webhook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簽章驗證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C5E4E-4865-4687-9FFB-4D0D947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48D2E-4DA0-4BB8-B1ED-D845B8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6548B-036A-4EDD-AB50-AE304209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事件排程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去重／依序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30D8E-6FF4-47CD-AEDF-3AD3C512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71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2611A-441C-461B-B113-81A39634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09703-FF6A-4278-B5ED-EB6D3F07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路由判斷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命令／問答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64072-8D28-4D7C-96F7-AC6822C8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7967A-3CF8-4ED4-8056-3F392AA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90775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回覆 LINE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文字／Quick Reply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266BF-FA3A-4ED1-B79D-A7B28FD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4805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DFADA-87DB-42C8-98DF-92213AB8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30670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31EF5-4B4A-4DCD-85CC-9CEF48D4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2876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規則路徑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Help、學習、計分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63C39-22C5-49D9-B5E8-755F4A29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67200"/>
            <a:ext cx="1866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EBE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87EE3-8DC8-420E-B6BC-43C63A7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33875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模型路徑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開放問題與追問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07C9B-61F3-412F-9E0D-DE299823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19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明確規則交給程式；自然語言理解交給模型。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2D95E-32DF-419B-8932-6853A92D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導引進度保存在伺服器 SQLite</a:t>
            </a:r>
          </a:p>
        </p:txBody>
      </p:sp>
    </p:spTree>
    <p:extLst>
      <p:ext uri="{BB962C8B-B14F-4D97-AF65-F5344CB8AC3E}">
        <p14:creationId xmlns:p14="http://schemas.microsoft.com/office/powerpoint/2010/main" val="1801277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533F1-8208-4EF3-A358-8B85F4C5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系統架構與技術：內容宇宙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34935-BA02-483D-BB35-A67BBD4F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77FD0-E49D-464C-9D22-FED12EC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76 張知識卡、220 題、20 個主題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2076450"/>
          <a:ext xmlns:a="http://schemas.openxmlformats.org/drawingml/2006/main" cx="60483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aad231fa08458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69935-8F5A-41CE-AFCA-3E39DB7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05025"/>
            <a:ext cx="3276600" cy="3276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9525">
            <a:solidFill>
              <a:srgbClr val="D8D1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0CA24-0831-4C1A-A4E7-BB6A126C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28900"/>
            <a:ext cx="2228850" cy="2228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630D-ACE7-4E12-8C9B-3B2A2D99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7182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87D36-B1AF-4F22-8AFA-8D639FF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194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四座寶庫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D5B3F-3723-498F-8EE8-7A83313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80 段導引教材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3BFD9-3B05-41C3-BF9C-E2585ED2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9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220 題固定試煉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F9B54-E0CF-470A-84E7-3832FBE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知識卡提供事實與來源，題庫提供可重現的練習。</a:t>
            </a:r>
          </a:p>
        </p:txBody>
      </p:sp>
    </p:spTree>
    <p:extLst>
      <p:ext uri="{BB962C8B-B14F-4D97-AF65-F5344CB8AC3E}">
        <p14:creationId xmlns:p14="http://schemas.microsoft.com/office/powerpoint/2010/main" val="1926981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5EBF2-CAF3-4BED-B0FD-1D908DB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系統架構與技術：回答策略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7293A-0539-4A5A-A3EC-5EFDE122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021E5-18D9-4730-B946-B630927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一個問題，依證據與用途走不同路徑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3AB02-623C-4957-AC6A-D7AB2F0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24125"/>
            <a:ext cx="2047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2E64A-4990-445D-BD25-4DF18C35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1857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90E7C-5CD6-4D0C-8894-6E31FF37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7C63D-2A0A-4103-9B17-5282A32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90775"/>
            <a:ext cx="2114550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8A2FA-4219-4AF0-BB92-720398FD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57450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高信心命中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知識卡？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720E3-631B-4AAA-AAF2-49C6389C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6D9CF-0073-4A8B-9ECE-E457E480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42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D1FC2-0F79-4663-8C4F-9BAB5954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5B0CF-AEFE-4858-AD4D-9E9AE699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9097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48E"/>
          </a:solidFill>
          <a:ln xmlns:a="http://schemas.openxmlformats.org/drawingml/2006/main" w="0">
            <a:solidFill>
              <a:srgbClr val="5874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C0AD1-FCE8-4E34-A405-B6F43B9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90775"/>
            <a:ext cx="19526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0E2D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84A73-10B4-471F-A585-F870E29E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457450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本機回答</a:t>
            </a:r>
          </a:p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事實＋來源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0E37E-1C22-4949-8435-F4E2F97D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33800"/>
            <a:ext cx="25241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E7EBE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A0EB1-92ED-4BF3-8D78-6117D08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004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模型回答</a:t>
            </a:r>
          </a:p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開放問題＋三組對話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4D169-255B-4219-9DD2-9142D83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DEC90-8B27-40B4-A159-FB44352B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D8EA4-3F47-40B3-BC77-8C1F95BA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076575"/>
            <a:ext cx="1238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5EDA0-8966-4709-8046-42F84DD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43250"/>
            <a:ext cx="104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格式與</a:t>
            </a:r>
          </a:p>
          <a:p xmlns:a="http://schemas.openxmlformats.org/drawingml/2006/main">
            <a:pPr algn="ctr">
              <a:def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來源檢查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54A07-5025-48B6-AA31-A64B627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模型：Gemma 4 26B A4B　　知識卡命中時不發出外部模型請求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22067-AA03-4CF2-B9F3-36054E7B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來源存在仍不等於所有敘述正確，科學內容需持續人工查核。</a:t>
            </a:r>
          </a:p>
        </p:txBody>
      </p:sp>
    </p:spTree>
    <p:extLst>
      <p:ext uri="{BB962C8B-B14F-4D97-AF65-F5344CB8AC3E}">
        <p14:creationId xmlns:p14="http://schemas.microsoft.com/office/powerpoint/2010/main" val="263191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83A35-9AE8-4C6E-81F0-3C29C36B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3. 系統架構與技術：導引式學習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58E72-194A-4076-B672-A4B9C6D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6B558-FAAA-461F-9044-5CE442A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「你對這世界感到好奇嗎？」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65E58-41F7-446C-A020-C3C319CF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7969F-C5FB-4776-870A-DA15D3C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選擇路線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64800-13E0-4A55-BFFA-BD94A02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24150"/>
            <a:ext cx="5048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696E8-F111-41D7-A80D-088A2133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5443E-AEF5-4513-A113-B2411E57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907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🌌 星海之庫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3277B-3FD0-4EAA-BDC6-09E8CFE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13BA6-7ED0-41E6-878B-1826A9C6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670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🌍 地脈與生命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7E96D-0DFB-490E-984F-4951868E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65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B3D9D-BE1C-41B9-A6F9-65D5900B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⚛️ 萬象法則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B2C99-28B2-4C10-8CCC-763E063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2286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09FD3-4469-41AA-B1E6-E0BE5A3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19625"/>
            <a:ext cx="2095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🚀 未來幻夢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481F7-9E77-4440-A2EE-129DA40A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38375"/>
            <a:ext cx="28575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C25E8-282E-4284-AA18-7BA18AAA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36F7C-7C47-4CAE-A4ED-D9ACE56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5397F-63F9-41C4-95E6-6CCF90DD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D4BEE-474B-478D-AF08-C7B4869F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短講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A4D54-8207-4881-B9D4-36C7B244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5 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25079-1FD2-466B-A7D6-CD451A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57F7B-DE74-4BD1-B1E9-491BF3CB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6D206-0E3E-4CE3-9D78-E106F091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F7ADC-C4D5-4AD5-871C-1F294421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理解題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6D093-B221-4353-ACC5-0B02D127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立即解說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A3B3A-C734-48B8-91E1-2E83910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38475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C78CE-3BF6-4101-B98F-A8D82FB0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C9073-FBA5-4158-8B2D-C60BB861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8DC297-40D7-4569-A4B1-3CB0CD26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過關挑戰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36F3B4-1210-43B8-B3C6-F9F4642A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5 題答對 4 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5D812-0D65-4770-AABC-A137C186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CEA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748D5-7D3C-4EC7-B204-645AA52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724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D5629-B4BE-4D98-8B71-A4090EDD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下一階段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0B1EDC-E7AE-463E-8768-2D4717E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76650"/>
            <a:ext cx="1257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各路獨立進度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9D0C02-A0D7-4A35-8A4C-8C67EFDB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10125"/>
            <a:ext cx="561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自由提問不鎖住。答錯只決定要不要再複習，不替使用者貼能力標籤。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8A2934-AD2D-4956-A188-2371AC0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388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SQLite 位於機器人伺服器，不存取手機資料。</a:t>
            </a:r>
          </a:p>
        </p:txBody>
      </p:sp>
    </p:spTree>
    <p:extLst>
      <p:ext uri="{BB962C8B-B14F-4D97-AF65-F5344CB8AC3E}">
        <p14:creationId xmlns:p14="http://schemas.microsoft.com/office/powerpoint/2010/main" val="504930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C5218-2B5E-4756-8F11-9BE6FD9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4. 效能分析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EE06A-AA56-459F-A68A-B476F6C3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36FA2-5A9B-4930-8B6E-B210090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程式驗證已更新，模型效能仍待有效資料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6238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5c7453d4e34f1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B8E9F-A447-48A6-9139-B19AC85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097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30260-12B5-4EF0-939A-964A9BB3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CAF74-1F59-45F8-9EB1-1A14BD3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項測試通過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EFE2A-61D3-4AFA-BB34-1E344067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5B9AD"/>
                </a:solidFill>
                <a:latin typeface="Microsoft JhengHei"/>
                <a:ea typeface="Microsoft JhengHei"/>
                <a:cs typeface="Microsoft JhengHei"/>
              </a:rPr>
              <a:t>導引模組約 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9C040-11A4-4C7E-A013-41955A0F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81600"/>
            <a:ext cx="3571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已確認：程式與資料契約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B0D8F-C5DC-4249-B93F-A8060F91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00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尚未確認：30 題模型準確率、F1、P95、學習成效</a:t>
            </a:r>
          </a:p>
        </p:txBody>
      </p:sp>
    </p:spTree>
    <p:extLst>
      <p:ext uri="{BB962C8B-B14F-4D97-AF65-F5344CB8AC3E}">
        <p14:creationId xmlns:p14="http://schemas.microsoft.com/office/powerpoint/2010/main" val="4573204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7D036-62B6-47D3-82DF-26753B4C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5. 結論與未來工作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374CF-7D70-4564-8177-BFF3AB5C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123FC-61D4-4414-9F07-741C7135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從可展示系統走向可驗證的學習工具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376DE-1F6B-4225-9F9B-A3669DE3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4225"/>
            <a:ext cx="9667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ADBDB-8174-4370-BA25-EF674174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843C4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D6391-0361-4C9A-9823-199FDD45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F5494-37BE-4AF7-9D63-639DBF8E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現在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CF8DB-C787-41AD-B3FF-6EB7A91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問答＋試煉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四路導引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D532C-6307-4B0A-AF03-C54257E3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5874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473E8-3A0D-40FC-800A-6A92DDE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6C6E-85D4-47AA-B014-38875F48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C4A94-FC1E-43AE-BEA4-2B27661C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真實手機流程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30 題有效評估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3CD35-060A-4A2F-BBD8-63E6E776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5578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96EB5-CCC8-433D-91A5-9C0BF42B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88A56-0D67-4A25-AA0A-B1D21249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再下一步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08A40-8FB3-4EA7-891E-0E4C294E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使用者訪談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前後測設計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FDC63-4E1A-41F3-9190-E4062DC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289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47625">
            <a:solidFill>
              <a:srgbClr val="B990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EEC14-52AB-4623-8B7E-D667EA7D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289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317CA-D57B-4101-940B-EF5CDB3A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之後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D1EE7-735E-44DF-9913-674F69CA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正式部署</a:t>
            </a:r>
          </a:p>
          <a:p xmlns:a="http://schemas.openxmlformats.org/drawingml/2006/main">
            <a:pPr algn="ctr">
              <a:def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共享儲存與隱私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290FA-FCA6-4D5D-8252-B524F9B5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已完成：76 張知識卡、220 題、80 段導引教材、伺服器端學習進度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0537E-D0AF-40EA-9B54-2FF6FEB6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教育效果保留為待驗證成果，不用程式覆蓋率代替。</a:t>
            </a:r>
          </a:p>
        </p:txBody>
      </p:sp>
    </p:spTree>
    <p:extLst>
      <p:ext uri="{BB962C8B-B14F-4D97-AF65-F5344CB8AC3E}">
        <p14:creationId xmlns:p14="http://schemas.microsoft.com/office/powerpoint/2010/main" val="118449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F7C6D0-6C52-4E31-914A-08FF5689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6. 文獻參考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C0B44-70B9-4C76-88E5-91950B48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388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A69B4-9DCB-43EE-897D-585DC155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全報告核心論點與對應來源依據地圖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76DAA-D07C-4C61-B774-01AF81C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904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5F11E-3A8E-4300-ACD2-C2CBAD15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B9904A"/>
          </a:solidFill>
          <a:ln xmlns:a="http://schemas.openxmlformats.org/drawingml/2006/main" w="0">
            <a:solidFill>
              <a:srgbClr val="B990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A4B35-CA85-4D2E-BB09-06D3F799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A7D85-1F76-4BC9-91A9-29B771C7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954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9904A"/>
                </a:solidFill>
                <a:latin typeface="Microsoft JhengHei"/>
                <a:ea typeface="Microsoft JhengHei"/>
                <a:cs typeface="Microsoft JhengHei"/>
              </a:rPr>
              <a:t>天體分類與地貌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8D550-6C33-4B45-AA67-773E198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NASA Pluto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4FAB0-B338-4779-9CEB-32EC2F3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ACEF3-BCE9-41DE-8062-6D932CA2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冥王星矮行星分類與特徵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湯博區「愛心」氮冰平原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支持科學動機與問題引導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AE43A-AAD1-4AC6-8F3B-0D1FA24B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3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241CA-EB30-4C28-A8B6-874B1748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954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43C46"/>
          </a:solidFill>
          <a:ln xmlns:a="http://schemas.openxmlformats.org/drawingml/2006/main" w="0">
            <a:solidFill>
              <a:srgbClr val="843C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F3AA1-CEB6-4D20-A11E-24D1EF5B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95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4DEDE-A1AE-46BA-998D-CFBE91F8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954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43C46"/>
                </a:solidFill>
                <a:latin typeface="Microsoft JhengHei"/>
                <a:ea typeface="Microsoft JhengHei"/>
                <a:cs typeface="Microsoft JhengHei"/>
              </a:rPr>
              <a:t>競品與產品定位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2E040-DF93-4993-A9E9-7D2E8979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0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NotebookLM / Kahoot!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4D902-E59E-4921-A5FF-5E9E6E4F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A4C71-2ACC-416B-BB34-C06E1D6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1937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NotebookLM：依據來源研究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Kahoot!：高互動測驗反饋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三方產品定位差異比較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8DDD6-6CF6-4963-90D2-BAD988CA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578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F7791-BA78-4A1F-9F27-CEF33BDB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954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57869"/>
          </a:solidFill>
          <a:ln xmlns:a="http://schemas.openxmlformats.org/drawingml/2006/main" w="0">
            <a:solidFill>
              <a:srgbClr val="55786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6AF7F-AF81-4F68-A392-510A983D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954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0E227-BB3C-4D93-9AC1-73C10F17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9547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57869"/>
                </a:solidFill>
                <a:latin typeface="Microsoft JhengHei"/>
                <a:ea typeface="Microsoft JhengHei"/>
                <a:cs typeface="Microsoft JhengHei"/>
              </a:rPr>
              <a:t>通訊架構與通訊協定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92043-1A02-4234-86AB-44A8FA3B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0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LINE Developers Docs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97668-BC4F-4731-9B17-67B08226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75193-EA7D-4DC6-808B-A1D3A42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Webhook 事件安全驗證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Messaging API 路由派發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單次回覆防重複機制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40FF7-4D3D-4285-BA10-6B8C99F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48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0EE77-16D6-47C4-A71B-2B47CB4B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58748E"/>
          </a:solidFill>
          <a:ln xmlns:a="http://schemas.openxmlformats.org/drawingml/2006/main" w="0">
            <a:solidFill>
              <a:srgbClr val="58748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CB4B7-BAA5-4E26-8741-4866DF8B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D38B4-E66F-4407-9E1F-38BB0227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8748E"/>
                </a:solidFill>
                <a:latin typeface="Microsoft JhengHei"/>
                <a:ea typeface="Microsoft JhengHei"/>
                <a:cs typeface="Microsoft JhengHei"/>
              </a:rPr>
              <a:t>模型調用與 API 路由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FF3BA-8015-4900-95F4-47DE6512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Google AI Gemma Docs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E20F62-8951-4338-9420-DE840C62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339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4A9DD-21BD-4B04-885A-700CAE30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Gemma 26B (a4b-it) 呼叫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雙路徑路由（本機/雲端）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謙遜老人人設與邊界約束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2F58C-C932-4742-974A-58125B3A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65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F72321-DF8B-4FB0-AE07-DE7F2AC8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8622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7658B"/>
          </a:solidFill>
          <a:ln xmlns:a="http://schemas.openxmlformats.org/drawingml/2006/main" w="0">
            <a:solidFill>
              <a:srgbClr val="77658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209B54-9445-4142-9EC6-745F035F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P4/P5/P7/P9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11314-D92A-412C-AA09-6EBEBCBC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862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65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7658B"/>
                </a:solidFill>
                <a:latin typeface="Microsoft JhengHei"/>
                <a:ea typeface="Microsoft JhengHei"/>
                <a:cs typeface="Microsoft JhengHei"/>
              </a:rPr>
              <a:t>系統實作與內容資產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4B055E-33E5-4A7E-B189-7AE63EB8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91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專案代碼、資料與導引文件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DBE21E-3E48-4E7E-BA3B-903FE062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339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CDE5B2-CB7C-4840-BFD9-57BC7FFC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012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76 張知識卡與 220 題庫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80 段重組導引教材架構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伺服器端 SQLite 進度交易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A91A9-F38E-4025-A528-60FCFCC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52875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283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5F8EA6-E2EB-44FC-AF53-218D833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8622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42830"/>
          </a:solidFill>
          <a:ln xmlns:a="http://schemas.openxmlformats.org/drawingml/2006/main" w="0">
            <a:solidFill>
              <a:srgbClr val="24283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445CB0-B293-4A92-850F-6A06928D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862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56BE81-68B6-4FAC-A70B-813DDAC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86225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效能驗證與缺口坦承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EF8158-7D3E-4FCD-B254-8AFE7B84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91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42830"/>
                </a:solidFill>
                <a:latin typeface="Microsoft JhengHei"/>
                <a:ea typeface="Microsoft JhengHei"/>
                <a:cs typeface="Microsoft JhengHei"/>
              </a:rPr>
              <a:t>本機測試與評估紀錄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D7ACAB-4A33-4270-9B84-8D1C0F2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33925"/>
            <a:ext cx="316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D8D1C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BAF18F-6AA0-470B-B455-C6902C8E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0125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172 項測試通過、覆蓋率 81.34%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導引模組覆蓋率約 95%</a:t>
            </a:r>
          </a:p>
          <a:p xmlns:a="http://schemas.openxmlformats.org/drawingml/2006/main">
            <a:pPr algn="l">
              <a:def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• 坦承模型評估指標未經驗證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C0A39A-8612-4C03-8DD0-F133D680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717A"/>
                </a:solidFill>
                <a:latin typeface="Microsoft JhengHei"/>
                <a:ea typeface="Microsoft JhengHei"/>
                <a:cs typeface="Microsoft JhengHei"/>
              </a:rPr>
              <a:t>完整來源連結、測試日誌與架構文件均存於投影片備忘稿與開源儲存庫。</a:t>
            </a:r>
          </a:p>
        </p:txBody>
      </p:sp>
    </p:spTree>
    <p:extLst>
      <p:ext uri="{BB962C8B-B14F-4D97-AF65-F5344CB8AC3E}">
        <p14:creationId xmlns:p14="http://schemas.microsoft.com/office/powerpoint/2010/main" val="486160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2026-09-13T13:19:12.7100000Z</dcterms:created>
  <dcterms:modified xsi:type="dcterms:W3CDTF">2026-09-13T13:19:12.7100000Z</dcterms:modified>
</coreProperties>
</file>