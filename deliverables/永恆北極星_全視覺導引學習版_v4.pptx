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10f9940149742cf" /><Relationship Type="http://schemas.openxmlformats.org/officeDocument/2006/relationships/extended-properties" Target="/docProps/app.xml" Id="R21c03ebb4e0545e5" /><Relationship Type="http://schemas.openxmlformats.org/officeDocument/2006/relationships/officeDocument" Target="/ppt/presentation.xml" Id="Rea701edb46544b13" /></Relationships>
</file>

<file path=ppt/presentation.xml><?xml version="1.0" encoding="utf-8"?>
<p:presentation xmlns:p="http://schemas.openxmlformats.org/presentationml/2006/main">
  <p:sldMasterIdLst>
    <p:sldMasterId xmlns:r="http://schemas.openxmlformats.org/officeDocument/2006/relationships" id="2147483648" r:id="R91eff9eb1f904056"/>
  </p:sldMasterIdLst>
  <p:notesMasterIdLst>
    <p:notesMasterId xmlns:r="http://schemas.openxmlformats.org/officeDocument/2006/relationships" r:id="R2908d7717cb34948"/>
  </p:notesMasterIdLst>
  <p:sldIdLst>
    <p:sldId xmlns:r="http://schemas.openxmlformats.org/officeDocument/2006/relationships" id="256" r:id="R2f5d0ec8efc14ed7"/>
    <p:sldId xmlns:r="http://schemas.openxmlformats.org/officeDocument/2006/relationships" id="257" r:id="Rc920702cbea34cea"/>
    <p:sldId xmlns:r="http://schemas.openxmlformats.org/officeDocument/2006/relationships" id="258" r:id="R8dc5a44642854dc4"/>
    <p:sldId xmlns:r="http://schemas.openxmlformats.org/officeDocument/2006/relationships" id="259" r:id="Reffb86797a534859"/>
    <p:sldId xmlns:r="http://schemas.openxmlformats.org/officeDocument/2006/relationships" id="260" r:id="R47fec02d3a8b49a1"/>
    <p:sldId xmlns:r="http://schemas.openxmlformats.org/officeDocument/2006/relationships" id="261" r:id="Rea1ac0a9c14c4506"/>
    <p:sldId xmlns:r="http://schemas.openxmlformats.org/officeDocument/2006/relationships" id="262" r:id="Ra2b4a736c0ff455e"/>
    <p:sldId xmlns:r="http://schemas.openxmlformats.org/officeDocument/2006/relationships" id="263" r:id="R98b67839f4d64c24"/>
    <p:sldId xmlns:r="http://schemas.openxmlformats.org/officeDocument/2006/relationships" id="264" r:id="R9eedfea2b4ac437d"/>
    <p:sldId xmlns:r="http://schemas.openxmlformats.org/officeDocument/2006/relationships" id="265" r:id="Rdd51cdf1e8d34f21"/>
    <p:sldId xmlns:r="http://schemas.openxmlformats.org/officeDocument/2006/relationships" id="266" r:id="Rbdd30f6b81eb40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d6a20316bb4ade" /><Relationship Type="http://schemas.openxmlformats.org/officeDocument/2006/relationships/slideMaster" Target="/ppt/slideMasters/slideMaster1.xml" Id="R91eff9eb1f904056" /><Relationship Type="http://schemas.openxmlformats.org/officeDocument/2006/relationships/notesMaster" Target="/ppt/notesMasters/notesMaster1.xml" Id="R2908d7717cb34948" /><Relationship Type="http://schemas.openxmlformats.org/officeDocument/2006/relationships/presProps" Target="/ppt/presProps.xml" Id="R1fd3b06d47b44165" /><Relationship Type="http://schemas.openxmlformats.org/officeDocument/2006/relationships/tableStyles" Target="/ppt/tableStyles.xml" Id="R3e5709daf9fb4a8c" /><Relationship Type="http://schemas.openxmlformats.org/officeDocument/2006/relationships/slide" Target="/ppt/slides/slide1.xml" Id="R2f5d0ec8efc14ed7" /><Relationship Type="http://schemas.openxmlformats.org/officeDocument/2006/relationships/slide" Target="/ppt/slides/slide2.xml" Id="Rc920702cbea34cea" /><Relationship Type="http://schemas.openxmlformats.org/officeDocument/2006/relationships/slide" Target="/ppt/slides/slide3.xml" Id="R8dc5a44642854dc4" /><Relationship Type="http://schemas.openxmlformats.org/officeDocument/2006/relationships/slide" Target="/ppt/slides/slide4.xml" Id="Reffb86797a534859" /><Relationship Type="http://schemas.openxmlformats.org/officeDocument/2006/relationships/slide" Target="/ppt/slides/slide5.xml" Id="R47fec02d3a8b49a1" /><Relationship Type="http://schemas.openxmlformats.org/officeDocument/2006/relationships/slide" Target="/ppt/slides/slide6.xml" Id="Rea1ac0a9c14c4506" /><Relationship Type="http://schemas.openxmlformats.org/officeDocument/2006/relationships/slide" Target="/ppt/slides/slide7.xml" Id="Ra2b4a736c0ff455e" /><Relationship Type="http://schemas.openxmlformats.org/officeDocument/2006/relationships/slide" Target="/ppt/slides/slide8.xml" Id="R98b67839f4d64c24" /><Relationship Type="http://schemas.openxmlformats.org/officeDocument/2006/relationships/slide" Target="/ppt/slides/slide9.xml" Id="R9eedfea2b4ac437d" /><Relationship Type="http://schemas.openxmlformats.org/officeDocument/2006/relationships/slide" Target="/ppt/slides/slide10.xml" Id="Rdd51cdf1e8d34f21" /><Relationship Type="http://schemas.openxmlformats.org/officeDocument/2006/relationships/slide" Target="/ppt/slides/slide11.xml" Id="Rbdd30f6b81eb40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3c2c509fada4d7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e7c9a119f014758" /><Relationship Type="http://schemas.openxmlformats.org/officeDocument/2006/relationships/notesMaster" Target="/ppt/notesMasters/notesMaster1.xml" Id="R0532293b3d9f4c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9ece1f4b124823" /><Relationship Type="http://schemas.openxmlformats.org/officeDocument/2006/relationships/notesMaster" Target="/ppt/notesMasters/notesMaster1.xml" Id="R5888cd3a15a1444b"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5ff760db8d400a" /><Relationship Type="http://schemas.openxmlformats.org/officeDocument/2006/relationships/notesMaster" Target="/ppt/notesMasters/notesMaster1.xml" Id="Re2259531738e45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5a54cf0eaca84170" /><Relationship Type="http://schemas.openxmlformats.org/officeDocument/2006/relationships/notesMaster" Target="/ppt/notesMasters/notesMaster1.xml" Id="R1c6631cf82734ce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bb65dbdd45e414a" /><Relationship Type="http://schemas.openxmlformats.org/officeDocument/2006/relationships/notesMaster" Target="/ppt/notesMasters/notesMaster1.xml" Id="Rdbeeb2bf7bf94505" /></Relationships>
</file>

<file path=ppt/notesSlides/_rels/notesSlide6.xml.rels>&#65279;<?xml version="1.0" encoding="utf-8"?><Relationships xmlns="http://schemas.openxmlformats.org/package/2006/relationships"><Relationship Type="http://schemas.openxmlformats.org/officeDocument/2006/relationships/slide" Target="/ppt/slides/slide6.xml" Id="Rcba49398309f43c4" /><Relationship Type="http://schemas.openxmlformats.org/officeDocument/2006/relationships/notesMaster" Target="/ppt/notesMasters/notesMaster1.xml" Id="R1d2edc4a439f49dc" /></Relationships>
</file>

<file path=ppt/notesSlides/_rels/notesSlide7.xml.rels>&#65279;<?xml version="1.0" encoding="utf-8"?><Relationships xmlns="http://schemas.openxmlformats.org/package/2006/relationships"><Relationship Type="http://schemas.openxmlformats.org/officeDocument/2006/relationships/slide" Target="/ppt/slides/slide7.xml" Id="R66c37223abbd4230" /><Relationship Type="http://schemas.openxmlformats.org/officeDocument/2006/relationships/notesMaster" Target="/ppt/notesMasters/notesMaster1.xml" Id="Rd10df73a76c74a9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337b946fb9d45b5" /><Relationship Type="http://schemas.openxmlformats.org/officeDocument/2006/relationships/notesMaster" Target="/ppt/notesMasters/notesMaster1.xml" Id="R2c4cfc4fe99349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d390ab61f714820" /><Relationship Type="http://schemas.openxmlformats.org/officeDocument/2006/relationships/notesMaster" Target="/ppt/notesMasters/notesMaster1.xml" Id="R49f572a6099b439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762b255936e4846" /><Relationship Type="http://schemas.openxmlformats.org/officeDocument/2006/relationships/notesMaster" Target="/ppt/notesMasters/notesMaster1.xml" Id="R94dd76b7452445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51283c7c479480b" /><Relationship Type="http://schemas.openxmlformats.org/officeDocument/2006/relationships/notesMaster" Target="/ppt/notesMasters/notesMaster1.xml" Id="Rb2b19e47a11945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各位評審老師、同學們好！我是今天的報告者。我要為大家介紹的專題是「永恆北極星（Eternal Polaris）」——這是一套架構在 LINE 上的天文與科幻物理問答、四座寶庫與導引式學習機器人。</a:t>
            </a:r>
          </a:p>
          <a:p xmlns:a="http://schemas.openxmlformats.org/drawingml/2006/main">
            <a:r>
              <a:t/>
            </a:r>
          </a:p>
          <a:p xmlns:a="http://schemas.openxmlformats.org/drawingml/2006/main">
            <a:r>
              <a:t>在進入技術細節前，我想先聊聊做這個專題最單純的起點：因為我真的太喜歡這些科學問題了！像是為什麼冥王星身上會有一顆巨大的愛心平原？木星深處是不是真的有會導電的金屬氫？還有科幻電影裡演的曲速引擎或重力彈弓，在真實物理世界裡到底行不行得通？這些問題從小就讓我充滿好奇，與其只是自己翻書上網查，我更想親手做出一個能在日常通訊軟體裡隨時聊天的科學夥伴。</a:t>
            </a:r>
          </a:p>
          <a:p xmlns:a="http://schemas.openxmlformats.org/drawingml/2006/main">
            <a:r>
              <a:t/>
            </a:r>
          </a:p>
          <a:p xmlns:a="http://schemas.openxmlformats.org/drawingml/2006/main">
            <a:r>
              <a:t>不過很有趣的是，雖然我說話節奏比較快、充滿熱情，但我們在 LINE 裡面設計的機器人角色，卻是一位沉穩、溫和、博學而且非常有耐心的年長星空導引者。平常他會像一位老爺爺一樣，慢條斯理地為你解答天文疑惑；但只要你在聊天室輸入「挑戰」或「考我」，他就會切換成守護知識寶庫的引路守門人，用星門試煉來檢驗你的理解。</a:t>
            </a:r>
          </a:p>
          <a:p xmlns:a="http://schemas.openxmlformats.org/drawingml/2006/main">
            <a:r>
              <a:t/>
            </a:r>
          </a:p>
          <a:p xmlns:a="http://schemas.openxmlformats.org/drawingml/2006/main">
            <a:r>
              <a:t>在這套系統裡，我們整理了七十六張結構化知識卡、涵蓋二十個科學主題的兩百二十題固定測驗題庫，並重組出八十段適合在手機上閱讀的導引式學習教材。今天的報告我會為大家完整介紹系統動機、產品定位、通訊與路由架構、四座寶庫的規則、工程健全性驗證，以及未來的發展方向。</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AI 概念插畫：內建 imagegen 生成，2026-09-13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在深入技術細節之前，我們先用這張大綱圖看一下今天的報告節奏。整場報告會沿著非常清楚的五個步驟展開：</a:t>
            </a:r>
          </a:p>
          <a:p xmlns:a="http://schemas.openxmlformats.org/drawingml/2006/main">
            <a:r>
              <a:t/>
            </a:r>
          </a:p>
          <a:p xmlns:a="http://schemas.openxmlformats.org/drawingml/2006/main">
            <a:r>
              <a:t>第一段是「背景與目標」：我們會聊聊為什麼選擇 LINE 作為載體、背後最純粹的探索動機，以及這隻機器人究竟要陪伴使用者解決什麼樣的好奇心。</a:t>
            </a:r>
          </a:p>
          <a:p xmlns:a="http://schemas.openxmlformats.org/drawingml/2006/main">
            <a:r>
              <a:t>第二段是「工具與使用情境」：我們會把永恆北極星跟市面上常見的學習工具，例如 NotebookLM 和 Kahoot! 放在一起對比，找出它獨特的即時互動定位。</a:t>
            </a:r>
          </a:p>
          <a:p xmlns:a="http://schemas.openxmlformats.org/drawingml/2006/main">
            <a:r>
              <a:t>第三段是「系統與架構」：這是專案的技術骨架，我們會拆解 LINE Webhook 安全通訊、假名代碼保護、本機與開源模型的雙路徑回答策略，以及伺服器端 SQLite 如何管理四座寶庫的導引學習。</a:t>
            </a:r>
          </a:p>
          <a:p xmlns:a="http://schemas.openxmlformats.org/drawingml/2006/main">
            <a:r>
              <a:t>第四段是「系統驗證」：這不是新訓練的分類模型，所以重點不是替模型打分數，而是回到工程問題——我們如何透過自動化測試，確認這隻 LINE 機器人在互動時不會輕易出錯、崩潰或重複發送訊息。</a:t>
            </a:r>
          </a:p>
          <a:p xmlns:a="http://schemas.openxmlformats.org/drawingml/2006/main">
            <a:r>
              <a:t>最後第五段是「結論與參考資料」：盤點目前已經落地的功能清單、未來部署所需的實務工作，並將所有引用的官方文獻與專案資料完整映射對應。</a:t>
            </a:r>
          </a:p>
          <a:p xmlns:a="http://schemas.openxmlformats.org/drawingml/2006/main">
            <a:r>
              <a:t/>
            </a:r>
          </a:p>
          <a:p xmlns:a="http://schemas.openxmlformats.org/drawingml/2006/main">
            <a:r>
              <a:t>接下來，就讓我們從第一部分的研究動機開始出發！</a:t>
            </a:r>
          </a:p>
          <a:p xmlns:a="http://schemas.openxmlformats.org/drawingml/2006/main">
            <a:r>
              <a:t/>
            </a:r>
          </a:p>
          <a:p xmlns:a="http://schemas.openxmlformats.org/drawingml/2006/main">
            <a:r>
              <a:t>資料來源：</a:t>
            </a:r>
          </a:p>
          <a:p xmlns:a="http://schemas.openxmlformats.org/drawingml/2006/main">
            <a:r>
              <a:t>本機 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首先，為什麼載體一定要是 LINE？</a:t>
            </a:r>
          </a:p>
          <a:p xmlns:a="http://schemas.openxmlformats.org/drawingml/2006/main">
            <a:r>
              <a:t>大家可以想像一下：如果今天我想了解黑洞的事件視界，或者晚上抬頭看到一顆特別亮的星想知道它是誰，最自然的反應是什麼？絕對是打開手機！如果還要特地下載一個好幾百 MB 的獨立 App、註冊帳號、驗證信箱，使用者的好奇心大概在登入那一刻就熄滅了一半。LINE 在台灣幾乎人人天天使用，隨手打開聊天室就能發問，這種零門檻的即時陪伴感，正是科學普及最需要的接觸點。</a:t>
            </a:r>
          </a:p>
          <a:p xmlns:a="http://schemas.openxmlformats.org/drawingml/2006/main">
            <a:r>
              <a:t/>
            </a:r>
          </a:p>
          <a:p xmlns:a="http://schemas.openxmlformats.org/drawingml/2006/main">
            <a:r>
              <a:t>再來談談我們的研究動機。誠實地說，這真的源自我個人對天文科學的熱愛。大家請看投影片右側這張插畫，這是冥王星的概念圖。在 2015 年 NASA 的「新視野號」太空船飛越冥王星之前，大多數人想像中的冥王星，就只是太陽系邊緣一顆冰冷、死寂的暗淡碎石。但當新視野號傳回高解析度照片時，全世界都被驚艷到了——冥王星表面竟然有一塊巨大又光滑的愛心形平原，也就是著名的「湯博區」！</a:t>
            </a:r>
          </a:p>
          <a:p xmlns:a="http://schemas.openxmlformats.org/drawingml/2006/main">
            <a:r>
              <a:t/>
            </a:r>
          </a:p>
          <a:p xmlns:a="http://schemas.openxmlformats.org/drawingml/2006/main">
            <a:r>
              <a:t>科學家深入研究後發現，這片愛心其實是由氮冰構成的流動冰川，地表底下甚至可能有對流熱源在不斷翻新地貌。2006 年國際天文學聯合會把冥王星重新分類為矮行星，這並不是把它踢出科學界，反而讓我們意識到外太陽系的古柏帶有多麼豐富。像這樣的故事，充滿了科學探索的浪漫與轉折，也正是這套機器人最想傳遞給使用者的核心體驗。</a:t>
            </a:r>
          </a:p>
          <a:p xmlns:a="http://schemas.openxmlformats.org/drawingml/2006/main">
            <a:r>
              <a:t/>
            </a:r>
          </a:p>
          <a:p xmlns:a="http://schemas.openxmlformats.org/drawingml/2006/main">
            <a:r>
              <a:t>在應用情境上，我們希望它能勝任三種角色：第一是高中生或大學生的課後自主探索；第二是在參觀科學館或天文台時的隨身互動導覽；第三則是透過趣味試煉隨時複習科學常識。雖然教學上的實際成效未來還需要經過正式的使用者研究，但我們已經把這套互動骨架完整搭建完成了。</a:t>
            </a:r>
          </a:p>
          <a:p xmlns:a="http://schemas.openxmlformats.org/drawingml/2006/main">
            <a:r>
              <a:t/>
            </a:r>
          </a:p>
          <a:p xmlns:a="http://schemas.openxmlformats.org/drawingml/2006/main">
            <a:r>
              <a:t>【此處稍作停頓約十秒，讓觀眾觀看簡報畫面上的冥王星地貌插畫。】</a:t>
            </a:r>
          </a:p>
          <a:p xmlns:a="http://schemas.openxmlformats.org/drawingml/2006/main">
            <a:r>
              <a:t/>
            </a:r>
          </a:p>
          <a:p xmlns:a="http://schemas.openxmlformats.org/drawingml/2006/main">
            <a:r>
              <a:t>資料來源：</a:t>
            </a:r>
          </a:p>
          <a:p xmlns:a="http://schemas.openxmlformats.org/drawingml/2006/main">
            <a:r>
              <a:t>https://science.nasa.gov/dwarf-planets/pluto/facts/</a:t>
            </a:r>
          </a:p>
          <a:p xmlns:a="http://schemas.openxmlformats.org/drawingml/2006/main">
            <a:r>
              <a:t>本機 README.md、docs/solar-wonders.md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有了動機之後，我們來明確定義專案目標，並看看它跟現有產品有什麼不同。</a:t>
            </a:r>
          </a:p>
          <a:p xmlns:a="http://schemas.openxmlformats.org/drawingml/2006/main">
            <a:r>
              <a:t/>
            </a:r>
          </a:p>
          <a:p xmlns:a="http://schemas.openxmlformats.org/drawingml/2006/main">
            <a:r>
              <a:t>這項專題的核心目標有三個：第一，打造一個以對話為核心、值得信賴的日常科學夥伴；第二，融合「自由開放問答」與「結構化導引學習」兩種學習型態；第三，劃清知識邊界——能依據明確來源回答的地方就提供查證線索，沒有把握的問題就坦承告知，絕不隨意胡編亂造。</a:t>
            </a:r>
          </a:p>
          <a:p xmlns:a="http://schemas.openxmlformats.org/drawingml/2006/main">
            <a:r>
              <a:t/>
            </a:r>
          </a:p>
          <a:p xmlns:a="http://schemas.openxmlformats.org/drawingml/2006/main">
            <a:r>
              <a:t>說到這裡，大家可能會聯想到兩個很優秀的相關產品：Google 的 NotebookLM 和課堂常用的 Kahoot!。我們把永恆北極星跟它們做個對照：</a:t>
            </a:r>
          </a:p>
          <a:p xmlns:a="http://schemas.openxmlformats.org/drawingml/2006/main">
            <a:r>
              <a:t>首先是 NotebookLM。它強調依據來源進行整理與回答，讓我注意到科學內容需要保留查證線索。再看 Kahoot!，它用題目與即時回饋創造很強的參與感，讓我想到可以把科學練習設計成短小的五題挑戰。</a:t>
            </a:r>
          </a:p>
          <a:p xmlns:a="http://schemas.openxmlformats.org/drawingml/2006/main">
            <a:r>
              <a:t/>
            </a:r>
          </a:p>
          <a:p xmlns:a="http://schemas.openxmlformats.org/drawingml/2006/main">
            <a:r>
              <a:t>這就是「永恆北極星」想要填補的空間！它直接生長在 LINE 裡，內建兩百二十道固定答案的科學測驗，以及八十段循序漸進的微課程。平時隨時想聊就聊，想闖關時有引路守門人出題，答錯時還有詳細的科學解說。</a:t>
            </a:r>
          </a:p>
          <a:p xmlns:a="http://schemas.openxmlformats.org/drawingml/2006/main">
            <a:r>
              <a:t>另外特別向大家說明：固定題庫測驗不依賴外部 AI API。即使模型額度用完或模型服務暫時故障，兩百二十道題目仍由伺服器上的固定資料處理；專案也沒有即時網路搜尋、RAG、向量資料庫或自行訓練模型。</a:t>
            </a:r>
          </a:p>
          <a:p xmlns:a="http://schemas.openxmlformats.org/drawingml/2006/main">
            <a:r>
              <a:t/>
            </a:r>
          </a:p>
          <a:p xmlns:a="http://schemas.openxmlformats.org/drawingml/2006/main">
            <a:r>
              <a:t>資料來源：</a:t>
            </a:r>
          </a:p>
          <a:p xmlns:a="http://schemas.openxmlformats.org/drawingml/2006/main">
            <a:r>
              <a:t>https://blog.google/innovation-and-ai/models-and-research/google-labs/notebooklm-discover-sources/</a:t>
            </a:r>
          </a:p>
          <a:p xmlns:a="http://schemas.openxmlformats.org/drawingml/2006/main">
            <a:r>
              <a:t>https://kahoot.com/schools/how-it-works/</a:t>
            </a:r>
          </a:p>
          <a:p xmlns:a="http://schemas.openxmlformats.org/drawingml/2006/main">
            <a:r>
              <a:t>https://developers.line.biz/en/docs/messaging-api/receiving-messages/</a:t>
            </a:r>
          </a:p>
          <a:p xmlns:a="http://schemas.openxmlformats.org/drawingml/2006/main">
            <a:r>
              <a:t>https://github.com/Gale0418/SFLINE_BOT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接下來進入技術核心，我們來看整套系統的資料流與安全機制。</a:t>
            </a:r>
          </a:p>
          <a:p xmlns:a="http://schemas.openxmlformats.org/drawingml/2006/main">
            <a:r>
              <a:t/>
            </a:r>
          </a:p>
          <a:p xmlns:a="http://schemas.openxmlformats.org/drawingml/2006/main">
            <a:r>
              <a:t>當使用者在 LINE 聊天室送出一條訊息時，這段文字會先傳給 LINE Messaging API 伺服器，LINE 隨後會以 HTTP POST Webhook 將事件派發到我們的機器人伺服器（在開發測試階段則是透過 ngrok 通道轉發）。</a:t>
            </a:r>
          </a:p>
          <a:p xmlns:a="http://schemas.openxmlformats.org/drawingml/2006/main">
            <a:r>
              <a:t>伺服器收到請求的第一步，絕對不是直接解析文字，而是進行「簽章驗證（Signature Verification）」！</a:t>
            </a:r>
          </a:p>
          <a:p xmlns:a="http://schemas.openxmlformats.org/drawingml/2006/main">
            <a:r>
              <a:t>我們使用 LINE 官方提供的 Channel Secret，對收到的請求內容進行 HMAC-SHA256 運算，比對 HTTP 標頭裡的簽章。如果有人嘗試偽造訊息或竄改內容，伺服器會拒絕這次請求並回傳 400。</a:t>
            </a:r>
          </a:p>
          <a:p xmlns:a="http://schemas.openxmlformats.org/drawingml/2006/main">
            <a:r>
              <a:t/>
            </a:r>
          </a:p>
          <a:p xmlns:a="http://schemas.openxmlformats.org/drawingml/2006/main">
            <a:r>
              <a:t>通過驗證後，系統會執行事件去重（Deduplication）。因為行動網路偶爾會因重傳機制送出兩次相同的 Webhook，我們在記憶體內維護事件清單，只要偵測到重複事件就立刻回傳 200 ACK，絕不重複執行處理邏輯。而且 LINE 規範中每個 reply token 只能使用一次，我們不做不可預測的網路盲目重試，確保使用者不會在手機上收到兩次一模一樣的重複訊息。</a:t>
            </a:r>
          </a:p>
          <a:p xmlns:a="http://schemas.openxmlformats.org/drawingml/2006/main">
            <a:r>
              <a:t/>
            </a:r>
          </a:p>
          <a:p xmlns:a="http://schemas.openxmlformats.org/drawingml/2006/main">
            <a:r>
              <a:t>接著，我想用最白話的方式，為大家解釋投影片上提到的「加鹽雜湊假名代碼」是怎麼一回事。</a:t>
            </a:r>
          </a:p>
          <a:p xmlns:a="http://schemas.openxmlformats.org/drawingml/2006/main">
            <a:r>
              <a:t>很多朋友會問：你們機器人會不會偷偷蒐集我的 LINE ID 或個人資料？</a:t>
            </a:r>
          </a:p>
          <a:p xmlns:a="http://schemas.openxmlformats.org/drawingml/2006/main">
            <a:r>
              <a:t>程式不需要把原始 LINE ID 當成內部索引。當 LINE 把使用者 ID 傳過來時，伺服器會把這組 ID 加上一段只有伺服器知道的秘密字串，再透過 SHA-256 單向運算，轉換成一串看似亂碼的代碼。</a:t>
            </a:r>
          </a:p>
          <a:p xmlns:a="http://schemas.openxmlformats.org/drawingml/2006/main">
            <a:r>
              <a:t>在記錄學習進度或暫存對話時，系統使用這串假名代碼，不直接保存原始 LINE ID。</a:t>
            </a:r>
          </a:p>
          <a:p xmlns:a="http://schemas.openxmlformats.org/drawingml/2006/main">
            <a:r>
              <a:t>不過我也要說明清楚：這不是把資料加密，因為它是單向運算的，無法再解密還原；這也不是絕對無條件的完全匿名，因為只要伺服器端的這把秘密字串被外洩，理論上還是可能透過比對推敲出對應關係，因此伺服器端的金鑰環境依然需要妥善維護。</a:t>
            </a:r>
          </a:p>
          <a:p xmlns:a="http://schemas.openxmlformats.org/drawingml/2006/main">
            <a:r>
              <a:t/>
            </a:r>
          </a:p>
          <a:p xmlns:a="http://schemas.openxmlformats.org/drawingml/2006/main">
            <a:r>
              <a:t>最後是資料庫的儲存位置：我們使用 SQLite 來保存使用者的四座寶庫學習進度。這裡要特別強調，SQLite 是完全運行在機器人伺服器端，使用者的手機 LINE 軟體完全不會碰觸到資料庫檔案，更不可能由前端執行任何 SQL 指令，所有進度讀寫都是透過後端程式經過參數化查詢控管。對話記憶也只保留最近三組，並設定三十分鐘自動失效，兼顧了對話流暢度與隱私安全。</a:t>
            </a:r>
          </a:p>
          <a:p xmlns:a="http://schemas.openxmlformats.org/drawingml/2006/main">
            <a:r>
              <a:t/>
            </a:r>
          </a:p>
          <a:p xmlns:a="http://schemas.openxmlformats.org/drawingml/2006/main">
            <a:r>
              <a:t>資料來源：</a:t>
            </a:r>
          </a:p>
          <a:p xmlns:a="http://schemas.openxmlformats.org/drawingml/2006/main">
            <a:r>
              <a:t>https://developers.line.biz/en/docs/messaging-api/receiving-messages/</a:t>
            </a:r>
          </a:p>
          <a:p xmlns:a="http://schemas.openxmlformats.org/drawingml/2006/main">
            <a:r>
              <a:t>本機 README.md、src/eternal_polaris/app.py、dispatcher.py、learning.py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看完通訊骨架，我們來檢視這套系統背後儲備的科學內容資產。</a:t>
            </a:r>
          </a:p>
          <a:p xmlns:a="http://schemas.openxmlformats.org/drawingml/2006/main">
            <a:r>
              <a:t/>
            </a:r>
          </a:p>
          <a:p xmlns:a="http://schemas.openxmlformats.org/drawingml/2006/main">
            <a:r>
              <a:t>永恆北極星的知識體系主要由三大核心要素組成：</a:t>
            </a:r>
          </a:p>
          <a:p xmlns:a="http://schemas.openxmlformats.org/drawingml/2006/main">
            <a:r>
              <a:t>第一，是七十六張人工整理的結構化知識卡。每張卡片都聚焦在特定的天文或科幻物理主題，例如黑洞事件視界、潮汐力鎖定、量子纏結與相對論效應，並載明具體的科學分類與查證來源。</a:t>
            </a:r>
          </a:p>
          <a:p xmlns:a="http://schemas.openxmlformats.org/drawingml/2006/main">
            <a:r>
              <a:t>第二，是兩百二十道固定正解的測驗題庫。這兩百二十題涵蓋二十個科學主題，從太陽系行星、恆星演化與相對論，延伸到地球科學、量子概念與太空探索技術。題庫也調整四個選項（A、B、C、D）的正確位置分布，避免使用者只靠猜選項規律破關。</a:t>
            </a:r>
          </a:p>
          <a:p xmlns:a="http://schemas.openxmlformats.org/drawingml/2006/main">
            <a:r>
              <a:t>第三，是八十段重組教材。我們沒有刻意去灌水知識卡的數量，而是把這七十六張核心知識卡與題庫概念，重新梳理拆解成八十個短小精悍的知識段落，專門用在後續要介紹的「四座寶庫導引式學習」之中。</a:t>
            </a:r>
          </a:p>
          <a:p xmlns:a="http://schemas.openxmlformats.org/drawingml/2006/main">
            <a:r>
              <a:t/>
            </a:r>
          </a:p>
          <a:p xmlns:a="http://schemas.openxmlformats.org/drawingml/2006/main">
            <a:r>
              <a:t>投影片上的原生圖表展示了二十個科學領域的題目分佈。大家可以看到，恆星物理與相對論佔了核心比重，但同時也平衡兼顧了行星天文學與前沿工程科技。</a:t>
            </a:r>
          </a:p>
          <a:p xmlns:a="http://schemas.openxmlformats.org/drawingml/2006/main">
            <a:r>
              <a:t>固定題庫測驗與導引學習段落不依賴外部 AI API。即使模型額度用完或第三方服務暫時連線不順，兩百二十題測驗與八十段教材仍能由機器人伺服器處理，答案也不會因模型生成而漂移。</a:t>
            </a:r>
          </a:p>
          <a:p xmlns:a="http://schemas.openxmlformats.org/drawingml/2006/main">
            <a:r>
              <a:t/>
            </a:r>
          </a:p>
          <a:p xmlns:a="http://schemas.openxmlformats.org/drawingml/2006/main">
            <a:r>
              <a:t>【此處稍作停頓約十秒，讓大家觀察圖表中的主題分佈。】</a:t>
            </a:r>
          </a:p>
          <a:p xmlns:a="http://schemas.openxmlformats.org/drawingml/2006/main">
            <a:r>
              <a:t/>
            </a:r>
          </a:p>
          <a:p xmlns:a="http://schemas.openxmlformats.org/drawingml/2006/main">
            <a:r>
              <a:t>資料來源：</a:t>
            </a:r>
          </a:p>
          <a:p xmlns:a="http://schemas.openxmlformats.org/drawingml/2006/main">
            <a:r>
              <a:t>本機 README.md、data/knowledge_cards.json、data/quiz_questions.tsv、docs/guided-learning.md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當使用者在 LINE 裡面輸入一段自由的自然提問時，機器人會怎麼處理？這就是我們的「雙路徑回答策略」。</a:t>
            </a:r>
          </a:p>
          <a:p xmlns:a="http://schemas.openxmlformats.org/drawingml/2006/main">
            <a:r>
              <a:t/>
            </a:r>
          </a:p>
          <a:p xmlns:a="http://schemas.openxmlformats.org/drawingml/2006/main">
            <a:r>
              <a:t>第一條路徑是「本機高信心卡片路徑」：</a:t>
            </a:r>
          </a:p>
          <a:p xmlns:a="http://schemas.openxmlformats.org/drawingml/2006/main">
            <a:r>
              <a:t>如果使用者的問題經過關鍵字與詞彙比對後，高信心命中本機的七十六張知識卡，系統會直接提取卡片內容回覆。這條路徑不呼叫外部 AI API，因此不產生模型 API 費用；回答內容來自人工整理的資料，並附上科學分類與查證來源。</a:t>
            </a:r>
          </a:p>
          <a:p xmlns:a="http://schemas.openxmlformats.org/drawingml/2006/main">
            <a:r>
              <a:t/>
            </a:r>
          </a:p>
          <a:p xmlns:a="http://schemas.openxmlformats.org/drawingml/2006/main">
            <a:r>
              <a:t>第二條路徑則是「開源模型路徑」：</a:t>
            </a:r>
          </a:p>
          <a:p xmlns:a="http://schemas.openxmlformats.org/drawingml/2006/main">
            <a:r>
              <a:t>如果使用者的問題屬於開放式延伸討論、日常閒聊，或者是本機卡片未收錄的跨領域提問，系統就會將問題與最近三組對話歷史打包，傳送給我們選定的大型語言模型。</a:t>
            </a:r>
          </a:p>
          <a:p xmlns:a="http://schemas.openxmlformats.org/drawingml/2006/main">
            <a:r>
              <a:t/>
            </a:r>
          </a:p>
          <a:p xmlns:a="http://schemas.openxmlformats.org/drawingml/2006/main">
            <a:r>
              <a:t>說到這裡，我要跟大家分享一段開發過程中的真實小插曲！</a:t>
            </a:r>
          </a:p>
          <a:p xmlns:a="http://schemas.openxmlformats.org/drawingml/2006/main">
            <a:r>
              <a:t>一開始我打算直接使用半導體課程中老師提供的 OpenAI API Key。結果在開發測試階段，因為反覆驗證對話邊界與人格提示詞，測得太起勁，課程分配的 OpenAI 額度很快就見底了！</a:t>
            </a:r>
          </a:p>
          <a:p xmlns:a="http://schemas.openxmlformats.org/drawingml/2006/main">
            <a:r>
              <a:t>當時我就在想：總不能因為個人的 Token 額度用完了，專題展示就開天窗吧？</a:t>
            </a:r>
          </a:p>
          <a:p xmlns:a="http://schemas.openxmlformats.org/drawingml/2006/main">
            <a:r>
              <a:t>於是我立刻動手把系統底層重構成「可切換供應商」的架構，並將這次專題 Demo 的預設模型，切換為 Google AI Studio 提供的免費開源模型 Gemma 4 26B A4B！</a:t>
            </a:r>
          </a:p>
          <a:p xmlns:a="http://schemas.openxmlformats.org/drawingml/2006/main">
            <a:r>
              <a:t>而且為了防止日後有人設定錯誤造成荷包失血，我在程式裡寫死了一道鐵律：當系統設定為使用 Google 時，程式在執行途中絕對禁止偷偷切回付費的 OpenAI！我們不做執行時跨供應商自動 fallback，徹底杜絕了 Google 免費額度一旦跑完、背後卻開始默默燒錢的意外風險。</a:t>
            </a:r>
          </a:p>
          <a:p xmlns:a="http://schemas.openxmlformats.org/drawingml/2006/main">
            <a:r>
              <a:t/>
            </a:r>
          </a:p>
          <a:p xmlns:a="http://schemas.openxmlformats.org/drawingml/2006/main">
            <a:r>
              <a:t>在模型約束上，Gemma 4 採用官方的 systemInstruction 與 minimal thinking 設定，並強制以 JSON 格式輸出，最後由我們的 Python 後端進行格式驗證。如果模型評估這個問題缺乏足夠依據、或者涉及它無法得知的即時動態，它會主動輸出 uncertain 狀態，在 LINE 上禮貌回應「這點我不是很確定」，保持老學者誠實不胡說的性格。</a:t>
            </a:r>
          </a:p>
          <a:p xmlns:a="http://schemas.openxmlformats.org/drawingml/2006/main">
            <a:r>
              <a:t/>
            </a:r>
          </a:p>
          <a:p xmlns:a="http://schemas.openxmlformats.org/drawingml/2006/main">
            <a:r>
              <a:t>資料來源：</a:t>
            </a:r>
          </a:p>
          <a:p xmlns:a="http://schemas.openxmlformats.org/drawingml/2006/main">
            <a:r>
              <a:t>https://ai.google.dev/gemma/docs/core/gemma_on_gemini_api</a:t>
            </a:r>
          </a:p>
          <a:p xmlns:a="http://schemas.openxmlformats.org/drawingml/2006/main">
            <a:r>
              <a:t>本機 README.md、src/eternal_polaris/answer_service.py、knowledge.py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除了隨機提問，我們更希望帶領使用者進行系統化的學習。這就是我們設計的「四座寶庫導引式學習機制」。</a:t>
            </a:r>
          </a:p>
          <a:p xmlns:a="http://schemas.openxmlformats.org/drawingml/2006/main">
            <a:r>
              <a:t/>
            </a:r>
          </a:p>
          <a:p xmlns:a="http://schemas.openxmlformats.org/drawingml/2006/main">
            <a:r>
              <a:t>當使用者在 LINE 輸入「學習」時，年長導引者會溫和地問一句：「你對這世界感到好奇嗎？」並提供四座知識寶庫讓使用者挑選：</a:t>
            </a:r>
          </a:p>
          <a:p xmlns:a="http://schemas.openxmlformats.org/drawingml/2006/main">
            <a:r>
              <a:t>第一座是「星海之庫」，探索恆星、行星與深空；</a:t>
            </a:r>
          </a:p>
          <a:p xmlns:a="http://schemas.openxmlformats.org/drawingml/2006/main">
            <a:r>
              <a:t>第二座是「地脈與生命」，談地球、生命與宜居環境；</a:t>
            </a:r>
          </a:p>
          <a:p xmlns:a="http://schemas.openxmlformats.org/drawingml/2006/main">
            <a:r>
              <a:t>第三座是「萬象法則」，整理物理與化學概念；</a:t>
            </a:r>
          </a:p>
          <a:p xmlns:a="http://schemas.openxmlformats.org/drawingml/2006/main">
            <a:r>
              <a:t>第四座是「未來幻夢」，延伸到人工智慧、能源、太空工程與科幻。</a:t>
            </a:r>
          </a:p>
          <a:p xmlns:a="http://schemas.openxmlformats.org/drawingml/2006/main">
            <a:r>
              <a:t/>
            </a:r>
          </a:p>
          <a:p xmlns:a="http://schemas.openxmlformats.org/drawingml/2006/main">
            <a:r>
              <a:t>這四座寶庫有非常清楚的解鎖規則：</a:t>
            </a:r>
          </a:p>
          <a:p xmlns:a="http://schemas.openxmlformats.org/drawingml/2006/main">
            <a:r>
              <a:t>首先，四條路線完全獨立，每條路線都各自包含四個漸進階段。</a:t>
            </a:r>
          </a:p>
          <a:p xmlns:a="http://schemas.openxmlformats.org/drawingml/2006/main">
            <a:r>
              <a:t>在每一個階段中，老人會依序講述五段短講，每段短講後面都附帶一道即時理解題。</a:t>
            </a:r>
          </a:p>
          <a:p xmlns:a="http://schemas.openxmlformats.org/drawingml/2006/main">
            <a:r>
              <a:t>當使用者讀完這五段短講後，就會迎來階段的總結挑戰——「五題複習挑戰」！</a:t>
            </a:r>
          </a:p>
          <a:p xmlns:a="http://schemas.openxmlformats.org/drawingml/2006/main">
            <a:r>
              <a:t>通關的規則非常明確：五題複習測驗中必須答對四題以上，才能成功解鎖下一個階段！</a:t>
            </a:r>
          </a:p>
          <a:p xmlns:a="http://schemas.openxmlformats.org/drawingml/2006/main">
            <a:r>
              <a:t>如果沒有過關，老人會鼓勵你重新複習不懂的概念，隨時可以再次發起挑戰。</a:t>
            </a:r>
          </a:p>
          <a:p xmlns:a="http://schemas.openxmlformats.org/drawingml/2006/main">
            <a:r>
              <a:t/>
            </a:r>
          </a:p>
          <a:p xmlns:a="http://schemas.openxmlformats.org/drawingml/2006/main">
            <a:r>
              <a:t>使用者在學習過程中享有高度自由：你可以隨時停下來追問剛剛提到的專有名詞，隨時切換到別的寶庫逛逛，也可以隨時暫停對話。伺服器端的 SQLite 會妥善記錄你每一條路線的當前進度，下次輸入「繼續」就能無縫接軌。</a:t>
            </a:r>
          </a:p>
          <a:p xmlns:a="http://schemas.openxmlformats.org/drawingml/2006/main">
            <a:r>
              <a:t/>
            </a:r>
          </a:p>
          <a:p xmlns:a="http://schemas.openxmlformats.org/drawingml/2006/main">
            <a:r>
              <a:t>在互動設計上，所有選項都透過 LINE Quick Reply 按鈕呈現。按鈕回傳資料帶有 HMAC 驗證碼；它不是把內容加密，而是讓伺服器檢查資料有沒有被改動。舊題按鈕過期後不能重複作答，也不能把甲使用者的答題按鈕複製給乙使用者使用。</a:t>
            </a:r>
          </a:p>
          <a:p xmlns:a="http://schemas.openxmlformats.org/drawingml/2006/main">
            <a:r>
              <a:t/>
            </a:r>
          </a:p>
          <a:p xmlns:a="http://schemas.openxmlformats.org/drawingml/2006/main">
            <a:r>
              <a:t>【此處預留約十五秒，可進行手機操作示範或讓聽眾觀看簡報上的寶庫結構圖。】</a:t>
            </a:r>
          </a:p>
          <a:p xmlns:a="http://schemas.openxmlformats.org/drawingml/2006/main">
            <a:r>
              <a:t/>
            </a:r>
          </a:p>
          <a:p xmlns:a="http://schemas.openxmlformats.org/drawingml/2006/main">
            <a:r>
              <a:t>資料來源：</a:t>
            </a:r>
          </a:p>
          <a:p xmlns:a="http://schemas.openxmlformats.org/drawingml/2006/main">
            <a:r>
              <a:t>本機 README.md、docs/guided-learning.md、src/eternal_polaris/learning.py、tests/test_learning.py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看到這裡，很多熟悉軟體開發的朋友可能會問：你們怎麼知道這隻機器人在真實上線後，核心流程不會輕易壞掉？</a:t>
            </a:r>
          </a:p>
          <a:p xmlns:a="http://schemas.openxmlformats.org/drawingml/2006/main">
            <a:r>
              <a:t/>
            </a:r>
          </a:p>
          <a:p xmlns:a="http://schemas.openxmlformats.org/drawingml/2006/main">
            <a:r>
              <a:t>對這個專題而言，驗證重點很直接：「當使用者輸入文字、點擊按鈕或重複送出事件時，系統能不能完成正確的流程？」</a:t>
            </a:r>
          </a:p>
          <a:p xmlns:a="http://schemas.openxmlformats.org/drawingml/2006/main">
            <a:r>
              <a:t/>
            </a:r>
          </a:p>
          <a:p xmlns:a="http://schemas.openxmlformats.org/drawingml/2006/main">
            <a:r>
              <a:t>為了回答這個問題，專案建立了本機自動化測試：</a:t>
            </a:r>
          </a:p>
          <a:p xmlns:a="http://schemas.openxmlformats.org/drawingml/2006/main">
            <a:r>
              <a:t>在安全防護層面上，我們驗證了 LINE Webhook 簽章的正確性，測試伺服器是否能精準攔截偽造請求，並在負載過高時優雅回傳 503。</a:t>
            </a:r>
          </a:p>
          <a:p xmlns:a="http://schemas.openxmlformats.org/drawingml/2006/main">
            <a:r>
              <a:t>在並行處理上，我們測試了「同使用者先進先出（FIFO）、跨使用者並行處理」的排程佇列，確保同一個使用者快速連發訊息時不會打架，不同使用者之間也能獨立回應。</a:t>
            </a:r>
          </a:p>
          <a:p xmlns:a="http://schemas.openxmlformats.org/drawingml/2006/main">
            <a:r>
              <a:t>在對話路由上，我們測試了 Help、Quiz、Score、Quit 等關鍵字邊界，確保指令不會互相干擾。</a:t>
            </a:r>
          </a:p>
          <a:p xmlns:a="http://schemas.openxmlformats.org/drawingml/2006/main">
            <a:r>
              <a:t>在題庫結構上，我們逐一驗證了兩百二十道題目的資料格式、選項均勻度與標準答案映射。</a:t>
            </a:r>
          </a:p>
          <a:p xmlns:a="http://schemas.openxmlformats.org/drawingml/2006/main">
            <a:r>
              <a:t>在防竄改機制上，我們測試了 Quick Reply 答案符文的防偽造、防重放與過期時間限制。</a:t>
            </a:r>
          </a:p>
          <a:p xmlns:a="http://schemas.openxmlformats.org/drawingml/2006/main">
            <a:r>
              <a:t>在導引學習上，我們測試了四座寶庫的 SQLite 交易狀態切換，確保使用者的解鎖進度不會因中途斷線而錯亂。</a:t>
            </a:r>
          </a:p>
          <a:p xmlns:a="http://schemas.openxmlformats.org/drawingml/2006/main">
            <a:r>
              <a:t/>
            </a:r>
          </a:p>
          <a:p xmlns:a="http://schemas.openxmlformats.org/drawingml/2006/main">
            <a:r>
              <a:t>至於線上模型的整合部分，在 2026 年 9 月 8 日的測試紀錄中，Gemma 4 26B A4B 在本機完成過四次真實聊天對話的煙霧測試（Smoke test）。</a:t>
            </a:r>
          </a:p>
          <a:p xmlns:a="http://schemas.openxmlformats.org/drawingml/2006/main">
            <a:r>
              <a:t>這裡我必須非常客觀地說明：這四次成功紀錄只證明在九月八日當天這四次嘗試中，這條通訊鏈路是順利通暢的，它不代表外部雲端 API 永遠具備零故障的可用性。因此在正式公開展示的當天早晨，我們依然會在現場重新執行一次實機連線驗證。</a:t>
            </a:r>
          </a:p>
          <a:p xmlns:a="http://schemas.openxmlformats.org/drawingml/2006/main">
            <a:r>
              <a:t/>
            </a:r>
          </a:p>
          <a:p xmlns:a="http://schemas.openxmlformats.org/drawingml/2006/main">
            <a:r>
              <a:t>這些結果代表主要流程已有可重跑的檢查；正式展示前，仍會再確認手機、LINE Webhook 與 Google API 的整條路徑。</a:t>
            </a:r>
          </a:p>
          <a:p xmlns:a="http://schemas.openxmlformats.org/drawingml/2006/main">
            <a:r>
              <a:t/>
            </a:r>
          </a:p>
          <a:p xmlns:a="http://schemas.openxmlformats.org/drawingml/2006/main">
            <a:r>
              <a:t>資料來源：</a:t>
            </a:r>
          </a:p>
          <a:p xmlns:a="http://schemas.openxmlformats.org/drawingml/2006/main">
            <a:r>
              <a:t>本機 README.md、tests/</a:t>
            </a:r>
          </a:p>
          <a:p xmlns:a="http://schemas.openxmlformats.org/drawingml/2006/main">
            <a:r>
              <a:t>README 2026-09-08：gemma-4-26b-a4b-it 四次真實聊天 smoke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隨著系統各個模組陸續到位，我們來總結目前已經具備的成果，以及未來要繼續補齊的拼圖。</a:t>
            </a:r>
          </a:p>
          <a:p xmlns:a="http://schemas.openxmlformats.org/drawingml/2006/main">
            <a:r>
              <a:t/>
            </a:r>
          </a:p>
          <a:p xmlns:a="http://schemas.openxmlformats.org/drawingml/2006/main">
            <a:r>
              <a:t>在專案完成度方面：</a:t>
            </a:r>
          </a:p>
          <a:p xmlns:a="http://schemas.openxmlformats.org/drawingml/2006/main">
            <a:r>
              <a:t>我們成功在 LINE 上打造出一個具備一致人格、溫和耐心的年長科學引路人；</a:t>
            </a:r>
          </a:p>
          <a:p xmlns:a="http://schemas.openxmlformats.org/drawingml/2006/main">
            <a:r>
              <a:t>建立了「本機高信心卡片」與「Google Gemma 開源模型」的雙路徑架構；</a:t>
            </a:r>
          </a:p>
          <a:p xmlns:a="http://schemas.openxmlformats.org/drawingml/2006/main">
            <a:r>
              <a:t>完成了涵蓋二十個主題、具備兩百二十道題目的防竄改測驗系統；</a:t>
            </a:r>
          </a:p>
          <a:p xmlns:a="http://schemas.openxmlformats.org/drawingml/2006/main">
            <a:r>
              <a:t>實現了四座獨立寶庫、十六個階段、八十段微課程的伺服器端導引學習；</a:t>
            </a:r>
          </a:p>
          <a:p xmlns:a="http://schemas.openxmlformats.org/drawingml/2006/main">
            <a:r>
              <a:t>並且用自動化測試檢查通訊、題庫、按鈕與資料交易。</a:t>
            </a:r>
          </a:p>
          <a:p xmlns:a="http://schemas.openxmlformats.org/drawingml/2006/main">
            <a:r>
              <a:t/>
            </a:r>
          </a:p>
          <a:p xmlns:a="http://schemas.openxmlformats.org/drawingml/2006/main">
            <a:r>
              <a:t>但身為一名開發者，我也非常清楚系統還有許多可以繼續前進的方向。未來我們預計投入的具體工作包括：</a:t>
            </a:r>
          </a:p>
          <a:p xmlns:a="http://schemas.openxmlformats.org/drawingml/2006/main">
            <a:r>
              <a:t>第一，手機實機的端到端完整展示：雖然本機測試全部通過，但在不同廠牌手機螢幕大小與網路延遲下，Quick Reply 的排版與按鈕點擊手感仍需要進一步打磨。</a:t>
            </a:r>
          </a:p>
          <a:p xmlns:a="http://schemas.openxmlformats.org/drawingml/2006/main">
            <a:r>
              <a:t>第二，展示當天的 API 即時驗證：在每一次正式 Demo 前，建立自動化的健康檢查腳本，確保外部模型端點在線。</a:t>
            </a:r>
          </a:p>
          <a:p xmlns:a="http://schemas.openxmlformats.org/drawingml/2006/main">
            <a:r>
              <a:t>第三，真實使用者回饋蒐集：邀請更多對天文感興趣的國高中生進行試用，看看八十段導引教材的閱讀節奏是否舒適、解說是否夠生動。</a:t>
            </a:r>
          </a:p>
          <a:p xmlns:a="http://schemas.openxmlformats.org/drawingml/2006/main">
            <a:r>
              <a:t>第四，正式部署與備份：目前系統運行在本機開發環境並透過 ngrok 對外連線，未來若公開使用，就需要穩定的主機與 SQLite 備份機制。</a:t>
            </a:r>
          </a:p>
          <a:p xmlns:a="http://schemas.openxmlformats.org/drawingml/2006/main">
            <a:r>
              <a:t>第五，隱私權政策與負載測試：正式向公眾開放前，需要補上服務條款與隱私說明，也要測試多人同時使用時系統是否穩定。</a:t>
            </a:r>
          </a:p>
          <a:p xmlns:a="http://schemas.openxmlformats.org/drawingml/2006/main">
            <a:r>
              <a:t/>
            </a:r>
          </a:p>
          <a:p xmlns:a="http://schemas.openxmlformats.org/drawingml/2006/main">
            <a:r>
              <a:t>我們一步一腳印地把基礎打穩，期許這隻機器人能在未來的每一次對話中，真正點燃使用者心中的科學火花。</a:t>
            </a:r>
          </a:p>
          <a:p xmlns:a="http://schemas.openxmlformats.org/drawingml/2006/main">
            <a:r>
              <a:t/>
            </a:r>
          </a:p>
          <a:p xmlns:a="http://schemas.openxmlformats.org/drawingml/2006/main">
            <a:r>
              <a:t>資料來源：</a:t>
            </a:r>
          </a:p>
          <a:p xmlns:a="http://schemas.openxmlformats.org/drawingml/2006/main">
            <a:r>
              <a:t>https://github.com/Gale0418/SFLINE_BOT</a:t>
            </a:r>
          </a:p>
          <a:p xmlns:a="http://schemas.openxmlformats.org/drawingml/2006/main">
            <a:r>
              <a:t>本機 README.md、docs/guided-learning.md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最後，請大家參考第十一頁的參考資料清單。這份清單完整記錄了我們整份簡報中各個技術點與科學事實的查證出處：</a:t>
            </a:r>
          </a:p>
          <a:p xmlns:a="http://schemas.openxmlformats.org/drawingml/2006/main">
            <a:r>
              <a:t/>
            </a:r>
          </a:p>
          <a:p xmlns:a="http://schemas.openxmlformats.org/drawingml/2006/main">
            <a:r>
              <a:t>第一項，對應第三頁（P3）的冥王星地貌與矮行星分類，我們引用 NASA 官方的 Pluto Facts 與新視野號探測任務公開科學資料。</a:t>
            </a:r>
          </a:p>
          <a:p xmlns:a="http://schemas.openxmlformats.org/drawingml/2006/main">
            <a:r>
              <a:t>第二項，對應第四頁（P4）的產品分析，我們參考了 Google Labs NotebookLM 與 Kahoot! 的官方系統說明，梳理出非同步隨身對話與結構化闖關的定位優勢。</a:t>
            </a:r>
          </a:p>
          <a:p xmlns:a="http://schemas.openxmlformats.org/drawingml/2006/main">
            <a:r>
              <a:t>第三項，對應第五頁（P5）的系統架構，所有 Webhook 簽章驗證、單次 reply token 與事件去重邏輯，均嚴格遵循 LINE Developers 官方技術文件。</a:t>
            </a:r>
          </a:p>
          <a:p xmlns:a="http://schemas.openxmlformats.org/drawingml/2006/main">
            <a:r>
              <a:t>第四項，對應第六頁與第八頁（P6、P8）的知識資產與四座寶庫，所有的七十六張知識卡、兩百二十題 TSV 題庫、八十段導引教材與 SQLite 資料庫綱要，均完整開源於 GitHub 專案儲存庫中。</a:t>
            </a:r>
          </a:p>
          <a:p xmlns:a="http://schemas.openxmlformats.org/drawingml/2006/main">
            <a:r>
              <a:t>第五項，對應第七頁（P7）的開源模型調用，雙供應商架構與 Gemma 4 26B 的提示詞契約，均依據 Google AI 官方 Gemma on Gemini Developer API 指南設計。</a:t>
            </a:r>
          </a:p>
          <a:p xmlns:a="http://schemas.openxmlformats.org/drawingml/2006/main">
            <a:r>
              <a:t>第六項，對應第九頁（P9）的系統驗證，測試範圍與 2026 年 9 月 8 日的四次真實對話紀錄，依據專案 README 與測試程式整理。</a:t>
            </a:r>
          </a:p>
          <a:p xmlns:a="http://schemas.openxmlformats.org/drawingml/2006/main">
            <a:r>
              <a:t/>
            </a:r>
          </a:p>
          <a:p xmlns:a="http://schemas.openxmlformats.org/drawingml/2006/main">
            <a:r>
              <a:t>這套系統的所有程式碼、題庫文本與架構文件皆已公開在 GitHub 上。希望這座小小的星空寶庫，能在未來陪伴每一位抬頭仰望星空的朋友，一起找到屬於自己的好奇心答案。</a:t>
            </a:r>
          </a:p>
          <a:p xmlns:a="http://schemas.openxmlformats.org/drawingml/2006/main">
            <a:r>
              <a:t/>
            </a:r>
          </a:p>
          <a:p xmlns:a="http://schemas.openxmlformats.org/drawingml/2006/main">
            <a:r>
              <a:t>以上是我的專題報告，非常感謝各位老師與同學的聆聽，請各位老師多加指教！</a:t>
            </a:r>
          </a:p>
          <a:p xmlns:a="http://schemas.openxmlformats.org/drawingml/2006/main">
            <a:r>
              <a:t/>
            </a:r>
          </a:p>
          <a:p xmlns:a="http://schemas.openxmlformats.org/drawingml/2006/main">
            <a:r>
              <a:t>資料來源：</a:t>
            </a:r>
          </a:p>
          <a:p xmlns:a="http://schemas.openxmlformats.org/drawingml/2006/main">
            <a:r>
              <a:t>P3: https://science.nasa.gov/dwarf-planets/pluto/ (NASA Pluto Facts)</a:t>
            </a:r>
          </a:p>
          <a:p xmlns:a="http://schemas.openxmlformats.org/drawingml/2006/main">
            <a:r>
              <a:t>P4: https://blog.google/innovation-and-ai/models-and-research/google-labs/notebooklm-discover-sources/ (NotebookLM 官方介紹)</a:t>
            </a:r>
          </a:p>
          <a:p xmlns:a="http://schemas.openxmlformats.org/drawingml/2006/main">
            <a:r>
              <a:t>P4: https://kahoot.com/schools/how-it-works/ (Kahoot! 運作機制)</a:t>
            </a:r>
          </a:p>
          <a:p xmlns:a="http://schemas.openxmlformats.org/drawingml/2006/main">
            <a:r>
              <a:t>P5: https://developers.line.biz/en/docs/messaging-api/receiving-messages/ (LINE Messaging API Webhook)</a:t>
            </a:r>
          </a:p>
          <a:p xmlns:a="http://schemas.openxmlformats.org/drawingml/2006/main">
            <a:r>
              <a:t>P7: https://ai.google.dev/gemma/docs/core/gemma_on_gemini_api (Gemma on Gemini Developer API)</a:t>
            </a:r>
          </a:p>
          <a:p xmlns:a="http://schemas.openxmlformats.org/drawingml/2006/main">
            <a:r>
              <a:t>P5/P6/P8/P10: https://github.com/Gale0418/SFLINE_BOT (README、專案程式、題庫資料與 docs/guided-learning.md)</a:t>
            </a:r>
          </a:p>
          <a:p xmlns:a="http://schemas.openxmlformats.org/drawingml/2006/main">
            <a:r>
              <a:t>P9: 本機 README.md 與 tests/（主要流程測試範圍、2026-09-08 四次真實聊天紀錄）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2d8f113f6944b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b612c54dcd439f" /><Relationship Type="http://schemas.openxmlformats.org/officeDocument/2006/relationships/slideLayout" Target="/ppt/slideLayouts/slideLayout1.xml" Id="R40d9e58c042f4e0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d9e58c042f4e0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f6ef4e6f7f14c0a" /><Relationship Type="http://schemas.openxmlformats.org/officeDocument/2006/relationships/image" Target="/ppt/media/image.png" Id="R253fdb4659aa4267" /><Relationship Type="http://schemas.openxmlformats.org/officeDocument/2006/relationships/notesSlide" Target="/ppt/notesSlides/notesSlide1.xml" Id="R0380d89d9dbf4fd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96cf4b3b6084469" /><Relationship Type="http://schemas.openxmlformats.org/officeDocument/2006/relationships/notesSlide" Target="/ppt/notesSlides/notesSlide2.xml" Id="R17d383091d34456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ca5f04b37bd49d0" /><Relationship Type="http://schemas.openxmlformats.org/officeDocument/2006/relationships/image" Target="/ppt/media/image2.png" Id="R1cdef5c9fda84f78" /><Relationship Type="http://schemas.openxmlformats.org/officeDocument/2006/relationships/notesSlide" Target="/ppt/notesSlides/notesSlide3.xml" Id="R3cb03416a17945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653d059c4344672" /><Relationship Type="http://schemas.openxmlformats.org/officeDocument/2006/relationships/notesSlide" Target="/ppt/notesSlides/notesSlide4.xml" Id="R869b0137a79a4bb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5d4379296b5428b" /><Relationship Type="http://schemas.openxmlformats.org/officeDocument/2006/relationships/notesSlide" Target="/ppt/notesSlides/notesSlide5.xml" Id="R04a1157586d94c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cbcb2dc3e6b4b27" /><Relationship Type="http://schemas.openxmlformats.org/officeDocument/2006/relationships/chart" Target="/ppt/slides/charts/chart1.xml" Id="R2e8610f9f1004b7d" /><Relationship Type="http://schemas.openxmlformats.org/officeDocument/2006/relationships/notesSlide" Target="/ppt/notesSlides/notesSlide6.xml" Id="R8e2b1b3ce0b6485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14362f479d0458e" /><Relationship Type="http://schemas.openxmlformats.org/officeDocument/2006/relationships/notesSlide" Target="/ppt/notesSlides/notesSlide7.xml" Id="R9fa146d6ec414a6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7641b7232874f74" /><Relationship Type="http://schemas.openxmlformats.org/officeDocument/2006/relationships/notesSlide" Target="/ppt/notesSlides/notesSlide8.xml" Id="R5509b1b95966457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b9ce253772547fc" /><Relationship Type="http://schemas.openxmlformats.org/officeDocument/2006/relationships/notesSlide" Target="/ppt/notesSlides/notesSlide9.xml" Id="R0c0a8d589a86415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0f272af358d4a2a" /><Relationship Type="http://schemas.openxmlformats.org/officeDocument/2006/relationships/notesSlide" Target="/ppt/notesSlides/notesSlide10.xml" Id="R42bf365825274ca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9004d27c79b4a3e" /><Relationship Type="http://schemas.openxmlformats.org/officeDocument/2006/relationships/notesSlide" Target="/ppt/notesSlides/notesSlide11.xml" Id="R94425934038c4f4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題數</c:v>
          </c:tx>
          <c:spPr>
            <a:solidFill xmlns:a="http://schemas.openxmlformats.org/drawingml/2006/main">
              <a:srgbClr val="843C46"/>
            </a:solidFill>
          </c:spPr>
          <c:cat>
            <c:strRef>
              <c:f>'Chart Data'!$A$2:$A$5</c:f>
              <c:strCache>
                <c:ptCount val="4"/>
                <c:pt idx="0">
                  <c:v>星海</c:v>
                </c:pt>
                <c:pt idx="1">
                  <c:v>地脈與生命</c:v>
                </c:pt>
                <c:pt idx="2">
                  <c:v>萬象法則</c:v>
                </c:pt>
                <c:pt idx="3">
                  <c:v>未來幻夢</c:v>
                </c:pt>
              </c:strCache>
            </c:strRef>
          </c:cat>
          <c:val>
            <c:numRef>
              <c:f>'Chart Data'!$B$2:$B$5</c:f>
              <c:numCache>
                <c:formatCode>General</c:formatCode>
                <c:ptCount val="4"/>
                <c:pt idx="0">
                  <c:v>106</c:v>
                </c:pt>
                <c:pt idx="1">
                  <c:v>37</c:v>
                </c:pt>
                <c:pt idx="2">
                  <c:v>30</c:v>
                </c:pt>
                <c:pt idx="3">
                  <c:v>47</c:v>
                </c:pt>
              </c:numCache>
            </c:numRef>
          </c:val>
        </c:ser>
        <c:dLbls>
          <c:txPr>
            <a:bodyPr xmlns:a="http://schemas.openxmlformats.org/drawingml/2006/main" anchorCtr="1"/>
            <a:lstStyle xmlns:a="http://schemas.openxmlformats.org/drawingml/2006/main"/>
            <a:p xmlns:a="http://schemas.openxmlformats.org/drawingml/2006/main">
              <a:pPr>
                <a:defRPr sz="1575">
                  <a:solidFill>
                    <a:srgbClr val="242830"/>
                  </a:solidFill>
                  <a:latin typeface="Microsoft JhengHei"/>
                  <a:ea typeface="Microsoft JhengHei"/>
                  <a:cs typeface="Microsoft JhengHei"/>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242830"/>
                </a:solidFill>
                <a:latin typeface="Microsoft JhengHei"/>
                <a:ea typeface="Microsoft JhengHei"/>
                <a:cs typeface="Microsoft JhengHei"/>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242830"/>
                </a:solidFill>
                <a:latin typeface="Microsoft JhengHei"/>
                <a:ea typeface="Microsoft JhengHei"/>
                <a:cs typeface="Microsoft JhengHei"/>
              </a:defRPr>
            </a:pPr>
          </a:p>
        </c:txPr>
        <c:crossAx val="48650112"/>
        <c:crossBetween val="between"/>
      </c:valAx>
      <c:spPr>
        <a:solidFill xmlns:a="http://schemas.openxmlformats.org/drawingml/2006/main">
          <a:srgbClr val="F7F5F0"/>
        </a:solidFill>
      </c:spPr>
    </c:plotArea>
    <c:plotVisOnly val="1"/>
  </c:chart>
  <c:spPr>
    <a:solidFill xmlns:a="http://schemas.openxmlformats.org/drawingml/2006/main">
      <a:srgbClr val="F7F5F0"/>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4283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253fdb4659aa426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8CAEFBB-3987-4740-979B-C60BFF1E6B47}"/>
              </a:ext>
            </a:extLst>
          </p:cNvPr>
          <p:cNvSpPr>
            <a:spLocks xmlns:a="http://schemas.openxmlformats.org/drawingml/2006/main" noGrp="1"/>
          </p:cNvSpPr>
          <p:nvPr/>
        </p:nvSpPr>
        <p:spPr>
          <a:xfrm xmlns:a="http://schemas.openxmlformats.org/drawingml/2006/main">
            <a:off x="685800" y="1504950"/>
            <a:ext cx="657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700" b="1">
                <a:solidFill>
                  <a:srgbClr val="F7F5F0"/>
                </a:solidFill>
                <a:latin typeface="Microsoft JhengHei"/>
                <a:ea typeface="Microsoft JhengHei"/>
                <a:cs typeface="Microsoft JhengHei"/>
              </a:defRPr>
            </a:pPr>
            <a:r>
              <a:rPr sz="5700" b="1">
                <a:solidFill>
                  <a:srgbClr val="F7F5F0"/>
                </a:solidFill>
                <a:latin typeface="Microsoft JhengHei"/>
                <a:ea typeface="Microsoft JhengHei"/>
                <a:cs typeface="Microsoft JhengHei"/>
              </a:rPr>
              <a:t>永恆北極星</a:t>
            </a:r>
          </a:p>
        </p:txBody>
      </p:sp>
      <p:sp>
        <p:nvSpPr>
          <p:cNvPr id="3" name="">
            <a:extLst xmlns:a="http://schemas.openxmlformats.org/drawingml/2006/main">
              <a:ext uri="{FF2B5EF4-FFF2-40B4-BE49-F238E27FC236}">
                <a16:creationId xmlns:a16="http://schemas.microsoft.com/office/drawing/2014/main" id="{251096A6-DC6D-43EE-BB26-9E824D6EF888}"/>
              </a:ext>
            </a:extLst>
          </p:cNvPr>
          <p:cNvSpPr>
            <a:spLocks xmlns:a="http://schemas.openxmlformats.org/drawingml/2006/main" noGrp="1"/>
          </p:cNvSpPr>
          <p:nvPr/>
        </p:nvSpPr>
        <p:spPr>
          <a:xfrm xmlns:a="http://schemas.openxmlformats.org/drawingml/2006/main">
            <a:off x="742950" y="2828925"/>
            <a:ext cx="70961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F7F5F0"/>
                </a:solidFill>
                <a:latin typeface="Microsoft JhengHei"/>
                <a:ea typeface="Microsoft JhengHei"/>
                <a:cs typeface="Microsoft JhengHei"/>
              </a:defRPr>
            </a:pPr>
            <a:r>
              <a:rPr sz="2175" b="0">
                <a:solidFill>
                  <a:srgbClr val="F7F5F0"/>
                </a:solidFill>
                <a:latin typeface="Microsoft JhengHei"/>
                <a:ea typeface="Microsoft JhengHei"/>
                <a:cs typeface="Microsoft JhengHei"/>
              </a:rPr>
              <a:t>LINE 科學問答、四座寶庫與導引式學習</a:t>
            </a:r>
          </a:p>
        </p:txBody>
      </p:sp>
      <p:sp>
        <p:nvSpPr>
          <p:cNvPr id="4" name="">
            <a:extLst xmlns:a="http://schemas.openxmlformats.org/drawingml/2006/main">
              <a:ext uri="{FF2B5EF4-FFF2-40B4-BE49-F238E27FC236}">
                <a16:creationId xmlns:a16="http://schemas.microsoft.com/office/drawing/2014/main" id="{ED7585ED-30BD-41E0-A52C-ACA2929BD398}"/>
              </a:ext>
            </a:extLst>
          </p:cNvPr>
          <p:cNvSpPr>
            <a:spLocks xmlns:a="http://schemas.openxmlformats.org/drawingml/2006/main" noGrp="1"/>
          </p:cNvSpPr>
          <p:nvPr/>
        </p:nvSpPr>
        <p:spPr>
          <a:xfrm xmlns:a="http://schemas.openxmlformats.org/drawingml/2006/main">
            <a:off x="742950" y="3943350"/>
            <a:ext cx="1104900" cy="47625"/>
          </a:xfrm>
          <a:prstGeom xmlns:a="http://schemas.openxmlformats.org/drawingml/2006/main" prst="rect">
            <a:avLst/>
          </a:prstGeom>
          <a:solidFill xmlns:a="http://schemas.openxmlformats.org/drawingml/2006/main">
            <a:srgbClr val="D5B9AD"/>
          </a:solidFill>
          <a:ln xmlns:a="http://schemas.openxmlformats.org/drawingml/2006/main" w="0">
            <a:solidFill>
              <a:srgbClr val="D5B9AD"/>
            </a:solidFill>
          </a:ln>
        </p:spPr>
      </p:sp>
      <p:sp>
        <p:nvSpPr>
          <p:cNvPr id="5" name="">
            <a:extLst xmlns:a="http://schemas.openxmlformats.org/drawingml/2006/main">
              <a:ext uri="{FF2B5EF4-FFF2-40B4-BE49-F238E27FC236}">
                <a16:creationId xmlns:a16="http://schemas.microsoft.com/office/drawing/2014/main" id="{9AF3BF61-683E-4632-916B-7F36A72F2F1B}"/>
              </a:ext>
            </a:extLst>
          </p:cNvPr>
          <p:cNvSpPr>
            <a:spLocks xmlns:a="http://schemas.openxmlformats.org/drawingml/2006/main" noGrp="1"/>
          </p:cNvSpPr>
          <p:nvPr/>
        </p:nvSpPr>
        <p:spPr>
          <a:xfrm xmlns:a="http://schemas.openxmlformats.org/drawingml/2006/main">
            <a:off x="742950" y="4286250"/>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半導體 AI 課程專題報告</a:t>
            </a:r>
          </a:p>
          <a:p xmlns:a="http://schemas.openxmlformats.org/drawingml/2006/main">
            <a:pPr algn="l">
              <a:defRPr sz="1650" b="0">
                <a:solidFill>
                  <a:srgbClr val="D5B9AD"/>
                </a:solidFill>
                <a:latin typeface="Microsoft JhengHei"/>
                <a:ea typeface="Microsoft JhengHei"/>
                <a:cs typeface="Microsoft JhengHei"/>
              </a:defRPr>
            </a:pPr>
            <a:r>
              <a:rPr sz="1650" b="0">
                <a:solidFill>
                  <a:srgbClr val="D5B9AD"/>
                </a:solidFill>
                <a:latin typeface="Microsoft JhengHei"/>
                <a:ea typeface="Microsoft JhengHei"/>
                <a:cs typeface="Microsoft JhengHei"/>
              </a:rPr>
              <a:t>2026 年 9 月</a:t>
            </a:r>
          </a:p>
        </p:txBody>
      </p:sp>
    </p:spTree>
    <p:extLst>
      <p:ext uri="{BB962C8B-B14F-4D97-AF65-F5344CB8AC3E}">
        <p14:creationId xmlns:p14="http://schemas.microsoft.com/office/powerpoint/2010/main" val="802550855"/>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F8197CD0-E35D-4A15-8CCF-14BB4AA0C56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報告大綱</a:t>
            </a:r>
          </a:p>
        </p:txBody>
      </p:sp>
      <p:sp>
        <p:nvSpPr>
          <p:cNvPr id="2" name="">
            <a:extLst xmlns:a="http://schemas.openxmlformats.org/drawingml/2006/main">
              <a:ext uri="{FF2B5EF4-FFF2-40B4-BE49-F238E27FC236}">
                <a16:creationId xmlns:a16="http://schemas.microsoft.com/office/drawing/2014/main" id="{166B522B-F0C3-42B2-B6C7-4166AC3ADF69}"/>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02</a:t>
            </a:r>
          </a:p>
        </p:txBody>
      </p:sp>
      <p:sp>
        <p:nvSpPr>
          <p:cNvPr id="3" name="">
            <a:extLst xmlns:a="http://schemas.openxmlformats.org/drawingml/2006/main">
              <a:ext uri="{FF2B5EF4-FFF2-40B4-BE49-F238E27FC236}">
                <a16:creationId xmlns:a16="http://schemas.microsoft.com/office/drawing/2014/main" id="{5EDFA9BF-BD57-4E19-958E-90329ABF6619}"/>
              </a:ext>
            </a:extLst>
          </p:cNvPr>
          <p:cNvSpPr>
            <a:spLocks xmlns:a="http://schemas.openxmlformats.org/drawingml/2006/main" noGrp="1"/>
          </p:cNvSpPr>
          <p:nvPr/>
        </p:nvSpPr>
        <p:spPr>
          <a:xfrm xmlns:a="http://schemas.openxmlformats.org/drawingml/2006/main">
            <a:off x="685800" y="13239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五個部分，從動機走到可展示的系統</a:t>
            </a:r>
          </a:p>
        </p:txBody>
      </p:sp>
      <p:sp>
        <p:nvSpPr>
          <p:cNvPr id="4" name="">
            <a:extLst xmlns:a="http://schemas.openxmlformats.org/drawingml/2006/main">
              <a:ext uri="{FF2B5EF4-FFF2-40B4-BE49-F238E27FC236}">
                <a16:creationId xmlns:a16="http://schemas.microsoft.com/office/drawing/2014/main" id="{CDD8F2C0-9739-403A-8114-70146F2E6E05}"/>
              </a:ext>
            </a:extLst>
          </p:cNvPr>
          <p:cNvSpPr>
            <a:spLocks xmlns:a="http://schemas.openxmlformats.org/drawingml/2006/main" noGrp="1"/>
          </p:cNvSpPr>
          <p:nvPr/>
        </p:nvSpPr>
        <p:spPr>
          <a:xfrm xmlns:a="http://schemas.openxmlformats.org/drawingml/2006/main">
            <a:off x="1238250" y="3209925"/>
            <a:ext cx="9572625"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A36B918D-71BC-44EA-B5D0-3E3DBB3C9D85}"/>
              </a:ext>
            </a:extLst>
          </p:cNvPr>
          <p:cNvSpPr>
            <a:spLocks xmlns:a="http://schemas.openxmlformats.org/drawingml/2006/main" noGrp="1"/>
          </p:cNvSpPr>
          <p:nvPr/>
        </p:nvSpPr>
        <p:spPr>
          <a:xfrm xmlns:a="http://schemas.openxmlformats.org/drawingml/2006/main">
            <a:off x="9906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B3F17376-936E-44C1-81D2-2840F2D7C4BD}"/>
              </a:ext>
            </a:extLst>
          </p:cNvPr>
          <p:cNvSpPr>
            <a:spLocks xmlns:a="http://schemas.openxmlformats.org/drawingml/2006/main" noGrp="1"/>
          </p:cNvSpPr>
          <p:nvPr/>
        </p:nvSpPr>
        <p:spPr>
          <a:xfrm xmlns:a="http://schemas.openxmlformats.org/drawingml/2006/main">
            <a:off x="11906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01</a:t>
            </a:r>
          </a:p>
        </p:txBody>
      </p:sp>
      <p:sp>
        <p:nvSpPr>
          <p:cNvPr id="7" name="">
            <a:extLst xmlns:a="http://schemas.openxmlformats.org/drawingml/2006/main">
              <a:ext uri="{FF2B5EF4-FFF2-40B4-BE49-F238E27FC236}">
                <a16:creationId xmlns:a16="http://schemas.microsoft.com/office/drawing/2014/main" id="{22A7365D-731D-467B-B95D-049F283D12E7}"/>
              </a:ext>
            </a:extLst>
          </p:cNvPr>
          <p:cNvSpPr>
            <a:spLocks xmlns:a="http://schemas.openxmlformats.org/drawingml/2006/main" noGrp="1"/>
          </p:cNvSpPr>
          <p:nvPr/>
        </p:nvSpPr>
        <p:spPr>
          <a:xfrm xmlns:a="http://schemas.openxmlformats.org/drawingml/2006/main">
            <a:off x="6381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背景與目標</a:t>
            </a:r>
          </a:p>
        </p:txBody>
      </p:sp>
      <p:sp>
        <p:nvSpPr>
          <p:cNvPr id="8" name="">
            <a:extLst xmlns:a="http://schemas.openxmlformats.org/drawingml/2006/main">
              <a:ext uri="{FF2B5EF4-FFF2-40B4-BE49-F238E27FC236}">
                <a16:creationId xmlns:a16="http://schemas.microsoft.com/office/drawing/2014/main" id="{F05C7425-B52A-4216-9CBC-323F467DACF7}"/>
              </a:ext>
            </a:extLst>
          </p:cNvPr>
          <p:cNvSpPr>
            <a:spLocks xmlns:a="http://schemas.openxmlformats.org/drawingml/2006/main" noGrp="1"/>
          </p:cNvSpPr>
          <p:nvPr/>
        </p:nvSpPr>
        <p:spPr>
          <a:xfrm xmlns:a="http://schemas.openxmlformats.org/drawingml/2006/main">
            <a:off x="4762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為什麼想做</a:t>
            </a:r>
          </a:p>
        </p:txBody>
      </p:sp>
      <p:sp>
        <p:nvSpPr>
          <p:cNvPr id="9" name="">
            <a:extLst xmlns:a="http://schemas.openxmlformats.org/drawingml/2006/main">
              <a:ext uri="{FF2B5EF4-FFF2-40B4-BE49-F238E27FC236}">
                <a16:creationId xmlns:a16="http://schemas.microsoft.com/office/drawing/2014/main" id="{88651490-8E97-41F4-9B7D-D8E87CC285B5}"/>
              </a:ext>
            </a:extLst>
          </p:cNvPr>
          <p:cNvSpPr>
            <a:spLocks xmlns:a="http://schemas.openxmlformats.org/drawingml/2006/main" noGrp="1"/>
          </p:cNvSpPr>
          <p:nvPr/>
        </p:nvSpPr>
        <p:spPr>
          <a:xfrm xmlns:a="http://schemas.openxmlformats.org/drawingml/2006/main">
            <a:off x="32004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791B9B95-55E5-4925-99D5-FF7EE229F9D2}"/>
              </a:ext>
            </a:extLst>
          </p:cNvPr>
          <p:cNvSpPr>
            <a:spLocks xmlns:a="http://schemas.openxmlformats.org/drawingml/2006/main" noGrp="1"/>
          </p:cNvSpPr>
          <p:nvPr/>
        </p:nvSpPr>
        <p:spPr>
          <a:xfrm xmlns:a="http://schemas.openxmlformats.org/drawingml/2006/main">
            <a:off x="34004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02</a:t>
            </a:r>
          </a:p>
        </p:txBody>
      </p:sp>
      <p:sp>
        <p:nvSpPr>
          <p:cNvPr id="11" name="">
            <a:extLst xmlns:a="http://schemas.openxmlformats.org/drawingml/2006/main">
              <a:ext uri="{FF2B5EF4-FFF2-40B4-BE49-F238E27FC236}">
                <a16:creationId xmlns:a16="http://schemas.microsoft.com/office/drawing/2014/main" id="{12FB5A09-C4C8-4424-A7C2-61711C044CA1}"/>
              </a:ext>
            </a:extLst>
          </p:cNvPr>
          <p:cNvSpPr>
            <a:spLocks xmlns:a="http://schemas.openxmlformats.org/drawingml/2006/main" noGrp="1"/>
          </p:cNvSpPr>
          <p:nvPr/>
        </p:nvSpPr>
        <p:spPr>
          <a:xfrm xmlns:a="http://schemas.openxmlformats.org/drawingml/2006/main">
            <a:off x="28479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工具與情境</a:t>
            </a:r>
          </a:p>
        </p:txBody>
      </p:sp>
      <p:sp>
        <p:nvSpPr>
          <p:cNvPr id="12" name="">
            <a:extLst xmlns:a="http://schemas.openxmlformats.org/drawingml/2006/main">
              <a:ext uri="{FF2B5EF4-FFF2-40B4-BE49-F238E27FC236}">
                <a16:creationId xmlns:a16="http://schemas.microsoft.com/office/drawing/2014/main" id="{D252C058-F9F5-41C2-A1D3-A133D9F42593}"/>
              </a:ext>
            </a:extLst>
          </p:cNvPr>
          <p:cNvSpPr>
            <a:spLocks xmlns:a="http://schemas.openxmlformats.org/drawingml/2006/main" noGrp="1"/>
          </p:cNvSpPr>
          <p:nvPr/>
        </p:nvSpPr>
        <p:spPr>
          <a:xfrm xmlns:a="http://schemas.openxmlformats.org/drawingml/2006/main">
            <a:off x="26860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與相關產品</a:t>
            </a:r>
          </a:p>
        </p:txBody>
      </p:sp>
      <p:sp>
        <p:nvSpPr>
          <p:cNvPr id="13" name="">
            <a:extLst xmlns:a="http://schemas.openxmlformats.org/drawingml/2006/main">
              <a:ext uri="{FF2B5EF4-FFF2-40B4-BE49-F238E27FC236}">
                <a16:creationId xmlns:a16="http://schemas.microsoft.com/office/drawing/2014/main" id="{FE51385F-A27D-4033-AE1F-C683D90D6E3E}"/>
              </a:ext>
            </a:extLst>
          </p:cNvPr>
          <p:cNvSpPr>
            <a:spLocks xmlns:a="http://schemas.openxmlformats.org/drawingml/2006/main" noGrp="1"/>
          </p:cNvSpPr>
          <p:nvPr/>
        </p:nvSpPr>
        <p:spPr>
          <a:xfrm xmlns:a="http://schemas.openxmlformats.org/drawingml/2006/main">
            <a:off x="54102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3E0D985A-DB27-4035-925D-298D90EC8AD2}"/>
              </a:ext>
            </a:extLst>
          </p:cNvPr>
          <p:cNvSpPr>
            <a:spLocks xmlns:a="http://schemas.openxmlformats.org/drawingml/2006/main" noGrp="1"/>
          </p:cNvSpPr>
          <p:nvPr/>
        </p:nvSpPr>
        <p:spPr>
          <a:xfrm xmlns:a="http://schemas.openxmlformats.org/drawingml/2006/main">
            <a:off x="56102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03</a:t>
            </a:r>
          </a:p>
        </p:txBody>
      </p:sp>
      <p:sp>
        <p:nvSpPr>
          <p:cNvPr id="15" name="">
            <a:extLst xmlns:a="http://schemas.openxmlformats.org/drawingml/2006/main">
              <a:ext uri="{FF2B5EF4-FFF2-40B4-BE49-F238E27FC236}">
                <a16:creationId xmlns:a16="http://schemas.microsoft.com/office/drawing/2014/main" id="{03D6871F-431C-4C3B-B171-E72F52B3ED0E}"/>
              </a:ext>
            </a:extLst>
          </p:cNvPr>
          <p:cNvSpPr>
            <a:spLocks xmlns:a="http://schemas.openxmlformats.org/drawingml/2006/main" noGrp="1"/>
          </p:cNvSpPr>
          <p:nvPr/>
        </p:nvSpPr>
        <p:spPr>
          <a:xfrm xmlns:a="http://schemas.openxmlformats.org/drawingml/2006/main">
            <a:off x="50577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系統與架構</a:t>
            </a:r>
          </a:p>
        </p:txBody>
      </p:sp>
      <p:sp>
        <p:nvSpPr>
          <p:cNvPr id="16" name="">
            <a:extLst xmlns:a="http://schemas.openxmlformats.org/drawingml/2006/main">
              <a:ext uri="{FF2B5EF4-FFF2-40B4-BE49-F238E27FC236}">
                <a16:creationId xmlns:a16="http://schemas.microsoft.com/office/drawing/2014/main" id="{15E27F0C-C8DA-4B5B-A7CE-7A391CB3609B}"/>
              </a:ext>
            </a:extLst>
          </p:cNvPr>
          <p:cNvSpPr>
            <a:spLocks xmlns:a="http://schemas.openxmlformats.org/drawingml/2006/main" noGrp="1"/>
          </p:cNvSpPr>
          <p:nvPr/>
        </p:nvSpPr>
        <p:spPr>
          <a:xfrm xmlns:a="http://schemas.openxmlformats.org/drawingml/2006/main">
            <a:off x="48958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問答、試煉、導引</a:t>
            </a:r>
          </a:p>
        </p:txBody>
      </p:sp>
      <p:sp>
        <p:nvSpPr>
          <p:cNvPr id="17" name="">
            <a:extLst xmlns:a="http://schemas.openxmlformats.org/drawingml/2006/main">
              <a:ext uri="{FF2B5EF4-FFF2-40B4-BE49-F238E27FC236}">
                <a16:creationId xmlns:a16="http://schemas.microsoft.com/office/drawing/2014/main" id="{0872939E-7976-4041-A088-4CC2EEED844E}"/>
              </a:ext>
            </a:extLst>
          </p:cNvPr>
          <p:cNvSpPr>
            <a:spLocks xmlns:a="http://schemas.openxmlformats.org/drawingml/2006/main" noGrp="1"/>
          </p:cNvSpPr>
          <p:nvPr/>
        </p:nvSpPr>
        <p:spPr>
          <a:xfrm xmlns:a="http://schemas.openxmlformats.org/drawingml/2006/main">
            <a:off x="76200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F351AFA5-1E61-400B-A73C-96DE88AA8616}"/>
              </a:ext>
            </a:extLst>
          </p:cNvPr>
          <p:cNvSpPr>
            <a:spLocks xmlns:a="http://schemas.openxmlformats.org/drawingml/2006/main" noGrp="1"/>
          </p:cNvSpPr>
          <p:nvPr/>
        </p:nvSpPr>
        <p:spPr>
          <a:xfrm xmlns:a="http://schemas.openxmlformats.org/drawingml/2006/main">
            <a:off x="78200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04</a:t>
            </a:r>
          </a:p>
        </p:txBody>
      </p:sp>
      <p:sp>
        <p:nvSpPr>
          <p:cNvPr id="19" name="">
            <a:extLst xmlns:a="http://schemas.openxmlformats.org/drawingml/2006/main">
              <a:ext uri="{FF2B5EF4-FFF2-40B4-BE49-F238E27FC236}">
                <a16:creationId xmlns:a16="http://schemas.microsoft.com/office/drawing/2014/main" id="{304A1D14-3422-4DD7-A221-8BB2D318B935}"/>
              </a:ext>
            </a:extLst>
          </p:cNvPr>
          <p:cNvSpPr>
            <a:spLocks xmlns:a="http://schemas.openxmlformats.org/drawingml/2006/main" noGrp="1"/>
          </p:cNvSpPr>
          <p:nvPr/>
        </p:nvSpPr>
        <p:spPr>
          <a:xfrm xmlns:a="http://schemas.openxmlformats.org/drawingml/2006/main">
            <a:off x="72675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系統驗證</a:t>
            </a:r>
          </a:p>
        </p:txBody>
      </p:sp>
      <p:sp>
        <p:nvSpPr>
          <p:cNvPr id="20" name="">
            <a:extLst xmlns:a="http://schemas.openxmlformats.org/drawingml/2006/main">
              <a:ext uri="{FF2B5EF4-FFF2-40B4-BE49-F238E27FC236}">
                <a16:creationId xmlns:a16="http://schemas.microsoft.com/office/drawing/2014/main" id="{6239432A-5A3C-4FF5-8028-006A695B3A3C}"/>
              </a:ext>
            </a:extLst>
          </p:cNvPr>
          <p:cNvSpPr>
            <a:spLocks xmlns:a="http://schemas.openxmlformats.org/drawingml/2006/main" noGrp="1"/>
          </p:cNvSpPr>
          <p:nvPr/>
        </p:nvSpPr>
        <p:spPr>
          <a:xfrm xmlns:a="http://schemas.openxmlformats.org/drawingml/2006/main">
            <a:off x="71056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主要流程會不會壞</a:t>
            </a:r>
          </a:p>
        </p:txBody>
      </p:sp>
      <p:sp>
        <p:nvSpPr>
          <p:cNvPr id="21" name="">
            <a:extLst xmlns:a="http://schemas.openxmlformats.org/drawingml/2006/main">
              <a:ext uri="{FF2B5EF4-FFF2-40B4-BE49-F238E27FC236}">
                <a16:creationId xmlns:a16="http://schemas.microsoft.com/office/drawing/2014/main" id="{AD55722F-7B75-46FE-A854-C7F6018DB2C3}"/>
              </a:ext>
            </a:extLst>
          </p:cNvPr>
          <p:cNvSpPr>
            <a:spLocks xmlns:a="http://schemas.openxmlformats.org/drawingml/2006/main" noGrp="1"/>
          </p:cNvSpPr>
          <p:nvPr/>
        </p:nvSpPr>
        <p:spPr>
          <a:xfrm xmlns:a="http://schemas.openxmlformats.org/drawingml/2006/main">
            <a:off x="9829800" y="2676525"/>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22" name="">
            <a:extLst xmlns:a="http://schemas.openxmlformats.org/drawingml/2006/main">
              <a:ext uri="{FF2B5EF4-FFF2-40B4-BE49-F238E27FC236}">
                <a16:creationId xmlns:a16="http://schemas.microsoft.com/office/drawing/2014/main" id="{CBB97C35-4CCA-40FA-A8F9-114B0A9314C9}"/>
              </a:ext>
            </a:extLst>
          </p:cNvPr>
          <p:cNvSpPr>
            <a:spLocks xmlns:a="http://schemas.openxmlformats.org/drawingml/2006/main" noGrp="1"/>
          </p:cNvSpPr>
          <p:nvPr/>
        </p:nvSpPr>
        <p:spPr>
          <a:xfrm xmlns:a="http://schemas.openxmlformats.org/drawingml/2006/main">
            <a:off x="10029825" y="2876550"/>
            <a:ext cx="66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B9904A"/>
                </a:solidFill>
                <a:latin typeface="Microsoft JhengHei"/>
                <a:ea typeface="Microsoft JhengHei"/>
                <a:cs typeface="Microsoft JhengHei"/>
              </a:defRPr>
            </a:pPr>
            <a:r>
              <a:rPr sz="1800" b="1">
                <a:solidFill>
                  <a:srgbClr val="B9904A"/>
                </a:solidFill>
                <a:latin typeface="Microsoft JhengHei"/>
                <a:ea typeface="Microsoft JhengHei"/>
                <a:cs typeface="Microsoft JhengHei"/>
              </a:rPr>
              <a:t>05</a:t>
            </a:r>
          </a:p>
        </p:txBody>
      </p:sp>
      <p:sp>
        <p:nvSpPr>
          <p:cNvPr id="23" name="">
            <a:extLst xmlns:a="http://schemas.openxmlformats.org/drawingml/2006/main">
              <a:ext uri="{FF2B5EF4-FFF2-40B4-BE49-F238E27FC236}">
                <a16:creationId xmlns:a16="http://schemas.microsoft.com/office/drawing/2014/main" id="{52649384-C2D4-4CD0-8813-2F064EA58195}"/>
              </a:ext>
            </a:extLst>
          </p:cNvPr>
          <p:cNvSpPr>
            <a:spLocks xmlns:a="http://schemas.openxmlformats.org/drawingml/2006/main" noGrp="1"/>
          </p:cNvSpPr>
          <p:nvPr/>
        </p:nvSpPr>
        <p:spPr>
          <a:xfrm xmlns:a="http://schemas.openxmlformats.org/drawingml/2006/main">
            <a:off x="9477375" y="4000500"/>
            <a:ext cx="1771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結論與資料</a:t>
            </a:r>
          </a:p>
        </p:txBody>
      </p:sp>
      <p:sp>
        <p:nvSpPr>
          <p:cNvPr id="24" name="">
            <a:extLst xmlns:a="http://schemas.openxmlformats.org/drawingml/2006/main">
              <a:ext uri="{FF2B5EF4-FFF2-40B4-BE49-F238E27FC236}">
                <a16:creationId xmlns:a16="http://schemas.microsoft.com/office/drawing/2014/main" id="{638F62C6-E358-443D-93C2-5D1E76DE5163}"/>
              </a:ext>
            </a:extLst>
          </p:cNvPr>
          <p:cNvSpPr>
            <a:spLocks xmlns:a="http://schemas.openxmlformats.org/drawingml/2006/main" noGrp="1"/>
          </p:cNvSpPr>
          <p:nvPr/>
        </p:nvSpPr>
        <p:spPr>
          <a:xfrm xmlns:a="http://schemas.openxmlformats.org/drawingml/2006/main">
            <a:off x="9315450" y="4438650"/>
            <a:ext cx="209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成果、下一步、來源</a:t>
            </a:r>
          </a:p>
        </p:txBody>
      </p:sp>
    </p:spTree>
    <p:extLst>
      <p:ext uri="{BB962C8B-B14F-4D97-AF65-F5344CB8AC3E}">
        <p14:creationId xmlns:p14="http://schemas.microsoft.com/office/powerpoint/2010/main" val="996230495"/>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E8121E8-DA9C-41F6-A69F-23DF454345FF}"/>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1. 簡介</a:t>
            </a:r>
          </a:p>
        </p:txBody>
      </p:sp>
      <p:sp>
        <p:nvSpPr>
          <p:cNvPr id="2" name="">
            <a:extLst xmlns:a="http://schemas.openxmlformats.org/drawingml/2006/main">
              <a:ext uri="{FF2B5EF4-FFF2-40B4-BE49-F238E27FC236}">
                <a16:creationId xmlns:a16="http://schemas.microsoft.com/office/drawing/2014/main" id="{2C2875BE-D652-4F02-B47B-7FBA1358FC7D}"/>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03</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cdef5c9fda84f78"/>
          <a:stretch xmlns:a="http://schemas.openxmlformats.org/drawingml/2006/main"/>
        </p:blipFill>
        <p:spPr>
          <a:xfrm xmlns:a="http://schemas.openxmlformats.org/drawingml/2006/main">
            <a:off x="7239000" y="1676400"/>
            <a:ext cx="3857625" cy="38576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56810DB-B6E8-4617-95A0-68F0C4F85A50}"/>
              </a:ext>
            </a:extLst>
          </p:cNvPr>
          <p:cNvSpPr>
            <a:spLocks xmlns:a="http://schemas.openxmlformats.org/drawingml/2006/main" noGrp="1"/>
          </p:cNvSpPr>
          <p:nvPr/>
        </p:nvSpPr>
        <p:spPr>
          <a:xfrm xmlns:a="http://schemas.openxmlformats.org/drawingml/2006/main">
            <a:off x="685800" y="1381125"/>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因為喜歡，所以想把好奇心做成作品</a:t>
            </a:r>
          </a:p>
        </p:txBody>
      </p:sp>
      <p:sp>
        <p:nvSpPr>
          <p:cNvPr id="5" name="">
            <a:extLst xmlns:a="http://schemas.openxmlformats.org/drawingml/2006/main">
              <a:ext uri="{FF2B5EF4-FFF2-40B4-BE49-F238E27FC236}">
                <a16:creationId xmlns:a16="http://schemas.microsoft.com/office/drawing/2014/main" id="{E188F0A3-A263-4108-8F79-D9A817EE1C81}"/>
              </a:ext>
            </a:extLst>
          </p:cNvPr>
          <p:cNvSpPr>
            <a:spLocks xmlns:a="http://schemas.openxmlformats.org/drawingml/2006/main" noGrp="1"/>
          </p:cNvSpPr>
          <p:nvPr/>
        </p:nvSpPr>
        <p:spPr>
          <a:xfrm xmlns:a="http://schemas.openxmlformats.org/drawingml/2006/main">
            <a:off x="5038725" y="2752725"/>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65E677E5-27AF-4CB3-ABDF-7DE9CAFA56AE}"/>
              </a:ext>
            </a:extLst>
          </p:cNvPr>
          <p:cNvSpPr>
            <a:spLocks xmlns:a="http://schemas.openxmlformats.org/drawingml/2006/main" noGrp="1"/>
          </p:cNvSpPr>
          <p:nvPr/>
        </p:nvSpPr>
        <p:spPr>
          <a:xfrm xmlns:a="http://schemas.openxmlformats.org/drawingml/2006/main">
            <a:off x="5038725" y="3962400"/>
            <a:ext cx="228600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69A38FC9-A091-436D-926A-DE1612E5B942}"/>
              </a:ext>
            </a:extLst>
          </p:cNvPr>
          <p:cNvSpPr>
            <a:spLocks xmlns:a="http://schemas.openxmlformats.org/drawingml/2006/main" noGrp="1"/>
          </p:cNvSpPr>
          <p:nvPr/>
        </p:nvSpPr>
        <p:spPr>
          <a:xfrm xmlns:a="http://schemas.openxmlformats.org/drawingml/2006/main">
            <a:off x="685800" y="2324100"/>
            <a:ext cx="2238375" cy="866775"/>
          </a:xfrm>
          <a:prstGeom xmlns:a="http://schemas.openxmlformats.org/drawingml/2006/main" prst="roundRect">
            <a:avLst>
              <a:gd name="adj" fmla="val 8791"/>
            </a:avLst>
          </a:prstGeom>
          <a:solidFill xmlns:a="http://schemas.openxmlformats.org/drawingml/2006/main">
            <a:srgbClr val="F0E2D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AD3C2FB2-DC88-444A-AB86-6A5FFEF97D81}"/>
              </a:ext>
            </a:extLst>
          </p:cNvPr>
          <p:cNvSpPr>
            <a:spLocks xmlns:a="http://schemas.openxmlformats.org/drawingml/2006/main" noGrp="1"/>
          </p:cNvSpPr>
          <p:nvPr/>
        </p:nvSpPr>
        <p:spPr>
          <a:xfrm xmlns:a="http://schemas.openxmlformats.org/drawingml/2006/main">
            <a:off x="781050" y="2390775"/>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看見</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冥王星的愛心</a:t>
            </a:r>
          </a:p>
        </p:txBody>
      </p:sp>
      <p:sp>
        <p:nvSpPr>
          <p:cNvPr id="9" name="">
            <a:extLst xmlns:a="http://schemas.openxmlformats.org/drawingml/2006/main">
              <a:ext uri="{FF2B5EF4-FFF2-40B4-BE49-F238E27FC236}">
                <a16:creationId xmlns:a16="http://schemas.microsoft.com/office/drawing/2014/main" id="{2DB7006A-006A-4E0F-9FA5-A7AE96F8447A}"/>
              </a:ext>
            </a:extLst>
          </p:cNvPr>
          <p:cNvSpPr>
            <a:spLocks xmlns:a="http://schemas.openxmlformats.org/drawingml/2006/main" noGrp="1"/>
          </p:cNvSpPr>
          <p:nvPr/>
        </p:nvSpPr>
        <p:spPr>
          <a:xfrm xmlns:a="http://schemas.openxmlformats.org/drawingml/2006/main">
            <a:off x="3162300" y="2324100"/>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843C46"/>
            </a:solidFill>
          </a:ln>
        </p:spPr>
      </p:sp>
      <p:sp>
        <p:nvSpPr>
          <p:cNvPr id="10" name="">
            <a:extLst xmlns:a="http://schemas.openxmlformats.org/drawingml/2006/main">
              <a:ext uri="{FF2B5EF4-FFF2-40B4-BE49-F238E27FC236}">
                <a16:creationId xmlns:a16="http://schemas.microsoft.com/office/drawing/2014/main" id="{28A29A52-8C77-457F-9E52-F92ADA64CDF1}"/>
              </a:ext>
            </a:extLst>
          </p:cNvPr>
          <p:cNvSpPr>
            <a:spLocks xmlns:a="http://schemas.openxmlformats.org/drawingml/2006/main" noGrp="1"/>
          </p:cNvSpPr>
          <p:nvPr/>
        </p:nvSpPr>
        <p:spPr>
          <a:xfrm xmlns:a="http://schemas.openxmlformats.org/drawingml/2006/main">
            <a:off x="3257550" y="2390775"/>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追問</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它為什麼長這樣</a:t>
            </a:r>
          </a:p>
        </p:txBody>
      </p:sp>
      <p:sp>
        <p:nvSpPr>
          <p:cNvPr id="11" name="">
            <a:extLst xmlns:a="http://schemas.openxmlformats.org/drawingml/2006/main">
              <a:ext uri="{FF2B5EF4-FFF2-40B4-BE49-F238E27FC236}">
                <a16:creationId xmlns:a16="http://schemas.microsoft.com/office/drawing/2014/main" id="{121D3D5D-1A43-420B-B7FE-5EB32AA2A864}"/>
              </a:ext>
            </a:extLst>
          </p:cNvPr>
          <p:cNvSpPr>
            <a:spLocks xmlns:a="http://schemas.openxmlformats.org/drawingml/2006/main" noGrp="1"/>
          </p:cNvSpPr>
          <p:nvPr/>
        </p:nvSpPr>
        <p:spPr>
          <a:xfrm xmlns:a="http://schemas.openxmlformats.org/drawingml/2006/main">
            <a:off x="685800" y="3533775"/>
            <a:ext cx="2238375" cy="866775"/>
          </a:xfrm>
          <a:prstGeom xmlns:a="http://schemas.openxmlformats.org/drawingml/2006/main" prst="roundRect">
            <a:avLst>
              <a:gd name="adj" fmla="val 8791"/>
            </a:avLst>
          </a:prstGeom>
          <a:solidFill xmlns:a="http://schemas.openxmlformats.org/drawingml/2006/main">
            <a:srgbClr val="E5ECEA"/>
          </a:solidFill>
          <a:ln xmlns:a="http://schemas.openxmlformats.org/drawingml/2006/main" w="19050">
            <a:solidFill>
              <a:srgbClr val="557869"/>
            </a:solidFill>
          </a:ln>
        </p:spPr>
      </p:sp>
      <p:sp>
        <p:nvSpPr>
          <p:cNvPr id="12" name="">
            <a:extLst xmlns:a="http://schemas.openxmlformats.org/drawingml/2006/main">
              <a:ext uri="{FF2B5EF4-FFF2-40B4-BE49-F238E27FC236}">
                <a16:creationId xmlns:a16="http://schemas.microsoft.com/office/drawing/2014/main" id="{323259D0-80BD-4CBD-B138-8261AC932C0E}"/>
              </a:ext>
            </a:extLst>
          </p:cNvPr>
          <p:cNvSpPr>
            <a:spLocks xmlns:a="http://schemas.openxmlformats.org/drawingml/2006/main" noGrp="1"/>
          </p:cNvSpPr>
          <p:nvPr/>
        </p:nvSpPr>
        <p:spPr>
          <a:xfrm xmlns:a="http://schemas.openxmlformats.org/drawingml/2006/main">
            <a:off x="781050" y="3600450"/>
            <a:ext cx="20478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理解</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科學與未知的邊界</a:t>
            </a:r>
          </a:p>
        </p:txBody>
      </p:sp>
      <p:sp>
        <p:nvSpPr>
          <p:cNvPr id="13" name="">
            <a:extLst xmlns:a="http://schemas.openxmlformats.org/drawingml/2006/main">
              <a:ext uri="{FF2B5EF4-FFF2-40B4-BE49-F238E27FC236}">
                <a16:creationId xmlns:a16="http://schemas.microsoft.com/office/drawing/2014/main" id="{B0E31C0C-0E4B-46B5-9FCD-981D8708FF9C}"/>
              </a:ext>
            </a:extLst>
          </p:cNvPr>
          <p:cNvSpPr>
            <a:spLocks xmlns:a="http://schemas.openxmlformats.org/drawingml/2006/main" noGrp="1"/>
          </p:cNvSpPr>
          <p:nvPr/>
        </p:nvSpPr>
        <p:spPr>
          <a:xfrm xmlns:a="http://schemas.openxmlformats.org/drawingml/2006/main">
            <a:off x="3162300" y="3533775"/>
            <a:ext cx="2038350" cy="866775"/>
          </a:xfrm>
          <a:prstGeom xmlns:a="http://schemas.openxmlformats.org/drawingml/2006/main" prst="roundRect">
            <a:avLst>
              <a:gd name="adj" fmla="val 8791"/>
            </a:avLst>
          </a:prstGeom>
          <a:solidFill xmlns:a="http://schemas.openxmlformats.org/drawingml/2006/main">
            <a:srgbClr val="FFFFFF"/>
          </a:solidFill>
          <a:ln xmlns:a="http://schemas.openxmlformats.org/drawingml/2006/main" w="19050">
            <a:solidFill>
              <a:srgbClr val="557869"/>
            </a:solidFill>
          </a:ln>
        </p:spPr>
      </p:sp>
      <p:sp>
        <p:nvSpPr>
          <p:cNvPr id="14" name="">
            <a:extLst xmlns:a="http://schemas.openxmlformats.org/drawingml/2006/main">
              <a:ext uri="{FF2B5EF4-FFF2-40B4-BE49-F238E27FC236}">
                <a16:creationId xmlns:a16="http://schemas.microsoft.com/office/drawing/2014/main" id="{12114947-BC6A-40EF-B7A4-04047F6A7765}"/>
              </a:ext>
            </a:extLst>
          </p:cNvPr>
          <p:cNvSpPr>
            <a:spLocks xmlns:a="http://schemas.openxmlformats.org/drawingml/2006/main" noGrp="1"/>
          </p:cNvSpPr>
          <p:nvPr/>
        </p:nvSpPr>
        <p:spPr>
          <a:xfrm xmlns:a="http://schemas.openxmlformats.org/drawingml/2006/main">
            <a:off x="3257550" y="3600450"/>
            <a:ext cx="18478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做出</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能陪人探索的機器人</a:t>
            </a:r>
          </a:p>
        </p:txBody>
      </p:sp>
      <p:sp>
        <p:nvSpPr>
          <p:cNvPr id="15" name="">
            <a:extLst xmlns:a="http://schemas.openxmlformats.org/drawingml/2006/main">
              <a:ext uri="{FF2B5EF4-FFF2-40B4-BE49-F238E27FC236}">
                <a16:creationId xmlns:a16="http://schemas.microsoft.com/office/drawing/2014/main" id="{6D1C5ECA-5E46-4520-AC72-3754EC6092F1}"/>
              </a:ext>
            </a:extLst>
          </p:cNvPr>
          <p:cNvSpPr>
            <a:spLocks xmlns:a="http://schemas.openxmlformats.org/drawingml/2006/main" noGrp="1"/>
          </p:cNvSpPr>
          <p:nvPr/>
        </p:nvSpPr>
        <p:spPr>
          <a:xfrm xmlns:a="http://schemas.openxmlformats.org/drawingml/2006/main">
            <a:off x="5314950" y="2657475"/>
            <a:ext cx="7620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6" name="">
            <a:extLst xmlns:a="http://schemas.openxmlformats.org/drawingml/2006/main">
              <a:ext uri="{FF2B5EF4-FFF2-40B4-BE49-F238E27FC236}">
                <a16:creationId xmlns:a16="http://schemas.microsoft.com/office/drawing/2014/main" id="{0B12D8F9-7F31-4F35-B504-8B96AF2D07F4}"/>
              </a:ext>
            </a:extLst>
          </p:cNvPr>
          <p:cNvSpPr>
            <a:spLocks xmlns:a="http://schemas.openxmlformats.org/drawingml/2006/main" noGrp="1"/>
          </p:cNvSpPr>
          <p:nvPr/>
        </p:nvSpPr>
        <p:spPr>
          <a:xfrm xmlns:a="http://schemas.openxmlformats.org/drawingml/2006/main">
            <a:off x="5314950" y="3867150"/>
            <a:ext cx="7620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7" name="">
            <a:extLst xmlns:a="http://schemas.openxmlformats.org/drawingml/2006/main">
              <a:ext uri="{FF2B5EF4-FFF2-40B4-BE49-F238E27FC236}">
                <a16:creationId xmlns:a16="http://schemas.microsoft.com/office/drawing/2014/main" id="{37796BB8-A992-4011-939C-2B7ED17C7A47}"/>
              </a:ext>
            </a:extLst>
          </p:cNvPr>
          <p:cNvSpPr>
            <a:spLocks xmlns:a="http://schemas.openxmlformats.org/drawingml/2006/main" noGrp="1"/>
          </p:cNvSpPr>
          <p:nvPr/>
        </p:nvSpPr>
        <p:spPr>
          <a:xfrm xmlns:a="http://schemas.openxmlformats.org/drawingml/2006/main">
            <a:off x="685800" y="5400675"/>
            <a:ext cx="6238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應用情境：課後探索、科學活動與展場導覽</a:t>
            </a:r>
          </a:p>
        </p:txBody>
      </p:sp>
      <p:sp>
        <p:nvSpPr>
          <p:cNvPr id="18" name="">
            <a:extLst xmlns:a="http://schemas.openxmlformats.org/drawingml/2006/main">
              <a:ext uri="{FF2B5EF4-FFF2-40B4-BE49-F238E27FC236}">
                <a16:creationId xmlns:a16="http://schemas.microsoft.com/office/drawing/2014/main" id="{04B65390-E85C-4D44-BF86-039020CD53EE}"/>
              </a:ext>
            </a:extLst>
          </p:cNvPr>
          <p:cNvSpPr>
            <a:spLocks xmlns:a="http://schemas.openxmlformats.org/drawingml/2006/main" noGrp="1"/>
          </p:cNvSpPr>
          <p:nvPr/>
        </p:nvSpPr>
        <p:spPr>
          <a:xfrm xmlns:a="http://schemas.openxmlformats.org/drawingml/2006/main">
            <a:off x="7677150" y="5648325"/>
            <a:ext cx="3286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冥王星概念插畫，非觀測照片</a:t>
            </a:r>
          </a:p>
        </p:txBody>
      </p:sp>
    </p:spTree>
    <p:extLst>
      <p:ext uri="{BB962C8B-B14F-4D97-AF65-F5344CB8AC3E}">
        <p14:creationId xmlns:p14="http://schemas.microsoft.com/office/powerpoint/2010/main" val="85163811"/>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5ED1E3E-8DB9-41A5-8159-FAE679901462}"/>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2. 專題目的、相關產品</a:t>
            </a:r>
          </a:p>
        </p:txBody>
      </p:sp>
      <p:sp>
        <p:nvSpPr>
          <p:cNvPr id="2" name="">
            <a:extLst xmlns:a="http://schemas.openxmlformats.org/drawingml/2006/main">
              <a:ext uri="{FF2B5EF4-FFF2-40B4-BE49-F238E27FC236}">
                <a16:creationId xmlns:a16="http://schemas.microsoft.com/office/drawing/2014/main" id="{BB349893-0DF0-4C36-B35E-0C1B79828EC6}"/>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04</a:t>
            </a:r>
          </a:p>
        </p:txBody>
      </p:sp>
      <p:sp>
        <p:nvSpPr>
          <p:cNvPr id="3" name="">
            <a:extLst xmlns:a="http://schemas.openxmlformats.org/drawingml/2006/main">
              <a:ext uri="{FF2B5EF4-FFF2-40B4-BE49-F238E27FC236}">
                <a16:creationId xmlns:a16="http://schemas.microsoft.com/office/drawing/2014/main" id="{405A3021-993A-43CB-A860-A0819652C27E}"/>
              </a:ext>
            </a:extLst>
          </p:cNvPr>
          <p:cNvSpPr>
            <a:spLocks xmlns:a="http://schemas.openxmlformats.org/drawingml/2006/main" noGrp="1"/>
          </p:cNvSpPr>
          <p:nvPr/>
        </p:nvSpPr>
        <p:spPr>
          <a:xfrm xmlns:a="http://schemas.openxmlformats.org/drawingml/2006/main">
            <a:off x="685800" y="13811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三種能力在同一個 LINE 對話裡相遇</a:t>
            </a:r>
          </a:p>
        </p:txBody>
      </p:sp>
      <p:sp>
        <p:nvSpPr>
          <p:cNvPr id="4" name="">
            <a:extLst xmlns:a="http://schemas.openxmlformats.org/drawingml/2006/main">
              <a:ext uri="{FF2B5EF4-FFF2-40B4-BE49-F238E27FC236}">
                <a16:creationId xmlns:a16="http://schemas.microsoft.com/office/drawing/2014/main" id="{6772ED57-1E20-4C01-B879-5E1948E1C781}"/>
              </a:ext>
            </a:extLst>
          </p:cNvPr>
          <p:cNvSpPr>
            <a:spLocks xmlns:a="http://schemas.openxmlformats.org/drawingml/2006/main" noGrp="1"/>
          </p:cNvSpPr>
          <p:nvPr/>
        </p:nvSpPr>
        <p:spPr>
          <a:xfrm xmlns:a="http://schemas.openxmlformats.org/drawingml/2006/main">
            <a:off x="3381375" y="2857500"/>
            <a:ext cx="5429250" cy="2857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C7199C7A-4A67-4BDF-9CAE-FBEB7F3B3786}"/>
              </a:ext>
            </a:extLst>
          </p:cNvPr>
          <p:cNvSpPr>
            <a:spLocks xmlns:a="http://schemas.openxmlformats.org/drawingml/2006/main" noGrp="1"/>
          </p:cNvSpPr>
          <p:nvPr/>
        </p:nvSpPr>
        <p:spPr>
          <a:xfrm xmlns:a="http://schemas.openxmlformats.org/drawingml/2006/main">
            <a:off x="4638675"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6" name="">
            <a:extLst xmlns:a="http://schemas.openxmlformats.org/drawingml/2006/main">
              <a:ext uri="{FF2B5EF4-FFF2-40B4-BE49-F238E27FC236}">
                <a16:creationId xmlns:a16="http://schemas.microsoft.com/office/drawing/2014/main" id="{FA42FFB6-ADC9-4416-BD84-AE64FE1A8B17}"/>
              </a:ext>
            </a:extLst>
          </p:cNvPr>
          <p:cNvSpPr>
            <a:spLocks xmlns:a="http://schemas.openxmlformats.org/drawingml/2006/main" noGrp="1"/>
          </p:cNvSpPr>
          <p:nvPr/>
        </p:nvSpPr>
        <p:spPr>
          <a:xfrm xmlns:a="http://schemas.openxmlformats.org/drawingml/2006/main">
            <a:off x="7524750" y="2428875"/>
            <a:ext cx="28575" cy="23812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7" name="">
            <a:extLst xmlns:a="http://schemas.openxmlformats.org/drawingml/2006/main">
              <a:ext uri="{FF2B5EF4-FFF2-40B4-BE49-F238E27FC236}">
                <a16:creationId xmlns:a16="http://schemas.microsoft.com/office/drawing/2014/main" id="{F214EB8D-A20F-405E-8457-2D1DFF52EB80}"/>
              </a:ext>
            </a:extLst>
          </p:cNvPr>
          <p:cNvSpPr>
            <a:spLocks xmlns:a="http://schemas.openxmlformats.org/drawingml/2006/main" noGrp="1"/>
          </p:cNvSpPr>
          <p:nvPr/>
        </p:nvSpPr>
        <p:spPr>
          <a:xfrm xmlns:a="http://schemas.openxmlformats.org/drawingml/2006/main">
            <a:off x="4810125" y="2362200"/>
            <a:ext cx="2571750" cy="2571750"/>
          </a:xfrm>
          <a:prstGeom xmlns:a="http://schemas.openxmlformats.org/drawingml/2006/main" prst="ellipse">
            <a:avLst/>
          </a:prstGeom>
          <a:solidFill xmlns:a="http://schemas.openxmlformats.org/drawingml/2006/main">
            <a:srgbClr val="EFE6E2"/>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6BFFA613-6F8A-498E-899D-8CACFC09E09B}"/>
              </a:ext>
            </a:extLst>
          </p:cNvPr>
          <p:cNvSpPr>
            <a:spLocks xmlns:a="http://schemas.openxmlformats.org/drawingml/2006/main" noGrp="1"/>
          </p:cNvSpPr>
          <p:nvPr/>
        </p:nvSpPr>
        <p:spPr>
          <a:xfrm xmlns:a="http://schemas.openxmlformats.org/drawingml/2006/main">
            <a:off x="5143500" y="3124200"/>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843C46"/>
                </a:solidFill>
                <a:latin typeface="Microsoft JhengHei"/>
                <a:ea typeface="Microsoft JhengHei"/>
                <a:cs typeface="Microsoft JhengHei"/>
              </a:defRPr>
            </a:pPr>
            <a:r>
              <a:rPr sz="2175" b="1">
                <a:solidFill>
                  <a:srgbClr val="843C46"/>
                </a:solidFill>
                <a:latin typeface="Microsoft JhengHei"/>
                <a:ea typeface="Microsoft JhengHei"/>
                <a:cs typeface="Microsoft JhengHei"/>
              </a:rPr>
              <a:t>永恆北極星</a:t>
            </a:r>
          </a:p>
        </p:txBody>
      </p:sp>
      <p:sp>
        <p:nvSpPr>
          <p:cNvPr id="9" name="">
            <a:extLst xmlns:a="http://schemas.openxmlformats.org/drawingml/2006/main">
              <a:ext uri="{FF2B5EF4-FFF2-40B4-BE49-F238E27FC236}">
                <a16:creationId xmlns:a16="http://schemas.microsoft.com/office/drawing/2014/main" id="{0F8081D3-8FF4-4845-AE9B-537076899D2A}"/>
              </a:ext>
            </a:extLst>
          </p:cNvPr>
          <p:cNvSpPr>
            <a:spLocks xmlns:a="http://schemas.openxmlformats.org/drawingml/2006/main" noGrp="1"/>
          </p:cNvSpPr>
          <p:nvPr/>
        </p:nvSpPr>
        <p:spPr>
          <a:xfrm xmlns:a="http://schemas.openxmlformats.org/drawingml/2006/main">
            <a:off x="5048250" y="3609975"/>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問答＋導引＋試煉</a:t>
            </a:r>
          </a:p>
        </p:txBody>
      </p:sp>
      <p:sp>
        <p:nvSpPr>
          <p:cNvPr id="10" name="">
            <a:extLst xmlns:a="http://schemas.openxmlformats.org/drawingml/2006/main">
              <a:ext uri="{FF2B5EF4-FFF2-40B4-BE49-F238E27FC236}">
                <a16:creationId xmlns:a16="http://schemas.microsoft.com/office/drawing/2014/main" id="{7BB254C3-5830-41D3-A41A-C556D73D38EA}"/>
              </a:ext>
            </a:extLst>
          </p:cNvPr>
          <p:cNvSpPr>
            <a:spLocks xmlns:a="http://schemas.openxmlformats.org/drawingml/2006/main" noGrp="1"/>
          </p:cNvSpPr>
          <p:nvPr/>
        </p:nvSpPr>
        <p:spPr>
          <a:xfrm xmlns:a="http://schemas.openxmlformats.org/drawingml/2006/main">
            <a:off x="89535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58748E"/>
            </a:solidFill>
          </a:ln>
        </p:spPr>
      </p:sp>
      <p:sp>
        <p:nvSpPr>
          <p:cNvPr id="11" name="">
            <a:extLst xmlns:a="http://schemas.openxmlformats.org/drawingml/2006/main">
              <a:ext uri="{FF2B5EF4-FFF2-40B4-BE49-F238E27FC236}">
                <a16:creationId xmlns:a16="http://schemas.microsoft.com/office/drawing/2014/main" id="{D4064AE6-B340-4BD9-9293-111A8681A981}"/>
              </a:ext>
            </a:extLst>
          </p:cNvPr>
          <p:cNvSpPr>
            <a:spLocks xmlns:a="http://schemas.openxmlformats.org/drawingml/2006/main" noGrp="1"/>
          </p:cNvSpPr>
          <p:nvPr/>
        </p:nvSpPr>
        <p:spPr>
          <a:xfrm xmlns:a="http://schemas.openxmlformats.org/drawingml/2006/main">
            <a:off x="99060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NotebookLM</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依來源整理</a:t>
            </a:r>
          </a:p>
        </p:txBody>
      </p:sp>
      <p:sp>
        <p:nvSpPr>
          <p:cNvPr id="12" name="">
            <a:extLst xmlns:a="http://schemas.openxmlformats.org/drawingml/2006/main">
              <a:ext uri="{FF2B5EF4-FFF2-40B4-BE49-F238E27FC236}">
                <a16:creationId xmlns:a16="http://schemas.microsoft.com/office/drawing/2014/main" id="{C0F91B6A-BAEA-4AC0-AA64-5AAB70C00F14}"/>
              </a:ext>
            </a:extLst>
          </p:cNvPr>
          <p:cNvSpPr>
            <a:spLocks xmlns:a="http://schemas.openxmlformats.org/drawingml/2006/main" noGrp="1"/>
          </p:cNvSpPr>
          <p:nvPr/>
        </p:nvSpPr>
        <p:spPr>
          <a:xfrm xmlns:a="http://schemas.openxmlformats.org/drawingml/2006/main">
            <a:off x="8915400" y="2628900"/>
            <a:ext cx="2381250" cy="1066800"/>
          </a:xfrm>
          <a:prstGeom xmlns:a="http://schemas.openxmlformats.org/drawingml/2006/main" prst="roundRect">
            <a:avLst>
              <a:gd name="adj" fmla="val 7143"/>
            </a:avLst>
          </a:prstGeom>
          <a:solidFill xmlns:a="http://schemas.openxmlformats.org/drawingml/2006/main">
            <a:srgbClr val="FFFFFF"/>
          </a:solidFill>
          <a:ln xmlns:a="http://schemas.openxmlformats.org/drawingml/2006/main" w="19050">
            <a:solidFill>
              <a:srgbClr val="B9904A"/>
            </a:solidFill>
          </a:ln>
        </p:spPr>
      </p:sp>
      <p:sp>
        <p:nvSpPr>
          <p:cNvPr id="13" name="">
            <a:extLst xmlns:a="http://schemas.openxmlformats.org/drawingml/2006/main">
              <a:ext uri="{FF2B5EF4-FFF2-40B4-BE49-F238E27FC236}">
                <a16:creationId xmlns:a16="http://schemas.microsoft.com/office/drawing/2014/main" id="{CB66A76E-1701-44B3-ABAE-EADFD18E2531}"/>
              </a:ext>
            </a:extLst>
          </p:cNvPr>
          <p:cNvSpPr>
            <a:spLocks xmlns:a="http://schemas.openxmlformats.org/drawingml/2006/main" noGrp="1"/>
          </p:cNvSpPr>
          <p:nvPr/>
        </p:nvSpPr>
        <p:spPr>
          <a:xfrm xmlns:a="http://schemas.openxmlformats.org/drawingml/2006/main">
            <a:off x="9010650" y="2695575"/>
            <a:ext cx="2190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Kahoot!</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題目與即時回饋</a:t>
            </a:r>
          </a:p>
        </p:txBody>
      </p:sp>
      <p:sp>
        <p:nvSpPr>
          <p:cNvPr id="14" name="">
            <a:extLst xmlns:a="http://schemas.openxmlformats.org/drawingml/2006/main">
              <a:ext uri="{FF2B5EF4-FFF2-40B4-BE49-F238E27FC236}">
                <a16:creationId xmlns:a16="http://schemas.microsoft.com/office/drawing/2014/main" id="{58FD5933-97FD-4F1D-8982-E8F4F5847FCA}"/>
              </a:ext>
            </a:extLst>
          </p:cNvPr>
          <p:cNvSpPr>
            <a:spLocks xmlns:a="http://schemas.openxmlformats.org/drawingml/2006/main" noGrp="1"/>
          </p:cNvSpPr>
          <p:nvPr/>
        </p:nvSpPr>
        <p:spPr>
          <a:xfrm xmlns:a="http://schemas.openxmlformats.org/drawingml/2006/main">
            <a:off x="4905375" y="4933950"/>
            <a:ext cx="2381250" cy="876300"/>
          </a:xfrm>
          <a:prstGeom xmlns:a="http://schemas.openxmlformats.org/drawingml/2006/main" prst="roundRect">
            <a:avLst>
              <a:gd name="adj" fmla="val 8696"/>
            </a:avLst>
          </a:prstGeom>
          <a:solidFill xmlns:a="http://schemas.openxmlformats.org/drawingml/2006/main">
            <a:srgbClr val="FFFFFF"/>
          </a:solidFill>
          <a:ln xmlns:a="http://schemas.openxmlformats.org/drawingml/2006/main" w="19050">
            <a:solidFill>
              <a:srgbClr val="557869"/>
            </a:solidFill>
          </a:ln>
        </p:spPr>
      </p:sp>
      <p:sp>
        <p:nvSpPr>
          <p:cNvPr id="15" name="">
            <a:extLst xmlns:a="http://schemas.openxmlformats.org/drawingml/2006/main">
              <a:ext uri="{FF2B5EF4-FFF2-40B4-BE49-F238E27FC236}">
                <a16:creationId xmlns:a16="http://schemas.microsoft.com/office/drawing/2014/main" id="{4A887027-2245-4B37-9551-DA38F8A87B1C}"/>
              </a:ext>
            </a:extLst>
          </p:cNvPr>
          <p:cNvSpPr>
            <a:spLocks xmlns:a="http://schemas.openxmlformats.org/drawingml/2006/main" noGrp="1"/>
          </p:cNvSpPr>
          <p:nvPr/>
        </p:nvSpPr>
        <p:spPr>
          <a:xfrm xmlns:a="http://schemas.openxmlformats.org/drawingml/2006/main">
            <a:off x="5000625" y="5000625"/>
            <a:ext cx="2190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LINE</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日常聊天入口</a:t>
            </a:r>
          </a:p>
        </p:txBody>
      </p:sp>
      <p:sp>
        <p:nvSpPr>
          <p:cNvPr id="16" name="">
            <a:extLst xmlns:a="http://schemas.openxmlformats.org/drawingml/2006/main">
              <a:ext uri="{FF2B5EF4-FFF2-40B4-BE49-F238E27FC236}">
                <a16:creationId xmlns:a16="http://schemas.microsoft.com/office/drawing/2014/main" id="{8E2D5F1F-3374-431D-857F-6365D1C41797}"/>
              </a:ext>
            </a:extLst>
          </p:cNvPr>
          <p:cNvSpPr>
            <a:spLocks xmlns:a="http://schemas.openxmlformats.org/drawingml/2006/main" noGrp="1"/>
          </p:cNvSpPr>
          <p:nvPr/>
        </p:nvSpPr>
        <p:spPr>
          <a:xfrm xmlns:a="http://schemas.openxmlformats.org/drawingml/2006/main">
            <a:off x="103822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8748E"/>
                </a:solidFill>
                <a:latin typeface="Microsoft JhengHei"/>
                <a:ea typeface="Microsoft JhengHei"/>
                <a:cs typeface="Microsoft JhengHei"/>
              </a:defRPr>
            </a:pPr>
            <a:r>
              <a:rPr sz="1425" b="1">
                <a:solidFill>
                  <a:srgbClr val="58748E"/>
                </a:solidFill>
                <a:latin typeface="Microsoft JhengHei"/>
                <a:ea typeface="Microsoft JhengHei"/>
                <a:cs typeface="Microsoft JhengHei"/>
              </a:rPr>
              <a:t>參考來源呈現</a:t>
            </a:r>
          </a:p>
        </p:txBody>
      </p:sp>
      <p:sp>
        <p:nvSpPr>
          <p:cNvPr id="17" name="">
            <a:extLst xmlns:a="http://schemas.openxmlformats.org/drawingml/2006/main">
              <a:ext uri="{FF2B5EF4-FFF2-40B4-BE49-F238E27FC236}">
                <a16:creationId xmlns:a16="http://schemas.microsoft.com/office/drawing/2014/main" id="{488BF31F-6BBE-42BE-916E-506695FD2FB0}"/>
              </a:ext>
            </a:extLst>
          </p:cNvPr>
          <p:cNvSpPr>
            <a:spLocks xmlns:a="http://schemas.openxmlformats.org/drawingml/2006/main" noGrp="1"/>
          </p:cNvSpPr>
          <p:nvPr/>
        </p:nvSpPr>
        <p:spPr>
          <a:xfrm xmlns:a="http://schemas.openxmlformats.org/drawingml/2006/main">
            <a:off x="9058275" y="3943350"/>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B9904A"/>
                </a:solidFill>
                <a:latin typeface="Microsoft JhengHei"/>
                <a:ea typeface="Microsoft JhengHei"/>
                <a:cs typeface="Microsoft JhengHei"/>
              </a:defRPr>
            </a:pPr>
            <a:r>
              <a:rPr sz="1425" b="1">
                <a:solidFill>
                  <a:srgbClr val="B9904A"/>
                </a:solidFill>
                <a:latin typeface="Microsoft JhengHei"/>
                <a:ea typeface="Microsoft JhengHei"/>
                <a:cs typeface="Microsoft JhengHei"/>
              </a:rPr>
              <a:t>參考五題挑戰</a:t>
            </a:r>
          </a:p>
        </p:txBody>
      </p:sp>
      <p:sp>
        <p:nvSpPr>
          <p:cNvPr id="18" name="">
            <a:extLst xmlns:a="http://schemas.openxmlformats.org/drawingml/2006/main">
              <a:ext uri="{FF2B5EF4-FFF2-40B4-BE49-F238E27FC236}">
                <a16:creationId xmlns:a16="http://schemas.microsoft.com/office/drawing/2014/main" id="{55C10DDD-85B2-4F88-85E0-969BDBADDE15}"/>
              </a:ext>
            </a:extLst>
          </p:cNvPr>
          <p:cNvSpPr>
            <a:spLocks xmlns:a="http://schemas.openxmlformats.org/drawingml/2006/main" noGrp="1"/>
          </p:cNvSpPr>
          <p:nvPr/>
        </p:nvSpPr>
        <p:spPr>
          <a:xfrm xmlns:a="http://schemas.openxmlformats.org/drawingml/2006/main">
            <a:off x="685800" y="6000750"/>
            <a:ext cx="990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重點是把問答、導引與固定試煉放進同一個聊天室。</a:t>
            </a:r>
          </a:p>
        </p:txBody>
      </p:sp>
    </p:spTree>
    <p:extLst>
      <p:ext uri="{BB962C8B-B14F-4D97-AF65-F5344CB8AC3E}">
        <p14:creationId xmlns:p14="http://schemas.microsoft.com/office/powerpoint/2010/main" val="1071380482"/>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5F1D9EF-663A-451E-A414-B30F86640E66}"/>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系統架構與技術：整體流程</a:t>
            </a:r>
          </a:p>
        </p:txBody>
      </p:sp>
      <p:sp>
        <p:nvSpPr>
          <p:cNvPr id="2" name="">
            <a:extLst xmlns:a="http://schemas.openxmlformats.org/drawingml/2006/main">
              <a:ext uri="{FF2B5EF4-FFF2-40B4-BE49-F238E27FC236}">
                <a16:creationId xmlns:a16="http://schemas.microsoft.com/office/drawing/2014/main" id="{1D7186EE-722A-4939-8C70-6C9DA15EE50E}"/>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05</a:t>
            </a:r>
          </a:p>
        </p:txBody>
      </p:sp>
      <p:sp>
        <p:nvSpPr>
          <p:cNvPr id="3" name="">
            <a:extLst xmlns:a="http://schemas.openxmlformats.org/drawingml/2006/main">
              <a:ext uri="{FF2B5EF4-FFF2-40B4-BE49-F238E27FC236}">
                <a16:creationId xmlns:a16="http://schemas.microsoft.com/office/drawing/2014/main" id="{EAA8B256-76AA-4246-971A-6CB9931B3658}"/>
              </a:ext>
            </a:extLst>
          </p:cNvPr>
          <p:cNvSpPr>
            <a:spLocks xmlns:a="http://schemas.openxmlformats.org/drawingml/2006/main" noGrp="1"/>
          </p:cNvSpPr>
          <p:nvPr/>
        </p:nvSpPr>
        <p:spPr>
          <a:xfrm xmlns:a="http://schemas.openxmlformats.org/drawingml/2006/main">
            <a:off x="685800" y="134302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從手機訊息到可驗證回覆</a:t>
            </a:r>
          </a:p>
        </p:txBody>
      </p:sp>
      <p:sp>
        <p:nvSpPr>
          <p:cNvPr id="4" name="">
            <a:extLst xmlns:a="http://schemas.openxmlformats.org/drawingml/2006/main">
              <a:ext uri="{FF2B5EF4-FFF2-40B4-BE49-F238E27FC236}">
                <a16:creationId xmlns:a16="http://schemas.microsoft.com/office/drawing/2014/main" id="{3BAA89B5-CA15-4070-A01E-A358E94701C1}"/>
              </a:ext>
            </a:extLst>
          </p:cNvPr>
          <p:cNvSpPr>
            <a:spLocks xmlns:a="http://schemas.openxmlformats.org/drawingml/2006/main" noGrp="1"/>
          </p:cNvSpPr>
          <p:nvPr/>
        </p:nvSpPr>
        <p:spPr>
          <a:xfrm xmlns:a="http://schemas.openxmlformats.org/drawingml/2006/main">
            <a:off x="22764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5" name="">
            <a:extLst xmlns:a="http://schemas.openxmlformats.org/drawingml/2006/main">
              <a:ext uri="{FF2B5EF4-FFF2-40B4-BE49-F238E27FC236}">
                <a16:creationId xmlns:a16="http://schemas.microsoft.com/office/drawing/2014/main" id="{5FA78F3E-8275-4ECD-A90F-A7F2ACB7AA86}"/>
              </a:ext>
            </a:extLst>
          </p:cNvPr>
          <p:cNvSpPr>
            <a:spLocks xmlns:a="http://schemas.openxmlformats.org/drawingml/2006/main" noGrp="1"/>
          </p:cNvSpPr>
          <p:nvPr/>
        </p:nvSpPr>
        <p:spPr>
          <a:xfrm xmlns:a="http://schemas.openxmlformats.org/drawingml/2006/main">
            <a:off x="5905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6" name="">
            <a:extLst xmlns:a="http://schemas.openxmlformats.org/drawingml/2006/main">
              <a:ext uri="{FF2B5EF4-FFF2-40B4-BE49-F238E27FC236}">
                <a16:creationId xmlns:a16="http://schemas.microsoft.com/office/drawing/2014/main" id="{8F14F0FA-D862-4A02-9377-DB91DB690356}"/>
              </a:ext>
            </a:extLst>
          </p:cNvPr>
          <p:cNvSpPr>
            <a:spLocks xmlns:a="http://schemas.openxmlformats.org/drawingml/2006/main" noGrp="1"/>
          </p:cNvSpPr>
          <p:nvPr/>
        </p:nvSpPr>
        <p:spPr>
          <a:xfrm xmlns:a="http://schemas.openxmlformats.org/drawingml/2006/main">
            <a:off x="6858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LINE 使用者</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文字／按鈕</a:t>
            </a:r>
          </a:p>
        </p:txBody>
      </p:sp>
      <p:sp>
        <p:nvSpPr>
          <p:cNvPr id="7" name="">
            <a:extLst xmlns:a="http://schemas.openxmlformats.org/drawingml/2006/main">
              <a:ext uri="{FF2B5EF4-FFF2-40B4-BE49-F238E27FC236}">
                <a16:creationId xmlns:a16="http://schemas.microsoft.com/office/drawing/2014/main" id="{4E4E2A27-90EB-413C-98C4-3A0C61CA1016}"/>
              </a:ext>
            </a:extLst>
          </p:cNvPr>
          <p:cNvSpPr>
            <a:spLocks xmlns:a="http://schemas.openxmlformats.org/drawingml/2006/main" noGrp="1"/>
          </p:cNvSpPr>
          <p:nvPr/>
        </p:nvSpPr>
        <p:spPr>
          <a:xfrm xmlns:a="http://schemas.openxmlformats.org/drawingml/2006/main">
            <a:off x="44862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8" name="">
            <a:extLst xmlns:a="http://schemas.openxmlformats.org/drawingml/2006/main">
              <a:ext uri="{FF2B5EF4-FFF2-40B4-BE49-F238E27FC236}">
                <a16:creationId xmlns:a16="http://schemas.microsoft.com/office/drawing/2014/main" id="{E05121FB-ADBE-4096-814A-0EA80936741C}"/>
              </a:ext>
            </a:extLst>
          </p:cNvPr>
          <p:cNvSpPr>
            <a:spLocks xmlns:a="http://schemas.openxmlformats.org/drawingml/2006/main" noGrp="1"/>
          </p:cNvSpPr>
          <p:nvPr/>
        </p:nvSpPr>
        <p:spPr>
          <a:xfrm xmlns:a="http://schemas.openxmlformats.org/drawingml/2006/main">
            <a:off x="28003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9" name="">
            <a:extLst xmlns:a="http://schemas.openxmlformats.org/drawingml/2006/main">
              <a:ext uri="{FF2B5EF4-FFF2-40B4-BE49-F238E27FC236}">
                <a16:creationId xmlns:a16="http://schemas.microsoft.com/office/drawing/2014/main" id="{48DCBD9C-1986-4B45-A2E3-27AE34CF261E}"/>
              </a:ext>
            </a:extLst>
          </p:cNvPr>
          <p:cNvSpPr>
            <a:spLocks xmlns:a="http://schemas.openxmlformats.org/drawingml/2006/main" noGrp="1"/>
          </p:cNvSpPr>
          <p:nvPr/>
        </p:nvSpPr>
        <p:spPr>
          <a:xfrm xmlns:a="http://schemas.openxmlformats.org/drawingml/2006/main">
            <a:off x="28956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Webhook</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簽章驗證</a:t>
            </a:r>
          </a:p>
        </p:txBody>
      </p:sp>
      <p:sp>
        <p:nvSpPr>
          <p:cNvPr id="10" name="">
            <a:extLst xmlns:a="http://schemas.openxmlformats.org/drawingml/2006/main">
              <a:ext uri="{FF2B5EF4-FFF2-40B4-BE49-F238E27FC236}">
                <a16:creationId xmlns:a16="http://schemas.microsoft.com/office/drawing/2014/main" id="{D53B55FA-42A0-4DEF-AAF8-B77A63E2ADEF}"/>
              </a:ext>
            </a:extLst>
          </p:cNvPr>
          <p:cNvSpPr>
            <a:spLocks xmlns:a="http://schemas.openxmlformats.org/drawingml/2006/main" noGrp="1"/>
          </p:cNvSpPr>
          <p:nvPr/>
        </p:nvSpPr>
        <p:spPr>
          <a:xfrm xmlns:a="http://schemas.openxmlformats.org/drawingml/2006/main">
            <a:off x="6696075" y="2771775"/>
            <a:ext cx="45720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1" name="">
            <a:extLst xmlns:a="http://schemas.openxmlformats.org/drawingml/2006/main">
              <a:ext uri="{FF2B5EF4-FFF2-40B4-BE49-F238E27FC236}">
                <a16:creationId xmlns:a16="http://schemas.microsoft.com/office/drawing/2014/main" id="{EAA11C5F-0EDE-4BC1-8592-38923C1E5E21}"/>
              </a:ext>
            </a:extLst>
          </p:cNvPr>
          <p:cNvSpPr>
            <a:spLocks xmlns:a="http://schemas.openxmlformats.org/drawingml/2006/main" noGrp="1"/>
          </p:cNvSpPr>
          <p:nvPr/>
        </p:nvSpPr>
        <p:spPr>
          <a:xfrm xmlns:a="http://schemas.openxmlformats.org/drawingml/2006/main">
            <a:off x="50101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E32932BF-E58F-43D4-8A6C-06C547445854}"/>
              </a:ext>
            </a:extLst>
          </p:cNvPr>
          <p:cNvSpPr>
            <a:spLocks xmlns:a="http://schemas.openxmlformats.org/drawingml/2006/main" noGrp="1"/>
          </p:cNvSpPr>
          <p:nvPr/>
        </p:nvSpPr>
        <p:spPr>
          <a:xfrm xmlns:a="http://schemas.openxmlformats.org/drawingml/2006/main">
            <a:off x="51054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事件排程</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去重／依序</a:t>
            </a:r>
          </a:p>
        </p:txBody>
      </p:sp>
      <p:sp>
        <p:nvSpPr>
          <p:cNvPr id="13" name="">
            <a:extLst xmlns:a="http://schemas.openxmlformats.org/drawingml/2006/main">
              <a:ext uri="{FF2B5EF4-FFF2-40B4-BE49-F238E27FC236}">
                <a16:creationId xmlns:a16="http://schemas.microsoft.com/office/drawing/2014/main" id="{72E59006-3981-40B4-BD9F-4F6EDC4DE651}"/>
              </a:ext>
            </a:extLst>
          </p:cNvPr>
          <p:cNvSpPr>
            <a:spLocks xmlns:a="http://schemas.openxmlformats.org/drawingml/2006/main" noGrp="1"/>
          </p:cNvSpPr>
          <p:nvPr/>
        </p:nvSpPr>
        <p:spPr>
          <a:xfrm xmlns:a="http://schemas.openxmlformats.org/drawingml/2006/main">
            <a:off x="8905875" y="2771775"/>
            <a:ext cx="45720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4" name="">
            <a:extLst xmlns:a="http://schemas.openxmlformats.org/drawingml/2006/main">
              <a:ext uri="{FF2B5EF4-FFF2-40B4-BE49-F238E27FC236}">
                <a16:creationId xmlns:a16="http://schemas.microsoft.com/office/drawing/2014/main" id="{7C6D021B-86CA-4D6F-82CC-F326715C8B54}"/>
              </a:ext>
            </a:extLst>
          </p:cNvPr>
          <p:cNvSpPr>
            <a:spLocks xmlns:a="http://schemas.openxmlformats.org/drawingml/2006/main" noGrp="1"/>
          </p:cNvSpPr>
          <p:nvPr/>
        </p:nvSpPr>
        <p:spPr>
          <a:xfrm xmlns:a="http://schemas.openxmlformats.org/drawingml/2006/main">
            <a:off x="7219950" y="2324100"/>
            <a:ext cx="1752600" cy="1123950"/>
          </a:xfrm>
          <a:prstGeom xmlns:a="http://schemas.openxmlformats.org/drawingml/2006/main" prst="roundRect">
            <a:avLst>
              <a:gd name="adj" fmla="val 6780"/>
            </a:avLst>
          </a:prstGeom>
          <a:solidFill xmlns:a="http://schemas.openxmlformats.org/drawingml/2006/main">
            <a:srgbClr val="FFFFFF"/>
          </a:solidFill>
          <a:ln xmlns:a="http://schemas.openxmlformats.org/drawingml/2006/main" w="19050">
            <a:solidFill>
              <a:srgbClr val="843C46"/>
            </a:solidFill>
          </a:ln>
        </p:spPr>
      </p:sp>
      <p:sp>
        <p:nvSpPr>
          <p:cNvPr id="15" name="">
            <a:extLst xmlns:a="http://schemas.openxmlformats.org/drawingml/2006/main">
              <a:ext uri="{FF2B5EF4-FFF2-40B4-BE49-F238E27FC236}">
                <a16:creationId xmlns:a16="http://schemas.microsoft.com/office/drawing/2014/main" id="{48496A92-5079-4263-A5CA-7C5A838EFE36}"/>
              </a:ext>
            </a:extLst>
          </p:cNvPr>
          <p:cNvSpPr>
            <a:spLocks xmlns:a="http://schemas.openxmlformats.org/drawingml/2006/main" noGrp="1"/>
          </p:cNvSpPr>
          <p:nvPr/>
        </p:nvSpPr>
        <p:spPr>
          <a:xfrm xmlns:a="http://schemas.openxmlformats.org/drawingml/2006/main">
            <a:off x="73152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路由判斷</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命令／問答</a:t>
            </a:r>
          </a:p>
        </p:txBody>
      </p:sp>
      <p:sp>
        <p:nvSpPr>
          <p:cNvPr id="16" name="">
            <a:extLst xmlns:a="http://schemas.openxmlformats.org/drawingml/2006/main">
              <a:ext uri="{FF2B5EF4-FFF2-40B4-BE49-F238E27FC236}">
                <a16:creationId xmlns:a16="http://schemas.microsoft.com/office/drawing/2014/main" id="{60C1981C-5910-48D4-A2DF-056D40F74532}"/>
              </a:ext>
            </a:extLst>
          </p:cNvPr>
          <p:cNvSpPr>
            <a:spLocks xmlns:a="http://schemas.openxmlformats.org/drawingml/2006/main" noGrp="1"/>
          </p:cNvSpPr>
          <p:nvPr/>
        </p:nvSpPr>
        <p:spPr>
          <a:xfrm xmlns:a="http://schemas.openxmlformats.org/drawingml/2006/main">
            <a:off x="9429750" y="2324100"/>
            <a:ext cx="1752600" cy="1123950"/>
          </a:xfrm>
          <a:prstGeom xmlns:a="http://schemas.openxmlformats.org/drawingml/2006/main" prst="roundRect">
            <a:avLst>
              <a:gd name="adj" fmla="val 6780"/>
            </a:avLst>
          </a:prstGeom>
          <a:solidFill xmlns:a="http://schemas.openxmlformats.org/drawingml/2006/main">
            <a:srgbClr val="E5ECEA"/>
          </a:solidFill>
          <a:ln xmlns:a="http://schemas.openxmlformats.org/drawingml/2006/main" w="19050">
            <a:solidFill>
              <a:srgbClr val="557869"/>
            </a:solidFill>
          </a:ln>
        </p:spPr>
      </p:sp>
      <p:sp>
        <p:nvSpPr>
          <p:cNvPr id="17" name="">
            <a:extLst xmlns:a="http://schemas.openxmlformats.org/drawingml/2006/main">
              <a:ext uri="{FF2B5EF4-FFF2-40B4-BE49-F238E27FC236}">
                <a16:creationId xmlns:a16="http://schemas.microsoft.com/office/drawing/2014/main" id="{75006CCE-A96D-4475-A1CC-E8D7D301AEFE}"/>
              </a:ext>
            </a:extLst>
          </p:cNvPr>
          <p:cNvSpPr>
            <a:spLocks xmlns:a="http://schemas.openxmlformats.org/drawingml/2006/main" noGrp="1"/>
          </p:cNvSpPr>
          <p:nvPr/>
        </p:nvSpPr>
        <p:spPr>
          <a:xfrm xmlns:a="http://schemas.openxmlformats.org/drawingml/2006/main">
            <a:off x="9525000" y="2390775"/>
            <a:ext cx="15621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回覆 LINE</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文字／Quick Reply</a:t>
            </a:r>
          </a:p>
        </p:txBody>
      </p:sp>
      <p:sp>
        <p:nvSpPr>
          <p:cNvPr id="18" name="">
            <a:extLst xmlns:a="http://schemas.openxmlformats.org/drawingml/2006/main">
              <a:ext uri="{FF2B5EF4-FFF2-40B4-BE49-F238E27FC236}">
                <a16:creationId xmlns:a16="http://schemas.microsoft.com/office/drawing/2014/main" id="{CA7DAE90-9494-42CF-97F0-2F951EE123ED}"/>
              </a:ext>
            </a:extLst>
          </p:cNvPr>
          <p:cNvSpPr>
            <a:spLocks xmlns:a="http://schemas.openxmlformats.org/drawingml/2006/main" noGrp="1"/>
          </p:cNvSpPr>
          <p:nvPr/>
        </p:nvSpPr>
        <p:spPr>
          <a:xfrm xmlns:a="http://schemas.openxmlformats.org/drawingml/2006/main">
            <a:off x="8086725" y="3448050"/>
            <a:ext cx="28575" cy="7239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9" name="">
            <a:extLst xmlns:a="http://schemas.openxmlformats.org/drawingml/2006/main">
              <a:ext uri="{FF2B5EF4-FFF2-40B4-BE49-F238E27FC236}">
                <a16:creationId xmlns:a16="http://schemas.microsoft.com/office/drawing/2014/main" id="{07652A24-9547-4780-A499-9D98F76D62B0}"/>
              </a:ext>
            </a:extLst>
          </p:cNvPr>
          <p:cNvSpPr>
            <a:spLocks xmlns:a="http://schemas.openxmlformats.org/drawingml/2006/main" noGrp="1"/>
          </p:cNvSpPr>
          <p:nvPr/>
        </p:nvSpPr>
        <p:spPr>
          <a:xfrm xmlns:a="http://schemas.openxmlformats.org/drawingml/2006/main">
            <a:off x="6457950" y="4267200"/>
            <a:ext cx="3067050" cy="895350"/>
          </a:xfrm>
          <a:prstGeom xmlns:a="http://schemas.openxmlformats.org/drawingml/2006/main" prst="roundRect">
            <a:avLst>
              <a:gd name="adj" fmla="val 8511"/>
            </a:avLst>
          </a:prstGeom>
          <a:solidFill xmlns:a="http://schemas.openxmlformats.org/drawingml/2006/main">
            <a:srgbClr val="F0E2DF"/>
          </a:solidFill>
          <a:ln xmlns:a="http://schemas.openxmlformats.org/drawingml/2006/main" w="19050">
            <a:solidFill>
              <a:srgbClr val="843C46"/>
            </a:solidFill>
          </a:ln>
        </p:spPr>
      </p:sp>
      <p:sp>
        <p:nvSpPr>
          <p:cNvPr id="20" name="">
            <a:extLst xmlns:a="http://schemas.openxmlformats.org/drawingml/2006/main">
              <a:ext uri="{FF2B5EF4-FFF2-40B4-BE49-F238E27FC236}">
                <a16:creationId xmlns:a16="http://schemas.microsoft.com/office/drawing/2014/main" id="{15263222-89A4-4B5D-9562-0BC91B265E98}"/>
              </a:ext>
            </a:extLst>
          </p:cNvPr>
          <p:cNvSpPr>
            <a:spLocks xmlns:a="http://schemas.openxmlformats.org/drawingml/2006/main" noGrp="1"/>
          </p:cNvSpPr>
          <p:nvPr/>
        </p:nvSpPr>
        <p:spPr>
          <a:xfrm xmlns:a="http://schemas.openxmlformats.org/drawingml/2006/main">
            <a:off x="6553200" y="4333875"/>
            <a:ext cx="2876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規則路徑</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Help、學習、計分</a:t>
            </a:r>
          </a:p>
        </p:txBody>
      </p:sp>
      <p:sp>
        <p:nvSpPr>
          <p:cNvPr id="21" name="">
            <a:extLst xmlns:a="http://schemas.openxmlformats.org/drawingml/2006/main">
              <a:ext uri="{FF2B5EF4-FFF2-40B4-BE49-F238E27FC236}">
                <a16:creationId xmlns:a16="http://schemas.microsoft.com/office/drawing/2014/main" id="{4097D446-F167-4BDF-BB5F-575081A16E8F}"/>
              </a:ext>
            </a:extLst>
          </p:cNvPr>
          <p:cNvSpPr>
            <a:spLocks xmlns:a="http://schemas.openxmlformats.org/drawingml/2006/main" noGrp="1"/>
          </p:cNvSpPr>
          <p:nvPr/>
        </p:nvSpPr>
        <p:spPr>
          <a:xfrm xmlns:a="http://schemas.openxmlformats.org/drawingml/2006/main">
            <a:off x="9696450" y="4267200"/>
            <a:ext cx="1866900" cy="895350"/>
          </a:xfrm>
          <a:prstGeom xmlns:a="http://schemas.openxmlformats.org/drawingml/2006/main" prst="roundRect">
            <a:avLst>
              <a:gd name="adj" fmla="val 8511"/>
            </a:avLst>
          </a:prstGeom>
          <a:solidFill xmlns:a="http://schemas.openxmlformats.org/drawingml/2006/main">
            <a:srgbClr val="E7EBEF"/>
          </a:solidFill>
          <a:ln xmlns:a="http://schemas.openxmlformats.org/drawingml/2006/main" w="19050">
            <a:solidFill>
              <a:srgbClr val="58748E"/>
            </a:solidFill>
          </a:ln>
        </p:spPr>
      </p:sp>
      <p:sp>
        <p:nvSpPr>
          <p:cNvPr id="22" name="">
            <a:extLst xmlns:a="http://schemas.openxmlformats.org/drawingml/2006/main">
              <a:ext uri="{FF2B5EF4-FFF2-40B4-BE49-F238E27FC236}">
                <a16:creationId xmlns:a16="http://schemas.microsoft.com/office/drawing/2014/main" id="{9CF25EC2-72C7-4B2B-9D82-A89336D81D54}"/>
              </a:ext>
            </a:extLst>
          </p:cNvPr>
          <p:cNvSpPr>
            <a:spLocks xmlns:a="http://schemas.openxmlformats.org/drawingml/2006/main" noGrp="1"/>
          </p:cNvSpPr>
          <p:nvPr/>
        </p:nvSpPr>
        <p:spPr>
          <a:xfrm xmlns:a="http://schemas.openxmlformats.org/drawingml/2006/main">
            <a:off x="9791700" y="4333875"/>
            <a:ext cx="1676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模型路徑</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開放問題與追問</a:t>
            </a:r>
          </a:p>
        </p:txBody>
      </p:sp>
      <p:sp>
        <p:nvSpPr>
          <p:cNvPr id="23" name="">
            <a:extLst xmlns:a="http://schemas.openxmlformats.org/drawingml/2006/main">
              <a:ext uri="{FF2B5EF4-FFF2-40B4-BE49-F238E27FC236}">
                <a16:creationId xmlns:a16="http://schemas.microsoft.com/office/drawing/2014/main" id="{73C11F41-6ADE-4A8E-B11C-1332ABC01EDB}"/>
              </a:ext>
            </a:extLst>
          </p:cNvPr>
          <p:cNvSpPr>
            <a:spLocks xmlns:a="http://schemas.openxmlformats.org/drawingml/2006/main" noGrp="1"/>
          </p:cNvSpPr>
          <p:nvPr/>
        </p:nvSpPr>
        <p:spPr>
          <a:xfrm xmlns:a="http://schemas.openxmlformats.org/drawingml/2006/main">
            <a:off x="685800" y="5562600"/>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1">
                <a:solidFill>
                  <a:srgbClr val="242830"/>
                </a:solidFill>
                <a:latin typeface="Microsoft JhengHei"/>
                <a:ea typeface="Microsoft JhengHei"/>
                <a:cs typeface="Microsoft JhengHei"/>
              </a:defRPr>
            </a:pPr>
            <a:r>
              <a:rPr sz="1800" b="1">
                <a:solidFill>
                  <a:srgbClr val="242830"/>
                </a:solidFill>
                <a:latin typeface="Microsoft JhengHei"/>
                <a:ea typeface="Microsoft JhengHei"/>
                <a:cs typeface="Microsoft JhengHei"/>
              </a:rPr>
              <a:t>明確指令交給程式，自然語言問題交給回答服務。</a:t>
            </a:r>
          </a:p>
        </p:txBody>
      </p:sp>
      <p:sp>
        <p:nvSpPr>
          <p:cNvPr id="24" name="">
            <a:extLst xmlns:a="http://schemas.openxmlformats.org/drawingml/2006/main">
              <a:ext uri="{FF2B5EF4-FFF2-40B4-BE49-F238E27FC236}">
                <a16:creationId xmlns:a16="http://schemas.microsoft.com/office/drawing/2014/main" id="{E72C8504-BDE2-43CD-B4EF-F4A8CCC4479D}"/>
              </a:ext>
            </a:extLst>
          </p:cNvPr>
          <p:cNvSpPr>
            <a:spLocks xmlns:a="http://schemas.openxmlformats.org/drawingml/2006/main" noGrp="1"/>
          </p:cNvSpPr>
          <p:nvPr/>
        </p:nvSpPr>
        <p:spPr>
          <a:xfrm xmlns:a="http://schemas.openxmlformats.org/drawingml/2006/main">
            <a:off x="685800" y="6000750"/>
            <a:ext cx="990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ID 轉成假名代碼後使用；學習進度存在伺服器 SQLite</a:t>
            </a:r>
          </a:p>
        </p:txBody>
      </p:sp>
    </p:spTree>
    <p:extLst>
      <p:ext uri="{BB962C8B-B14F-4D97-AF65-F5344CB8AC3E}">
        <p14:creationId xmlns:p14="http://schemas.microsoft.com/office/powerpoint/2010/main" val="2016636549"/>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6E6A11F8-377F-4EFB-AA7E-7097E53D5DFF}"/>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系統架構與技術：內容資料</a:t>
            </a:r>
          </a:p>
        </p:txBody>
      </p:sp>
      <p:sp>
        <p:nvSpPr>
          <p:cNvPr id="2" name="">
            <a:extLst xmlns:a="http://schemas.openxmlformats.org/drawingml/2006/main">
              <a:ext uri="{FF2B5EF4-FFF2-40B4-BE49-F238E27FC236}">
                <a16:creationId xmlns:a16="http://schemas.microsoft.com/office/drawing/2014/main" id="{ACA70A96-C76A-4C5F-85D6-F56B77D6D27A}"/>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06</a:t>
            </a:r>
          </a:p>
        </p:txBody>
      </p:sp>
      <p:sp>
        <p:nvSpPr>
          <p:cNvPr id="3" name="">
            <a:extLst xmlns:a="http://schemas.openxmlformats.org/drawingml/2006/main">
              <a:ext uri="{FF2B5EF4-FFF2-40B4-BE49-F238E27FC236}">
                <a16:creationId xmlns:a16="http://schemas.microsoft.com/office/drawing/2014/main" id="{09D2E4A4-DE9C-401D-AC43-A4B597E4A1D1}"/>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843C46"/>
                </a:solidFill>
                <a:latin typeface="Microsoft JhengHei"/>
                <a:ea typeface="Microsoft JhengHei"/>
                <a:cs typeface="Microsoft JhengHei"/>
              </a:defRPr>
            </a:pPr>
            <a:r>
              <a:rPr sz="2475" b="1">
                <a:solidFill>
                  <a:srgbClr val="843C46"/>
                </a:solidFill>
                <a:latin typeface="Microsoft JhengHei"/>
                <a:ea typeface="Microsoft JhengHei"/>
                <a:cs typeface="Microsoft JhengHei"/>
              </a:rPr>
              <a:t>76 張知識卡、220 題、20 個主題</a:t>
            </a:r>
          </a:p>
        </p:txBody>
      </p:sp>
      <p:graphicFrame>
        <p:nvGraphicFramePr>
          <p:cNvPr id="15" name="Chart"/>
          <p:cNvGraphicFramePr/>
          <p:nvPr/>
        </p:nvGraphicFramePr>
        <p:xfrm>
          <a:off xmlns:a="http://schemas.openxmlformats.org/drawingml/2006/main" x="495300" y="2076450"/>
          <a:ext xmlns:a="http://schemas.openxmlformats.org/drawingml/2006/main" cx="6048375" cy="3429000"/>
        </p:xfrm>
        <a:graphic xmlns:a="http://schemas.openxmlformats.org/drawingml/2006/main">
          <a:graphicData uri="http://schemas.openxmlformats.org/drawingml/2006/chart">
            <c:chart xmlns:r="http://schemas.openxmlformats.org/officeDocument/2006/relationships" xmlns:c="http://schemas.openxmlformats.org/drawingml/2006/chart" r:id="R2e8610f9f1004b7d"/>
          </a:graphicData>
        </a:graphic>
      </p:graphicFrame>
      <p:sp>
        <p:nvSpPr>
          <p:cNvPr id="5" name="">
            <a:extLst xmlns:a="http://schemas.openxmlformats.org/drawingml/2006/main">
              <a:ext uri="{FF2B5EF4-FFF2-40B4-BE49-F238E27FC236}">
                <a16:creationId xmlns:a16="http://schemas.microsoft.com/office/drawing/2014/main" id="{B594DDE1-41E5-4AEA-AD81-7E8F61A18D1D}"/>
              </a:ext>
            </a:extLst>
          </p:cNvPr>
          <p:cNvSpPr>
            <a:spLocks xmlns:a="http://schemas.openxmlformats.org/drawingml/2006/main" noGrp="1"/>
          </p:cNvSpPr>
          <p:nvPr/>
        </p:nvSpPr>
        <p:spPr>
          <a:xfrm xmlns:a="http://schemas.openxmlformats.org/drawingml/2006/main">
            <a:off x="7353300" y="2105025"/>
            <a:ext cx="3276600" cy="3276600"/>
          </a:xfrm>
          <a:prstGeom xmlns:a="http://schemas.openxmlformats.org/drawingml/2006/main" prst="ellipse">
            <a:avLst/>
          </a:prstGeom>
          <a:solidFill xmlns:a="http://schemas.openxmlformats.org/drawingml/2006/main">
            <a:srgbClr val="EEE8DE"/>
          </a:solidFill>
          <a:ln xmlns:a="http://schemas.openxmlformats.org/drawingml/2006/main" w="9525">
            <a:solidFill>
              <a:srgbClr val="D8D1C7"/>
            </a:solidFill>
          </a:ln>
        </p:spPr>
      </p:sp>
      <p:sp>
        <p:nvSpPr>
          <p:cNvPr id="6" name="">
            <a:extLst xmlns:a="http://schemas.openxmlformats.org/drawingml/2006/main">
              <a:ext uri="{FF2B5EF4-FFF2-40B4-BE49-F238E27FC236}">
                <a16:creationId xmlns:a16="http://schemas.microsoft.com/office/drawing/2014/main" id="{B058C8F3-78C6-40E9-A1F2-9C86D57E82EA}"/>
              </a:ext>
            </a:extLst>
          </p:cNvPr>
          <p:cNvSpPr>
            <a:spLocks xmlns:a="http://schemas.openxmlformats.org/drawingml/2006/main" noGrp="1"/>
          </p:cNvSpPr>
          <p:nvPr/>
        </p:nvSpPr>
        <p:spPr>
          <a:xfrm xmlns:a="http://schemas.openxmlformats.org/drawingml/2006/main">
            <a:off x="7877175" y="2628900"/>
            <a:ext cx="2228850" cy="222885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7" name="">
            <a:extLst xmlns:a="http://schemas.openxmlformats.org/drawingml/2006/main">
              <a:ext uri="{FF2B5EF4-FFF2-40B4-BE49-F238E27FC236}">
                <a16:creationId xmlns:a16="http://schemas.microsoft.com/office/drawing/2014/main" id="{0CCF385B-7686-4FF1-8438-AB112A3F2742}"/>
              </a:ext>
            </a:extLst>
          </p:cNvPr>
          <p:cNvSpPr>
            <a:spLocks xmlns:a="http://schemas.openxmlformats.org/drawingml/2006/main" noGrp="1"/>
          </p:cNvSpPr>
          <p:nvPr/>
        </p:nvSpPr>
        <p:spPr>
          <a:xfrm xmlns:a="http://schemas.openxmlformats.org/drawingml/2006/main">
            <a:off x="8420100" y="3171825"/>
            <a:ext cx="1143000" cy="1143000"/>
          </a:xfrm>
          <a:prstGeom xmlns:a="http://schemas.openxmlformats.org/drawingml/2006/main" prst="ellipse">
            <a:avLst/>
          </a:prstGeom>
          <a:solidFill xmlns:a="http://schemas.openxmlformats.org/drawingml/2006/main">
            <a:srgbClr val="242830"/>
          </a:solidFill>
          <a:ln xmlns:a="http://schemas.openxmlformats.org/drawingml/2006/main" w="0">
            <a:solidFill>
              <a:srgbClr val="242830"/>
            </a:solidFill>
          </a:ln>
        </p:spPr>
      </p:sp>
      <p:sp>
        <p:nvSpPr>
          <p:cNvPr id="8" name="">
            <a:extLst xmlns:a="http://schemas.openxmlformats.org/drawingml/2006/main">
              <a:ext uri="{FF2B5EF4-FFF2-40B4-BE49-F238E27FC236}">
                <a16:creationId xmlns:a16="http://schemas.microsoft.com/office/drawing/2014/main" id="{7E9AD974-B83B-4E76-B016-17569BC1E3B5}"/>
              </a:ext>
            </a:extLst>
          </p:cNvPr>
          <p:cNvSpPr>
            <a:spLocks xmlns:a="http://schemas.openxmlformats.org/drawingml/2006/main" noGrp="1"/>
          </p:cNvSpPr>
          <p:nvPr/>
        </p:nvSpPr>
        <p:spPr>
          <a:xfrm xmlns:a="http://schemas.openxmlformats.org/drawingml/2006/main">
            <a:off x="8562975" y="3419475"/>
            <a:ext cx="857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FFFFFF"/>
                </a:solidFill>
                <a:latin typeface="Microsoft JhengHei"/>
                <a:ea typeface="Microsoft JhengHei"/>
                <a:cs typeface="Microsoft JhengHei"/>
              </a:defRPr>
            </a:pPr>
            <a:r>
              <a:rPr sz="1575" b="1">
                <a:solidFill>
                  <a:srgbClr val="FFFFFF"/>
                </a:solidFill>
                <a:latin typeface="Microsoft JhengHei"/>
                <a:ea typeface="Microsoft JhengHei"/>
                <a:cs typeface="Microsoft JhengHei"/>
              </a:rPr>
              <a:t>四座寶庫</a:t>
            </a:r>
          </a:p>
        </p:txBody>
      </p:sp>
      <p:sp>
        <p:nvSpPr>
          <p:cNvPr id="9" name="">
            <a:extLst xmlns:a="http://schemas.openxmlformats.org/drawingml/2006/main">
              <a:ext uri="{FF2B5EF4-FFF2-40B4-BE49-F238E27FC236}">
                <a16:creationId xmlns:a16="http://schemas.microsoft.com/office/drawing/2014/main" id="{2048F2B6-FD6F-4544-9C32-F17A9C5286C8}"/>
              </a:ext>
            </a:extLst>
          </p:cNvPr>
          <p:cNvSpPr>
            <a:spLocks xmlns:a="http://schemas.openxmlformats.org/drawingml/2006/main" noGrp="1"/>
          </p:cNvSpPr>
          <p:nvPr/>
        </p:nvSpPr>
        <p:spPr>
          <a:xfrm xmlns:a="http://schemas.openxmlformats.org/drawingml/2006/main">
            <a:off x="7715250" y="4476750"/>
            <a:ext cx="2571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80 段重組導引教材</a:t>
            </a:r>
          </a:p>
        </p:txBody>
      </p:sp>
      <p:sp>
        <p:nvSpPr>
          <p:cNvPr id="10" name="">
            <a:extLst xmlns:a="http://schemas.openxmlformats.org/drawingml/2006/main">
              <a:ext uri="{FF2B5EF4-FFF2-40B4-BE49-F238E27FC236}">
                <a16:creationId xmlns:a16="http://schemas.microsoft.com/office/drawing/2014/main" id="{53C6EB21-6F30-4D2A-8E7C-C3606FDAEA0D}"/>
              </a:ext>
            </a:extLst>
          </p:cNvPr>
          <p:cNvSpPr>
            <a:spLocks xmlns:a="http://schemas.openxmlformats.org/drawingml/2006/main" noGrp="1"/>
          </p:cNvSpPr>
          <p:nvPr/>
        </p:nvSpPr>
        <p:spPr>
          <a:xfrm xmlns:a="http://schemas.openxmlformats.org/drawingml/2006/main">
            <a:off x="7524750" y="5019675"/>
            <a:ext cx="295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固定題庫不依賴 AI API</a:t>
            </a:r>
          </a:p>
        </p:txBody>
      </p:sp>
      <p:sp>
        <p:nvSpPr>
          <p:cNvPr id="11" name="">
            <a:extLst xmlns:a="http://schemas.openxmlformats.org/drawingml/2006/main">
              <a:ext uri="{FF2B5EF4-FFF2-40B4-BE49-F238E27FC236}">
                <a16:creationId xmlns:a16="http://schemas.microsoft.com/office/drawing/2014/main" id="{551F1320-231A-4769-8B4D-7E87E70352F8}"/>
              </a:ext>
            </a:extLst>
          </p:cNvPr>
          <p:cNvSpPr>
            <a:spLocks xmlns:a="http://schemas.openxmlformats.org/drawingml/2006/main" noGrp="1"/>
          </p:cNvSpPr>
          <p:nvPr/>
        </p:nvSpPr>
        <p:spPr>
          <a:xfrm xmlns:a="http://schemas.openxmlformats.org/drawingml/2006/main">
            <a:off x="685800" y="5857875"/>
            <a:ext cx="10382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66717A"/>
                </a:solidFill>
                <a:latin typeface="Microsoft JhengHei"/>
                <a:ea typeface="Microsoft JhengHei"/>
                <a:cs typeface="Microsoft JhengHei"/>
              </a:defRPr>
            </a:pPr>
            <a:r>
              <a:rPr sz="1575" b="0">
                <a:solidFill>
                  <a:srgbClr val="66717A"/>
                </a:solidFill>
                <a:latin typeface="Microsoft JhengHei"/>
                <a:ea typeface="Microsoft JhengHei"/>
                <a:cs typeface="Microsoft JhengHei"/>
              </a:rPr>
              <a:t>知識卡提供來源；題庫答案固定；導引教材安排學習順序。</a:t>
            </a:r>
          </a:p>
        </p:txBody>
      </p:sp>
    </p:spTree>
    <p:extLst>
      <p:ext uri="{BB962C8B-B14F-4D97-AF65-F5344CB8AC3E}">
        <p14:creationId xmlns:p14="http://schemas.microsoft.com/office/powerpoint/2010/main" val="1128327688"/>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5DBA43F9-259E-493C-B47C-DCCD8BE3511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系統架構與技術：回答策略</a:t>
            </a:r>
          </a:p>
        </p:txBody>
      </p:sp>
      <p:sp>
        <p:nvSpPr>
          <p:cNvPr id="2" name="">
            <a:extLst xmlns:a="http://schemas.openxmlformats.org/drawingml/2006/main">
              <a:ext uri="{FF2B5EF4-FFF2-40B4-BE49-F238E27FC236}">
                <a16:creationId xmlns:a16="http://schemas.microsoft.com/office/drawing/2014/main" id="{B976D0CC-9082-4BEC-A4FC-B8E00271CB15}"/>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07</a:t>
            </a:r>
          </a:p>
        </p:txBody>
      </p:sp>
      <p:sp>
        <p:nvSpPr>
          <p:cNvPr id="3" name="">
            <a:extLst xmlns:a="http://schemas.openxmlformats.org/drawingml/2006/main">
              <a:ext uri="{FF2B5EF4-FFF2-40B4-BE49-F238E27FC236}">
                <a16:creationId xmlns:a16="http://schemas.microsoft.com/office/drawing/2014/main" id="{817554BE-2F95-4779-8675-0C1294B23A2B}"/>
              </a:ext>
            </a:extLst>
          </p:cNvPr>
          <p:cNvSpPr>
            <a:spLocks xmlns:a="http://schemas.openxmlformats.org/drawingml/2006/main" noGrp="1"/>
          </p:cNvSpPr>
          <p:nvPr/>
        </p:nvSpPr>
        <p:spPr>
          <a:xfrm xmlns:a="http://schemas.openxmlformats.org/drawingml/2006/main">
            <a:off x="685800" y="1343025"/>
            <a:ext cx="108204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先查本機知識卡，再決定是否呼叫模型</a:t>
            </a:r>
          </a:p>
        </p:txBody>
      </p:sp>
      <p:sp>
        <p:nvSpPr>
          <p:cNvPr id="4" name="">
            <a:extLst xmlns:a="http://schemas.openxmlformats.org/drawingml/2006/main">
              <a:ext uri="{FF2B5EF4-FFF2-40B4-BE49-F238E27FC236}">
                <a16:creationId xmlns:a16="http://schemas.microsoft.com/office/drawing/2014/main" id="{008EA750-4230-4F90-B856-330EA9FD9A6A}"/>
              </a:ext>
            </a:extLst>
          </p:cNvPr>
          <p:cNvSpPr>
            <a:spLocks xmlns:a="http://schemas.openxmlformats.org/drawingml/2006/main" noGrp="1"/>
          </p:cNvSpPr>
          <p:nvPr/>
        </p:nvSpPr>
        <p:spPr>
          <a:xfrm xmlns:a="http://schemas.openxmlformats.org/drawingml/2006/main">
            <a:off x="790575" y="2524125"/>
            <a:ext cx="2047875" cy="876300"/>
          </a:xfrm>
          <a:prstGeom xmlns:a="http://schemas.openxmlformats.org/drawingml/2006/main" prst="roundRect">
            <a:avLst>
              <a:gd name="adj" fmla="val 8696"/>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02711B2F-374A-4EC7-BA82-3B17A55B9445}"/>
              </a:ext>
            </a:extLst>
          </p:cNvPr>
          <p:cNvSpPr>
            <a:spLocks xmlns:a="http://schemas.openxmlformats.org/drawingml/2006/main" noGrp="1"/>
          </p:cNvSpPr>
          <p:nvPr/>
        </p:nvSpPr>
        <p:spPr>
          <a:xfrm xmlns:a="http://schemas.openxmlformats.org/drawingml/2006/main">
            <a:off x="885825" y="2590800"/>
            <a:ext cx="18573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FFFFFF"/>
                </a:solidFill>
                <a:latin typeface="Microsoft JhengHei"/>
                <a:ea typeface="Microsoft JhengHei"/>
                <a:cs typeface="Microsoft JhengHei"/>
              </a:defRPr>
            </a:pPr>
            <a:r>
              <a:rPr sz="1875" b="1">
                <a:solidFill>
                  <a:srgbClr val="FFFFFF"/>
                </a:solidFill>
                <a:latin typeface="Microsoft JhengHei"/>
                <a:ea typeface="Microsoft JhengHei"/>
                <a:cs typeface="Microsoft JhengHei"/>
              </a:rPr>
              <a:t>使用者問題</a:t>
            </a:r>
          </a:p>
        </p:txBody>
      </p:sp>
      <p:sp>
        <p:nvSpPr>
          <p:cNvPr id="6" name="">
            <a:extLst xmlns:a="http://schemas.openxmlformats.org/drawingml/2006/main">
              <a:ext uri="{FF2B5EF4-FFF2-40B4-BE49-F238E27FC236}">
                <a16:creationId xmlns:a16="http://schemas.microsoft.com/office/drawing/2014/main" id="{41825433-8B3A-45F7-915F-398E9F11A057}"/>
              </a:ext>
            </a:extLst>
          </p:cNvPr>
          <p:cNvSpPr>
            <a:spLocks xmlns:a="http://schemas.openxmlformats.org/drawingml/2006/main" noGrp="1"/>
          </p:cNvSpPr>
          <p:nvPr/>
        </p:nvSpPr>
        <p:spPr>
          <a:xfrm xmlns:a="http://schemas.openxmlformats.org/drawingml/2006/main">
            <a:off x="3009900" y="285750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767667B6-1EBC-48C2-970F-66C8E9E2D693}"/>
              </a:ext>
            </a:extLst>
          </p:cNvPr>
          <p:cNvSpPr>
            <a:spLocks xmlns:a="http://schemas.openxmlformats.org/drawingml/2006/main" noGrp="1"/>
          </p:cNvSpPr>
          <p:nvPr/>
        </p:nvSpPr>
        <p:spPr>
          <a:xfrm xmlns:a="http://schemas.openxmlformats.org/drawingml/2006/main">
            <a:off x="3857625" y="2390775"/>
            <a:ext cx="2114550" cy="1133475"/>
          </a:xfrm>
          <a:prstGeom xmlns:a="http://schemas.openxmlformats.org/drawingml/2006/main" prst="roundRect">
            <a:avLst>
              <a:gd name="adj" fmla="val 6723"/>
            </a:avLst>
          </a:prstGeom>
          <a:solidFill xmlns:a="http://schemas.openxmlformats.org/drawingml/2006/main">
            <a:srgbClr val="FFFFFF"/>
          </a:solidFill>
          <a:ln xmlns:a="http://schemas.openxmlformats.org/drawingml/2006/main" w="19050">
            <a:solidFill>
              <a:srgbClr val="843C46"/>
            </a:solidFill>
          </a:ln>
        </p:spPr>
      </p:sp>
      <p:sp>
        <p:nvSpPr>
          <p:cNvPr id="8" name="">
            <a:extLst xmlns:a="http://schemas.openxmlformats.org/drawingml/2006/main">
              <a:ext uri="{FF2B5EF4-FFF2-40B4-BE49-F238E27FC236}">
                <a16:creationId xmlns:a16="http://schemas.microsoft.com/office/drawing/2014/main" id="{87CE759F-9FC6-4BFC-BBB5-8F9021E5C623}"/>
              </a:ext>
            </a:extLst>
          </p:cNvPr>
          <p:cNvSpPr>
            <a:spLocks xmlns:a="http://schemas.openxmlformats.org/drawingml/2006/main" noGrp="1"/>
          </p:cNvSpPr>
          <p:nvPr/>
        </p:nvSpPr>
        <p:spPr>
          <a:xfrm xmlns:a="http://schemas.openxmlformats.org/drawingml/2006/main">
            <a:off x="3952875" y="2457450"/>
            <a:ext cx="19240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高信心命中</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知識卡？</a:t>
            </a:r>
          </a:p>
        </p:txBody>
      </p:sp>
      <p:sp>
        <p:nvSpPr>
          <p:cNvPr id="9" name="">
            <a:extLst xmlns:a="http://schemas.openxmlformats.org/drawingml/2006/main">
              <a:ext uri="{FF2B5EF4-FFF2-40B4-BE49-F238E27FC236}">
                <a16:creationId xmlns:a16="http://schemas.microsoft.com/office/drawing/2014/main" id="{887EDA7F-D4D1-4247-A203-41037DC360BB}"/>
              </a:ext>
            </a:extLst>
          </p:cNvPr>
          <p:cNvSpPr>
            <a:spLocks xmlns:a="http://schemas.openxmlformats.org/drawingml/2006/main" noGrp="1"/>
          </p:cNvSpPr>
          <p:nvPr/>
        </p:nvSpPr>
        <p:spPr>
          <a:xfrm xmlns:a="http://schemas.openxmlformats.org/drawingml/2006/main">
            <a:off x="6172200" y="234315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843C46"/>
                </a:solidFill>
                <a:latin typeface="Microsoft JhengHei"/>
                <a:ea typeface="Microsoft JhengHei"/>
                <a:cs typeface="Microsoft JhengHei"/>
              </a:defRPr>
            </a:pPr>
            <a:r>
              <a:rPr sz="1350" b="1">
                <a:solidFill>
                  <a:srgbClr val="843C46"/>
                </a:solidFill>
                <a:latin typeface="Microsoft JhengHei"/>
                <a:ea typeface="Microsoft JhengHei"/>
                <a:cs typeface="Microsoft JhengHei"/>
              </a:rPr>
              <a:t>是</a:t>
            </a:r>
          </a:p>
        </p:txBody>
      </p:sp>
      <p:sp>
        <p:nvSpPr>
          <p:cNvPr id="10" name="">
            <a:extLst xmlns:a="http://schemas.openxmlformats.org/drawingml/2006/main">
              <a:ext uri="{FF2B5EF4-FFF2-40B4-BE49-F238E27FC236}">
                <a16:creationId xmlns:a16="http://schemas.microsoft.com/office/drawing/2014/main" id="{3803E18D-7E56-42DE-99A5-74918CB11E3D}"/>
              </a:ext>
            </a:extLst>
          </p:cNvPr>
          <p:cNvSpPr>
            <a:spLocks xmlns:a="http://schemas.openxmlformats.org/drawingml/2006/main" noGrp="1"/>
          </p:cNvSpPr>
          <p:nvPr/>
        </p:nvSpPr>
        <p:spPr>
          <a:xfrm xmlns:a="http://schemas.openxmlformats.org/drawingml/2006/main">
            <a:off x="6172200" y="3724275"/>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58748E"/>
                </a:solidFill>
                <a:latin typeface="Microsoft JhengHei"/>
                <a:ea typeface="Microsoft JhengHei"/>
                <a:cs typeface="Microsoft JhengHei"/>
              </a:defRPr>
            </a:pPr>
            <a:r>
              <a:rPr sz="1350" b="1">
                <a:solidFill>
                  <a:srgbClr val="58748E"/>
                </a:solidFill>
                <a:latin typeface="Microsoft JhengHei"/>
                <a:ea typeface="Microsoft JhengHei"/>
                <a:cs typeface="Microsoft JhengHei"/>
              </a:rPr>
              <a:t>否</a:t>
            </a:r>
          </a:p>
        </p:txBody>
      </p:sp>
      <p:sp>
        <p:nvSpPr>
          <p:cNvPr id="11" name="">
            <a:extLst xmlns:a="http://schemas.openxmlformats.org/drawingml/2006/main">
              <a:ext uri="{FF2B5EF4-FFF2-40B4-BE49-F238E27FC236}">
                <a16:creationId xmlns:a16="http://schemas.microsoft.com/office/drawing/2014/main" id="{358764D8-FAA0-412B-B7D1-D308848753B7}"/>
              </a:ext>
            </a:extLst>
          </p:cNvPr>
          <p:cNvSpPr>
            <a:spLocks xmlns:a="http://schemas.openxmlformats.org/drawingml/2006/main" noGrp="1"/>
          </p:cNvSpPr>
          <p:nvPr/>
        </p:nvSpPr>
        <p:spPr>
          <a:xfrm xmlns:a="http://schemas.openxmlformats.org/drawingml/2006/main">
            <a:off x="6115050" y="2724150"/>
            <a:ext cx="666750" cy="20955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2" name="">
            <a:extLst xmlns:a="http://schemas.openxmlformats.org/drawingml/2006/main">
              <a:ext uri="{FF2B5EF4-FFF2-40B4-BE49-F238E27FC236}">
                <a16:creationId xmlns:a16="http://schemas.microsoft.com/office/drawing/2014/main" id="{D940A6F3-9579-443F-B2AA-7D4614AD2503}"/>
              </a:ext>
            </a:extLst>
          </p:cNvPr>
          <p:cNvSpPr>
            <a:spLocks xmlns:a="http://schemas.openxmlformats.org/drawingml/2006/main" noGrp="1"/>
          </p:cNvSpPr>
          <p:nvPr/>
        </p:nvSpPr>
        <p:spPr>
          <a:xfrm xmlns:a="http://schemas.openxmlformats.org/drawingml/2006/main">
            <a:off x="6115050" y="3990975"/>
            <a:ext cx="666750" cy="209550"/>
          </a:xfrm>
          <a:prstGeom xmlns:a="http://schemas.openxmlformats.org/drawingml/2006/main" prst="rightArrow">
            <a:avLst/>
          </a:prstGeom>
          <a:solidFill xmlns:a="http://schemas.openxmlformats.org/drawingml/2006/main">
            <a:srgbClr val="58748E"/>
          </a:solidFill>
          <a:ln xmlns:a="http://schemas.openxmlformats.org/drawingml/2006/main" w="0">
            <a:solidFill>
              <a:srgbClr val="58748E"/>
            </a:solidFill>
          </a:ln>
        </p:spPr>
      </p:sp>
      <p:sp>
        <p:nvSpPr>
          <p:cNvPr id="13" name="">
            <a:extLst xmlns:a="http://schemas.openxmlformats.org/drawingml/2006/main">
              <a:ext uri="{FF2B5EF4-FFF2-40B4-BE49-F238E27FC236}">
                <a16:creationId xmlns:a16="http://schemas.microsoft.com/office/drawing/2014/main" id="{EE1F8955-9EA0-42CF-9455-DD9EDFBDA02D}"/>
              </a:ext>
            </a:extLst>
          </p:cNvPr>
          <p:cNvSpPr>
            <a:spLocks xmlns:a="http://schemas.openxmlformats.org/drawingml/2006/main" noGrp="1"/>
          </p:cNvSpPr>
          <p:nvPr/>
        </p:nvSpPr>
        <p:spPr>
          <a:xfrm xmlns:a="http://schemas.openxmlformats.org/drawingml/2006/main">
            <a:off x="6962775" y="2390775"/>
            <a:ext cx="1952625" cy="1133475"/>
          </a:xfrm>
          <a:prstGeom xmlns:a="http://schemas.openxmlformats.org/drawingml/2006/main" prst="roundRect">
            <a:avLst>
              <a:gd name="adj" fmla="val 6723"/>
            </a:avLst>
          </a:prstGeom>
          <a:solidFill xmlns:a="http://schemas.openxmlformats.org/drawingml/2006/main">
            <a:srgbClr val="F0E2DF"/>
          </a:solidFill>
          <a:ln xmlns:a="http://schemas.openxmlformats.org/drawingml/2006/main" w="19050">
            <a:solidFill>
              <a:srgbClr val="843C46"/>
            </a:solidFill>
          </a:ln>
        </p:spPr>
      </p:sp>
      <p:sp>
        <p:nvSpPr>
          <p:cNvPr id="14" name="">
            <a:extLst xmlns:a="http://schemas.openxmlformats.org/drawingml/2006/main">
              <a:ext uri="{FF2B5EF4-FFF2-40B4-BE49-F238E27FC236}">
                <a16:creationId xmlns:a16="http://schemas.microsoft.com/office/drawing/2014/main" id="{9EBD9B67-926D-4190-9805-C869161452D0}"/>
              </a:ext>
            </a:extLst>
          </p:cNvPr>
          <p:cNvSpPr>
            <a:spLocks xmlns:a="http://schemas.openxmlformats.org/drawingml/2006/main" noGrp="1"/>
          </p:cNvSpPr>
          <p:nvPr/>
        </p:nvSpPr>
        <p:spPr>
          <a:xfrm xmlns:a="http://schemas.openxmlformats.org/drawingml/2006/main">
            <a:off x="7058025" y="2457450"/>
            <a:ext cx="1762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本機回答</a:t>
            </a:r>
          </a:p>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內容＋來源</a:t>
            </a:r>
          </a:p>
        </p:txBody>
      </p:sp>
      <p:sp>
        <p:nvSpPr>
          <p:cNvPr id="15" name="">
            <a:extLst xmlns:a="http://schemas.openxmlformats.org/drawingml/2006/main">
              <a:ext uri="{FF2B5EF4-FFF2-40B4-BE49-F238E27FC236}">
                <a16:creationId xmlns:a16="http://schemas.microsoft.com/office/drawing/2014/main" id="{506888EF-85DE-4958-AF44-CBAE5D2A4E77}"/>
              </a:ext>
            </a:extLst>
          </p:cNvPr>
          <p:cNvSpPr>
            <a:spLocks xmlns:a="http://schemas.openxmlformats.org/drawingml/2006/main" noGrp="1"/>
          </p:cNvSpPr>
          <p:nvPr/>
        </p:nvSpPr>
        <p:spPr>
          <a:xfrm xmlns:a="http://schemas.openxmlformats.org/drawingml/2006/main">
            <a:off x="6962775" y="3733800"/>
            <a:ext cx="2524125" cy="1133475"/>
          </a:xfrm>
          <a:prstGeom xmlns:a="http://schemas.openxmlformats.org/drawingml/2006/main" prst="roundRect">
            <a:avLst>
              <a:gd name="adj" fmla="val 6723"/>
            </a:avLst>
          </a:prstGeom>
          <a:solidFill xmlns:a="http://schemas.openxmlformats.org/drawingml/2006/main">
            <a:srgbClr val="E7EBEF"/>
          </a:solidFill>
          <a:ln xmlns:a="http://schemas.openxmlformats.org/drawingml/2006/main" w="19050">
            <a:solidFill>
              <a:srgbClr val="58748E"/>
            </a:solidFill>
          </a:ln>
        </p:spPr>
      </p:sp>
      <p:sp>
        <p:nvSpPr>
          <p:cNvPr id="16" name="">
            <a:extLst xmlns:a="http://schemas.openxmlformats.org/drawingml/2006/main">
              <a:ext uri="{FF2B5EF4-FFF2-40B4-BE49-F238E27FC236}">
                <a16:creationId xmlns:a16="http://schemas.microsoft.com/office/drawing/2014/main" id="{9B82CA82-0E07-4EAC-ACCC-F1D3ABC80C6D}"/>
              </a:ext>
            </a:extLst>
          </p:cNvPr>
          <p:cNvSpPr>
            <a:spLocks xmlns:a="http://schemas.openxmlformats.org/drawingml/2006/main" noGrp="1"/>
          </p:cNvSpPr>
          <p:nvPr/>
        </p:nvSpPr>
        <p:spPr>
          <a:xfrm xmlns:a="http://schemas.openxmlformats.org/drawingml/2006/main">
            <a:off x="7058025" y="3800475"/>
            <a:ext cx="23336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模型回答</a:t>
            </a:r>
          </a:p>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開放問題＋三組對話</a:t>
            </a:r>
          </a:p>
        </p:txBody>
      </p:sp>
      <p:sp>
        <p:nvSpPr>
          <p:cNvPr id="17" name="">
            <a:extLst xmlns:a="http://schemas.openxmlformats.org/drawingml/2006/main">
              <a:ext uri="{FF2B5EF4-FFF2-40B4-BE49-F238E27FC236}">
                <a16:creationId xmlns:a16="http://schemas.microsoft.com/office/drawing/2014/main" id="{4AC6F494-468F-41B8-9A76-ECF834A66110}"/>
              </a:ext>
            </a:extLst>
          </p:cNvPr>
          <p:cNvSpPr>
            <a:spLocks xmlns:a="http://schemas.openxmlformats.org/drawingml/2006/main" noGrp="1"/>
          </p:cNvSpPr>
          <p:nvPr/>
        </p:nvSpPr>
        <p:spPr>
          <a:xfrm xmlns:a="http://schemas.openxmlformats.org/drawingml/2006/main">
            <a:off x="9658350" y="2857500"/>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8" name="">
            <a:extLst xmlns:a="http://schemas.openxmlformats.org/drawingml/2006/main">
              <a:ext uri="{FF2B5EF4-FFF2-40B4-BE49-F238E27FC236}">
                <a16:creationId xmlns:a16="http://schemas.microsoft.com/office/drawing/2014/main" id="{D18CC57C-BF14-4B54-B4F4-B00E28B37FAD}"/>
              </a:ext>
            </a:extLst>
          </p:cNvPr>
          <p:cNvSpPr>
            <a:spLocks xmlns:a="http://schemas.openxmlformats.org/drawingml/2006/main" noGrp="1"/>
          </p:cNvSpPr>
          <p:nvPr/>
        </p:nvSpPr>
        <p:spPr>
          <a:xfrm xmlns:a="http://schemas.openxmlformats.org/drawingml/2006/main">
            <a:off x="9658350" y="4143375"/>
            <a:ext cx="666750" cy="209550"/>
          </a:xfrm>
          <a:prstGeom xmlns:a="http://schemas.openxmlformats.org/drawingml/2006/main" prst="rightArrow">
            <a:avLst/>
          </a:prstGeom>
          <a:solidFill xmlns:a="http://schemas.openxmlformats.org/drawingml/2006/main">
            <a:srgbClr val="557869"/>
          </a:solidFill>
          <a:ln xmlns:a="http://schemas.openxmlformats.org/drawingml/2006/main" w="0">
            <a:solidFill>
              <a:srgbClr val="557869"/>
            </a:solidFill>
          </a:ln>
        </p:spPr>
      </p:sp>
      <p:sp>
        <p:nvSpPr>
          <p:cNvPr id="19" name="">
            <a:extLst xmlns:a="http://schemas.openxmlformats.org/drawingml/2006/main">
              <a:ext uri="{FF2B5EF4-FFF2-40B4-BE49-F238E27FC236}">
                <a16:creationId xmlns:a16="http://schemas.microsoft.com/office/drawing/2014/main" id="{7E1DE806-8316-4DD6-811C-25073BEA82C3}"/>
              </a:ext>
            </a:extLst>
          </p:cNvPr>
          <p:cNvSpPr>
            <a:spLocks xmlns:a="http://schemas.openxmlformats.org/drawingml/2006/main" noGrp="1"/>
          </p:cNvSpPr>
          <p:nvPr/>
        </p:nvSpPr>
        <p:spPr>
          <a:xfrm xmlns:a="http://schemas.openxmlformats.org/drawingml/2006/main">
            <a:off x="10410825" y="3076575"/>
            <a:ext cx="1238250" cy="1066800"/>
          </a:xfrm>
          <a:prstGeom xmlns:a="http://schemas.openxmlformats.org/drawingml/2006/main" prst="roundRect">
            <a:avLst>
              <a:gd name="adj" fmla="val 7143"/>
            </a:avLst>
          </a:prstGeom>
          <a:solidFill xmlns:a="http://schemas.openxmlformats.org/drawingml/2006/main">
            <a:srgbClr val="E5ECEA"/>
          </a:solidFill>
          <a:ln xmlns:a="http://schemas.openxmlformats.org/drawingml/2006/main" w="19050">
            <a:solidFill>
              <a:srgbClr val="557869"/>
            </a:solidFill>
          </a:ln>
        </p:spPr>
      </p:sp>
      <p:sp>
        <p:nvSpPr>
          <p:cNvPr id="20" name="">
            <a:extLst xmlns:a="http://schemas.openxmlformats.org/drawingml/2006/main">
              <a:ext uri="{FF2B5EF4-FFF2-40B4-BE49-F238E27FC236}">
                <a16:creationId xmlns:a16="http://schemas.microsoft.com/office/drawing/2014/main" id="{0579BC76-60CD-42B5-A133-0CDAF88F44EB}"/>
              </a:ext>
            </a:extLst>
          </p:cNvPr>
          <p:cNvSpPr>
            <a:spLocks xmlns:a="http://schemas.openxmlformats.org/drawingml/2006/main" noGrp="1"/>
          </p:cNvSpPr>
          <p:nvPr/>
        </p:nvSpPr>
        <p:spPr>
          <a:xfrm xmlns:a="http://schemas.openxmlformats.org/drawingml/2006/main">
            <a:off x="10506075" y="3143250"/>
            <a:ext cx="1047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格式與</a:t>
            </a:r>
          </a:p>
          <a:p xmlns:a="http://schemas.openxmlformats.org/drawingml/2006/main">
            <a:pPr algn="ctr">
              <a:defRPr sz="1500" b="1">
                <a:solidFill>
                  <a:srgbClr val="242830"/>
                </a:solidFill>
                <a:latin typeface="Microsoft JhengHei"/>
                <a:ea typeface="Microsoft JhengHei"/>
                <a:cs typeface="Microsoft JhengHei"/>
              </a:defRPr>
            </a:pPr>
            <a:r>
              <a:rPr sz="1500" b="1">
                <a:solidFill>
                  <a:srgbClr val="242830"/>
                </a:solidFill>
                <a:latin typeface="Microsoft JhengHei"/>
                <a:ea typeface="Microsoft JhengHei"/>
                <a:cs typeface="Microsoft JhengHei"/>
              </a:rPr>
              <a:t>內容檢查</a:t>
            </a:r>
          </a:p>
        </p:txBody>
      </p:sp>
      <p:sp>
        <p:nvSpPr>
          <p:cNvPr id="21" name="">
            <a:extLst xmlns:a="http://schemas.openxmlformats.org/drawingml/2006/main">
              <a:ext uri="{FF2B5EF4-FFF2-40B4-BE49-F238E27FC236}">
                <a16:creationId xmlns:a16="http://schemas.microsoft.com/office/drawing/2014/main" id="{1151B259-6E1A-4636-A959-D3E726234948}"/>
              </a:ext>
            </a:extLst>
          </p:cNvPr>
          <p:cNvSpPr>
            <a:spLocks xmlns:a="http://schemas.openxmlformats.org/drawingml/2006/main" noGrp="1"/>
          </p:cNvSpPr>
          <p:nvPr/>
        </p:nvSpPr>
        <p:spPr>
          <a:xfrm xmlns:a="http://schemas.openxmlformats.org/drawingml/2006/main">
            <a:off x="685800" y="53816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課程 OpenAI 額度用完後，Demo 改採 Google AI Studio 免費方案</a:t>
            </a:r>
          </a:p>
        </p:txBody>
      </p:sp>
      <p:sp>
        <p:nvSpPr>
          <p:cNvPr id="22" name="">
            <a:extLst xmlns:a="http://schemas.openxmlformats.org/drawingml/2006/main">
              <a:ext uri="{FF2B5EF4-FFF2-40B4-BE49-F238E27FC236}">
                <a16:creationId xmlns:a16="http://schemas.microsoft.com/office/drawing/2014/main" id="{92F46787-BA17-4CC4-833C-366D7153A92D}"/>
              </a:ext>
            </a:extLst>
          </p:cNvPr>
          <p:cNvSpPr>
            <a:spLocks xmlns:a="http://schemas.openxmlformats.org/drawingml/2006/main" noGrp="1"/>
          </p:cNvSpPr>
          <p:nvPr/>
        </p:nvSpPr>
        <p:spPr>
          <a:xfrm xmlns:a="http://schemas.openxmlformats.org/drawingml/2006/main">
            <a:off x="685800" y="5848350"/>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設定使用 Google 時，不會在執行途中偷偷切回付費 OpenAI。</a:t>
            </a:r>
          </a:p>
        </p:txBody>
      </p:sp>
    </p:spTree>
    <p:extLst>
      <p:ext uri="{BB962C8B-B14F-4D97-AF65-F5344CB8AC3E}">
        <p14:creationId xmlns:p14="http://schemas.microsoft.com/office/powerpoint/2010/main" val="1807599264"/>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6DF9A8E7-DFED-4FAD-9750-5EAC543341EA}"/>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3. 系統架構與技術：導引式學習</a:t>
            </a:r>
          </a:p>
        </p:txBody>
      </p:sp>
      <p:sp>
        <p:nvSpPr>
          <p:cNvPr id="2" name="">
            <a:extLst xmlns:a="http://schemas.openxmlformats.org/drawingml/2006/main">
              <a:ext uri="{FF2B5EF4-FFF2-40B4-BE49-F238E27FC236}">
                <a16:creationId xmlns:a16="http://schemas.microsoft.com/office/drawing/2014/main" id="{45B709EE-8BD6-4F53-B997-B2175C20D28C}"/>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08</a:t>
            </a:r>
          </a:p>
        </p:txBody>
      </p:sp>
      <p:sp>
        <p:nvSpPr>
          <p:cNvPr id="3" name="">
            <a:extLst xmlns:a="http://schemas.openxmlformats.org/drawingml/2006/main">
              <a:ext uri="{FF2B5EF4-FFF2-40B4-BE49-F238E27FC236}">
                <a16:creationId xmlns:a16="http://schemas.microsoft.com/office/drawing/2014/main" id="{04AD5081-6FDA-4815-96CD-CEFFE16CFC40}"/>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「你對這世界感到好奇嗎？」</a:t>
            </a:r>
          </a:p>
        </p:txBody>
      </p:sp>
      <p:sp>
        <p:nvSpPr>
          <p:cNvPr id="4" name="">
            <a:extLst xmlns:a="http://schemas.openxmlformats.org/drawingml/2006/main">
              <a:ext uri="{FF2B5EF4-FFF2-40B4-BE49-F238E27FC236}">
                <a16:creationId xmlns:a16="http://schemas.microsoft.com/office/drawing/2014/main" id="{26CA0F2C-A009-4AB7-B1E9-EEA3927F8895}"/>
              </a:ext>
            </a:extLst>
          </p:cNvPr>
          <p:cNvSpPr>
            <a:spLocks xmlns:a="http://schemas.openxmlformats.org/drawingml/2006/main" noGrp="1"/>
          </p:cNvSpPr>
          <p:nvPr/>
        </p:nvSpPr>
        <p:spPr>
          <a:xfrm xmlns:a="http://schemas.openxmlformats.org/drawingml/2006/main">
            <a:off x="685800" y="2486025"/>
            <a:ext cx="1428750" cy="685800"/>
          </a:xfrm>
          <a:prstGeom xmlns:a="http://schemas.openxmlformats.org/drawingml/2006/main" prst="roundRect">
            <a:avLst>
              <a:gd name="adj" fmla="val 11111"/>
            </a:avLst>
          </a:prstGeom>
          <a:solidFill xmlns:a="http://schemas.openxmlformats.org/drawingml/2006/main">
            <a:srgbClr val="242830"/>
          </a:solidFill>
          <a:ln xmlns:a="http://schemas.openxmlformats.org/drawingml/2006/main" w="19050">
            <a:solidFill>
              <a:srgbClr val="242830"/>
            </a:solidFill>
          </a:ln>
        </p:spPr>
      </p:sp>
      <p:sp>
        <p:nvSpPr>
          <p:cNvPr id="5" name="">
            <a:extLst xmlns:a="http://schemas.openxmlformats.org/drawingml/2006/main">
              <a:ext uri="{FF2B5EF4-FFF2-40B4-BE49-F238E27FC236}">
                <a16:creationId xmlns:a16="http://schemas.microsoft.com/office/drawing/2014/main" id="{A9FDDA79-81DD-4FF4-A91F-476B321B6AEA}"/>
              </a:ext>
            </a:extLst>
          </p:cNvPr>
          <p:cNvSpPr>
            <a:spLocks xmlns:a="http://schemas.openxmlformats.org/drawingml/2006/main" noGrp="1"/>
          </p:cNvSpPr>
          <p:nvPr/>
        </p:nvSpPr>
        <p:spPr>
          <a:xfrm xmlns:a="http://schemas.openxmlformats.org/drawingml/2006/main">
            <a:off x="781050" y="2552700"/>
            <a:ext cx="1238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FFFFFF"/>
                </a:solidFill>
                <a:latin typeface="Microsoft JhengHei"/>
                <a:ea typeface="Microsoft JhengHei"/>
                <a:cs typeface="Microsoft JhengHei"/>
              </a:defRPr>
            </a:pPr>
            <a:r>
              <a:rPr sz="1650" b="1">
                <a:solidFill>
                  <a:srgbClr val="FFFFFF"/>
                </a:solidFill>
                <a:latin typeface="Microsoft JhengHei"/>
                <a:ea typeface="Microsoft JhengHei"/>
                <a:cs typeface="Microsoft JhengHei"/>
              </a:rPr>
              <a:t>選擇路線</a:t>
            </a:r>
          </a:p>
        </p:txBody>
      </p:sp>
      <p:sp>
        <p:nvSpPr>
          <p:cNvPr id="6" name="">
            <a:extLst xmlns:a="http://schemas.openxmlformats.org/drawingml/2006/main">
              <a:ext uri="{FF2B5EF4-FFF2-40B4-BE49-F238E27FC236}">
                <a16:creationId xmlns:a16="http://schemas.microsoft.com/office/drawing/2014/main" id="{E8872241-9FC0-4721-B065-C0DF211B076B}"/>
              </a:ext>
            </a:extLst>
          </p:cNvPr>
          <p:cNvSpPr>
            <a:spLocks xmlns:a="http://schemas.openxmlformats.org/drawingml/2006/main" noGrp="1"/>
          </p:cNvSpPr>
          <p:nvPr/>
        </p:nvSpPr>
        <p:spPr>
          <a:xfrm xmlns:a="http://schemas.openxmlformats.org/drawingml/2006/main">
            <a:off x="2238375" y="2724150"/>
            <a:ext cx="504825" cy="200025"/>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7" name="">
            <a:extLst xmlns:a="http://schemas.openxmlformats.org/drawingml/2006/main">
              <a:ext uri="{FF2B5EF4-FFF2-40B4-BE49-F238E27FC236}">
                <a16:creationId xmlns:a16="http://schemas.microsoft.com/office/drawing/2014/main" id="{C667D697-C4D7-4C8D-AD6F-4363767EA732}"/>
              </a:ext>
            </a:extLst>
          </p:cNvPr>
          <p:cNvSpPr>
            <a:spLocks xmlns:a="http://schemas.openxmlformats.org/drawingml/2006/main" noGrp="1"/>
          </p:cNvSpPr>
          <p:nvPr/>
        </p:nvSpPr>
        <p:spPr>
          <a:xfrm xmlns:a="http://schemas.openxmlformats.org/drawingml/2006/main">
            <a:off x="2914650" y="19240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8748E"/>
            </a:solidFill>
          </a:ln>
        </p:spPr>
      </p:sp>
      <p:sp>
        <p:nvSpPr>
          <p:cNvPr id="8" name="">
            <a:extLst xmlns:a="http://schemas.openxmlformats.org/drawingml/2006/main">
              <a:ext uri="{FF2B5EF4-FFF2-40B4-BE49-F238E27FC236}">
                <a16:creationId xmlns:a16="http://schemas.microsoft.com/office/drawing/2014/main" id="{51B25709-F16B-4B84-AA62-0F35E0A3F419}"/>
              </a:ext>
            </a:extLst>
          </p:cNvPr>
          <p:cNvSpPr>
            <a:spLocks xmlns:a="http://schemas.openxmlformats.org/drawingml/2006/main" noGrp="1"/>
          </p:cNvSpPr>
          <p:nvPr/>
        </p:nvSpPr>
        <p:spPr>
          <a:xfrm xmlns:a="http://schemas.openxmlformats.org/drawingml/2006/main">
            <a:off x="3009900" y="19907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星海之庫</a:t>
            </a:r>
          </a:p>
        </p:txBody>
      </p:sp>
      <p:sp>
        <p:nvSpPr>
          <p:cNvPr id="9" name="">
            <a:extLst xmlns:a="http://schemas.openxmlformats.org/drawingml/2006/main">
              <a:ext uri="{FF2B5EF4-FFF2-40B4-BE49-F238E27FC236}">
                <a16:creationId xmlns:a16="http://schemas.microsoft.com/office/drawing/2014/main" id="{EF27FE6D-FD27-47C8-BFA6-383B9D65FE5A}"/>
              </a:ext>
            </a:extLst>
          </p:cNvPr>
          <p:cNvSpPr>
            <a:spLocks xmlns:a="http://schemas.openxmlformats.org/drawingml/2006/main" noGrp="1"/>
          </p:cNvSpPr>
          <p:nvPr/>
        </p:nvSpPr>
        <p:spPr>
          <a:xfrm xmlns:a="http://schemas.openxmlformats.org/drawingml/2006/main">
            <a:off x="2914650" y="28003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557869"/>
            </a:solidFill>
          </a:ln>
        </p:spPr>
      </p:sp>
      <p:sp>
        <p:nvSpPr>
          <p:cNvPr id="10" name="">
            <a:extLst xmlns:a="http://schemas.openxmlformats.org/drawingml/2006/main">
              <a:ext uri="{FF2B5EF4-FFF2-40B4-BE49-F238E27FC236}">
                <a16:creationId xmlns:a16="http://schemas.microsoft.com/office/drawing/2014/main" id="{0374CD09-449C-44E7-8AAB-A1B7FFB4D0EE}"/>
              </a:ext>
            </a:extLst>
          </p:cNvPr>
          <p:cNvSpPr>
            <a:spLocks xmlns:a="http://schemas.openxmlformats.org/drawingml/2006/main" noGrp="1"/>
          </p:cNvSpPr>
          <p:nvPr/>
        </p:nvSpPr>
        <p:spPr>
          <a:xfrm xmlns:a="http://schemas.openxmlformats.org/drawingml/2006/main">
            <a:off x="3009900" y="28670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地脈與生命</a:t>
            </a:r>
          </a:p>
        </p:txBody>
      </p:sp>
      <p:sp>
        <p:nvSpPr>
          <p:cNvPr id="11" name="">
            <a:extLst xmlns:a="http://schemas.openxmlformats.org/drawingml/2006/main">
              <a:ext uri="{FF2B5EF4-FFF2-40B4-BE49-F238E27FC236}">
                <a16:creationId xmlns:a16="http://schemas.microsoft.com/office/drawing/2014/main" id="{BD57B5A2-826F-4997-BF0C-CE948F10C50A}"/>
              </a:ext>
            </a:extLst>
          </p:cNvPr>
          <p:cNvSpPr>
            <a:spLocks xmlns:a="http://schemas.openxmlformats.org/drawingml/2006/main" noGrp="1"/>
          </p:cNvSpPr>
          <p:nvPr/>
        </p:nvSpPr>
        <p:spPr>
          <a:xfrm xmlns:a="http://schemas.openxmlformats.org/drawingml/2006/main">
            <a:off x="2914650" y="36766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77658B"/>
            </a:solidFill>
          </a:ln>
        </p:spPr>
      </p:sp>
      <p:sp>
        <p:nvSpPr>
          <p:cNvPr id="12" name="">
            <a:extLst xmlns:a="http://schemas.openxmlformats.org/drawingml/2006/main">
              <a:ext uri="{FF2B5EF4-FFF2-40B4-BE49-F238E27FC236}">
                <a16:creationId xmlns:a16="http://schemas.microsoft.com/office/drawing/2014/main" id="{8906D6EF-77F2-4674-A5DA-B08BF1742E64}"/>
              </a:ext>
            </a:extLst>
          </p:cNvPr>
          <p:cNvSpPr>
            <a:spLocks xmlns:a="http://schemas.openxmlformats.org/drawingml/2006/main" noGrp="1"/>
          </p:cNvSpPr>
          <p:nvPr/>
        </p:nvSpPr>
        <p:spPr>
          <a:xfrm xmlns:a="http://schemas.openxmlformats.org/drawingml/2006/main">
            <a:off x="3009900" y="37433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萬象法則</a:t>
            </a:r>
          </a:p>
        </p:txBody>
      </p:sp>
      <p:sp>
        <p:nvSpPr>
          <p:cNvPr id="13" name="">
            <a:extLst xmlns:a="http://schemas.openxmlformats.org/drawingml/2006/main">
              <a:ext uri="{FF2B5EF4-FFF2-40B4-BE49-F238E27FC236}">
                <a16:creationId xmlns:a16="http://schemas.microsoft.com/office/drawing/2014/main" id="{F61C54C3-264F-4AEE-A3F0-69E386E3DEE8}"/>
              </a:ext>
            </a:extLst>
          </p:cNvPr>
          <p:cNvSpPr>
            <a:spLocks xmlns:a="http://schemas.openxmlformats.org/drawingml/2006/main" noGrp="1"/>
          </p:cNvSpPr>
          <p:nvPr/>
        </p:nvSpPr>
        <p:spPr>
          <a:xfrm xmlns:a="http://schemas.openxmlformats.org/drawingml/2006/main">
            <a:off x="2914650" y="4552950"/>
            <a:ext cx="2286000" cy="619125"/>
          </a:xfrm>
          <a:prstGeom xmlns:a="http://schemas.openxmlformats.org/drawingml/2006/main" prst="roundRect">
            <a:avLst>
              <a:gd name="adj" fmla="val 12308"/>
            </a:avLst>
          </a:prstGeom>
          <a:solidFill xmlns:a="http://schemas.openxmlformats.org/drawingml/2006/main">
            <a:srgbClr val="FFFFFF"/>
          </a:solidFill>
          <a:ln xmlns:a="http://schemas.openxmlformats.org/drawingml/2006/main" w="19050">
            <a:solidFill>
              <a:srgbClr val="B9904A"/>
            </a:solidFill>
          </a:ln>
        </p:spPr>
      </p:sp>
      <p:sp>
        <p:nvSpPr>
          <p:cNvPr id="14" name="">
            <a:extLst xmlns:a="http://schemas.openxmlformats.org/drawingml/2006/main">
              <a:ext uri="{FF2B5EF4-FFF2-40B4-BE49-F238E27FC236}">
                <a16:creationId xmlns:a16="http://schemas.microsoft.com/office/drawing/2014/main" id="{53FD2DE1-F003-4855-8284-8AFA59CAE689}"/>
              </a:ext>
            </a:extLst>
          </p:cNvPr>
          <p:cNvSpPr>
            <a:spLocks xmlns:a="http://schemas.openxmlformats.org/drawingml/2006/main" noGrp="1"/>
          </p:cNvSpPr>
          <p:nvPr/>
        </p:nvSpPr>
        <p:spPr>
          <a:xfrm xmlns:a="http://schemas.openxmlformats.org/drawingml/2006/main">
            <a:off x="3009900" y="4619625"/>
            <a:ext cx="20955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 未來幻夢</a:t>
            </a:r>
          </a:p>
        </p:txBody>
      </p:sp>
      <p:sp>
        <p:nvSpPr>
          <p:cNvPr id="15" name="">
            <a:extLst xmlns:a="http://schemas.openxmlformats.org/drawingml/2006/main">
              <a:ext uri="{FF2B5EF4-FFF2-40B4-BE49-F238E27FC236}">
                <a16:creationId xmlns:a16="http://schemas.microsoft.com/office/drawing/2014/main" id="{4B8FD6A9-1B6A-49B0-99AC-031E4E68F817}"/>
              </a:ext>
            </a:extLst>
          </p:cNvPr>
          <p:cNvSpPr>
            <a:spLocks xmlns:a="http://schemas.openxmlformats.org/drawingml/2006/main" noGrp="1"/>
          </p:cNvSpPr>
          <p:nvPr/>
        </p:nvSpPr>
        <p:spPr>
          <a:xfrm xmlns:a="http://schemas.openxmlformats.org/drawingml/2006/main">
            <a:off x="5362575" y="2238375"/>
            <a:ext cx="28575" cy="283845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6" name="">
            <a:extLst xmlns:a="http://schemas.openxmlformats.org/drawingml/2006/main">
              <a:ext uri="{FF2B5EF4-FFF2-40B4-BE49-F238E27FC236}">
                <a16:creationId xmlns:a16="http://schemas.microsoft.com/office/drawing/2014/main" id="{6BCF6FD1-0A17-4079-A71A-2E314809D119}"/>
              </a:ext>
            </a:extLst>
          </p:cNvPr>
          <p:cNvSpPr>
            <a:spLocks xmlns:a="http://schemas.openxmlformats.org/drawingml/2006/main" noGrp="1"/>
          </p:cNvSpPr>
          <p:nvPr/>
        </p:nvSpPr>
        <p:spPr>
          <a:xfrm xmlns:a="http://schemas.openxmlformats.org/drawingml/2006/main">
            <a:off x="68389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17" name="">
            <a:extLst xmlns:a="http://schemas.openxmlformats.org/drawingml/2006/main">
              <a:ext uri="{FF2B5EF4-FFF2-40B4-BE49-F238E27FC236}">
                <a16:creationId xmlns:a16="http://schemas.microsoft.com/office/drawing/2014/main" id="{A123A8C4-54F0-49BF-9400-DAE8A6835E21}"/>
              </a:ext>
            </a:extLst>
          </p:cNvPr>
          <p:cNvSpPr>
            <a:spLocks xmlns:a="http://schemas.openxmlformats.org/drawingml/2006/main" noGrp="1"/>
          </p:cNvSpPr>
          <p:nvPr/>
        </p:nvSpPr>
        <p:spPr>
          <a:xfrm xmlns:a="http://schemas.openxmlformats.org/drawingml/2006/main">
            <a:off x="58578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18" name="">
            <a:extLst xmlns:a="http://schemas.openxmlformats.org/drawingml/2006/main">
              <a:ext uri="{FF2B5EF4-FFF2-40B4-BE49-F238E27FC236}">
                <a16:creationId xmlns:a16="http://schemas.microsoft.com/office/drawing/2014/main" id="{204FAB2F-07A9-423F-A7D3-AFA589B852F7}"/>
              </a:ext>
            </a:extLst>
          </p:cNvPr>
          <p:cNvSpPr>
            <a:spLocks xmlns:a="http://schemas.openxmlformats.org/drawingml/2006/main" noGrp="1"/>
          </p:cNvSpPr>
          <p:nvPr/>
        </p:nvSpPr>
        <p:spPr>
          <a:xfrm xmlns:a="http://schemas.openxmlformats.org/drawingml/2006/main">
            <a:off x="61817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1</a:t>
            </a:r>
          </a:p>
        </p:txBody>
      </p:sp>
      <p:sp>
        <p:nvSpPr>
          <p:cNvPr id="19" name="">
            <a:extLst xmlns:a="http://schemas.openxmlformats.org/drawingml/2006/main">
              <a:ext uri="{FF2B5EF4-FFF2-40B4-BE49-F238E27FC236}">
                <a16:creationId xmlns:a16="http://schemas.microsoft.com/office/drawing/2014/main" id="{8A38EF06-2402-4DB0-A285-4E57A995F7C1}"/>
              </a:ext>
            </a:extLst>
          </p:cNvPr>
          <p:cNvSpPr>
            <a:spLocks xmlns:a="http://schemas.openxmlformats.org/drawingml/2006/main" noGrp="1"/>
          </p:cNvSpPr>
          <p:nvPr/>
        </p:nvSpPr>
        <p:spPr>
          <a:xfrm xmlns:a="http://schemas.openxmlformats.org/drawingml/2006/main">
            <a:off x="59721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短講</a:t>
            </a:r>
          </a:p>
        </p:txBody>
      </p:sp>
      <p:sp>
        <p:nvSpPr>
          <p:cNvPr id="20" name="">
            <a:extLst xmlns:a="http://schemas.openxmlformats.org/drawingml/2006/main">
              <a:ext uri="{FF2B5EF4-FFF2-40B4-BE49-F238E27FC236}">
                <a16:creationId xmlns:a16="http://schemas.microsoft.com/office/drawing/2014/main" id="{7D520B15-4DC2-4CBC-8ABA-797D12E4F83E}"/>
              </a:ext>
            </a:extLst>
          </p:cNvPr>
          <p:cNvSpPr>
            <a:spLocks xmlns:a="http://schemas.openxmlformats.org/drawingml/2006/main" noGrp="1"/>
          </p:cNvSpPr>
          <p:nvPr/>
        </p:nvSpPr>
        <p:spPr>
          <a:xfrm xmlns:a="http://schemas.openxmlformats.org/drawingml/2006/main">
            <a:off x="57626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段</a:t>
            </a:r>
          </a:p>
        </p:txBody>
      </p:sp>
      <p:sp>
        <p:nvSpPr>
          <p:cNvPr id="21" name="">
            <a:extLst xmlns:a="http://schemas.openxmlformats.org/drawingml/2006/main">
              <a:ext uri="{FF2B5EF4-FFF2-40B4-BE49-F238E27FC236}">
                <a16:creationId xmlns:a16="http://schemas.microsoft.com/office/drawing/2014/main" id="{5A0FF8CA-41E0-44B6-9DDE-93618571AF3E}"/>
              </a:ext>
            </a:extLst>
          </p:cNvPr>
          <p:cNvSpPr>
            <a:spLocks xmlns:a="http://schemas.openxmlformats.org/drawingml/2006/main" noGrp="1"/>
          </p:cNvSpPr>
          <p:nvPr/>
        </p:nvSpPr>
        <p:spPr>
          <a:xfrm xmlns:a="http://schemas.openxmlformats.org/drawingml/2006/main">
            <a:off x="826770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2" name="">
            <a:extLst xmlns:a="http://schemas.openxmlformats.org/drawingml/2006/main">
              <a:ext uri="{FF2B5EF4-FFF2-40B4-BE49-F238E27FC236}">
                <a16:creationId xmlns:a16="http://schemas.microsoft.com/office/drawing/2014/main" id="{64DD07C1-2AA6-4E98-AE30-F530038E4124}"/>
              </a:ext>
            </a:extLst>
          </p:cNvPr>
          <p:cNvSpPr>
            <a:spLocks xmlns:a="http://schemas.openxmlformats.org/drawingml/2006/main" noGrp="1"/>
          </p:cNvSpPr>
          <p:nvPr/>
        </p:nvSpPr>
        <p:spPr>
          <a:xfrm xmlns:a="http://schemas.openxmlformats.org/drawingml/2006/main">
            <a:off x="728662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3" name="">
            <a:extLst xmlns:a="http://schemas.openxmlformats.org/drawingml/2006/main">
              <a:ext uri="{FF2B5EF4-FFF2-40B4-BE49-F238E27FC236}">
                <a16:creationId xmlns:a16="http://schemas.microsoft.com/office/drawing/2014/main" id="{BA66EF28-3BF1-4B91-AC2E-F1483DAA6710}"/>
              </a:ext>
            </a:extLst>
          </p:cNvPr>
          <p:cNvSpPr>
            <a:spLocks xmlns:a="http://schemas.openxmlformats.org/drawingml/2006/main" noGrp="1"/>
          </p:cNvSpPr>
          <p:nvPr/>
        </p:nvSpPr>
        <p:spPr>
          <a:xfrm xmlns:a="http://schemas.openxmlformats.org/drawingml/2006/main">
            <a:off x="76104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2</a:t>
            </a:r>
          </a:p>
        </p:txBody>
      </p:sp>
      <p:sp>
        <p:nvSpPr>
          <p:cNvPr id="24" name="">
            <a:extLst xmlns:a="http://schemas.openxmlformats.org/drawingml/2006/main">
              <a:ext uri="{FF2B5EF4-FFF2-40B4-BE49-F238E27FC236}">
                <a16:creationId xmlns:a16="http://schemas.microsoft.com/office/drawing/2014/main" id="{9C4B72CB-ED47-4695-9D9E-02B2582148D7}"/>
              </a:ext>
            </a:extLst>
          </p:cNvPr>
          <p:cNvSpPr>
            <a:spLocks xmlns:a="http://schemas.openxmlformats.org/drawingml/2006/main" noGrp="1"/>
          </p:cNvSpPr>
          <p:nvPr/>
        </p:nvSpPr>
        <p:spPr>
          <a:xfrm xmlns:a="http://schemas.openxmlformats.org/drawingml/2006/main">
            <a:off x="74009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理解題</a:t>
            </a:r>
          </a:p>
        </p:txBody>
      </p:sp>
      <p:sp>
        <p:nvSpPr>
          <p:cNvPr id="25" name="">
            <a:extLst xmlns:a="http://schemas.openxmlformats.org/drawingml/2006/main">
              <a:ext uri="{FF2B5EF4-FFF2-40B4-BE49-F238E27FC236}">
                <a16:creationId xmlns:a16="http://schemas.microsoft.com/office/drawing/2014/main" id="{85C2C699-FCF1-4163-90D1-103DA446437B}"/>
              </a:ext>
            </a:extLst>
          </p:cNvPr>
          <p:cNvSpPr>
            <a:spLocks xmlns:a="http://schemas.openxmlformats.org/drawingml/2006/main" noGrp="1"/>
          </p:cNvSpPr>
          <p:nvPr/>
        </p:nvSpPr>
        <p:spPr>
          <a:xfrm xmlns:a="http://schemas.openxmlformats.org/drawingml/2006/main">
            <a:off x="71913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立即解說</a:t>
            </a:r>
          </a:p>
        </p:txBody>
      </p:sp>
      <p:sp>
        <p:nvSpPr>
          <p:cNvPr id="26" name="">
            <a:extLst xmlns:a="http://schemas.openxmlformats.org/drawingml/2006/main">
              <a:ext uri="{FF2B5EF4-FFF2-40B4-BE49-F238E27FC236}">
                <a16:creationId xmlns:a16="http://schemas.microsoft.com/office/drawing/2014/main" id="{86A02166-2605-4EDB-BED2-9DE8BAA3C67D}"/>
              </a:ext>
            </a:extLst>
          </p:cNvPr>
          <p:cNvSpPr>
            <a:spLocks xmlns:a="http://schemas.openxmlformats.org/drawingml/2006/main" noGrp="1"/>
          </p:cNvSpPr>
          <p:nvPr/>
        </p:nvSpPr>
        <p:spPr>
          <a:xfrm xmlns:a="http://schemas.openxmlformats.org/drawingml/2006/main">
            <a:off x="9696450" y="3038475"/>
            <a:ext cx="400050" cy="190500"/>
          </a:xfrm>
          <a:prstGeom xmlns:a="http://schemas.openxmlformats.org/drawingml/2006/main" prst="rightArrow">
            <a:avLst/>
          </a:prstGeom>
          <a:solidFill xmlns:a="http://schemas.openxmlformats.org/drawingml/2006/main">
            <a:srgbClr val="843C46"/>
          </a:solidFill>
          <a:ln xmlns:a="http://schemas.openxmlformats.org/drawingml/2006/main" w="0">
            <a:solidFill>
              <a:srgbClr val="843C46"/>
            </a:solidFill>
          </a:ln>
        </p:spPr>
      </p:sp>
      <p:sp>
        <p:nvSpPr>
          <p:cNvPr id="27" name="">
            <a:extLst xmlns:a="http://schemas.openxmlformats.org/drawingml/2006/main">
              <a:ext uri="{FF2B5EF4-FFF2-40B4-BE49-F238E27FC236}">
                <a16:creationId xmlns:a16="http://schemas.microsoft.com/office/drawing/2014/main" id="{3816DA47-2D64-441C-A665-01B3BD8E5B24}"/>
              </a:ext>
            </a:extLst>
          </p:cNvPr>
          <p:cNvSpPr>
            <a:spLocks xmlns:a="http://schemas.openxmlformats.org/drawingml/2006/main" noGrp="1"/>
          </p:cNvSpPr>
          <p:nvPr/>
        </p:nvSpPr>
        <p:spPr>
          <a:xfrm xmlns:a="http://schemas.openxmlformats.org/drawingml/2006/main">
            <a:off x="8715375" y="2571750"/>
            <a:ext cx="1066800" cy="1066800"/>
          </a:xfrm>
          <a:prstGeom xmlns:a="http://schemas.openxmlformats.org/drawingml/2006/main" prst="ellipse">
            <a:avLst/>
          </a:prstGeom>
          <a:solidFill xmlns:a="http://schemas.openxmlformats.org/drawingml/2006/main">
            <a:srgbClr val="FFFFFF"/>
          </a:solidFill>
          <a:ln xmlns:a="http://schemas.openxmlformats.org/drawingml/2006/main" w="19050">
            <a:solidFill>
              <a:srgbClr val="843C46"/>
            </a:solidFill>
          </a:ln>
        </p:spPr>
      </p:sp>
      <p:sp>
        <p:nvSpPr>
          <p:cNvPr id="28" name="">
            <a:extLst xmlns:a="http://schemas.openxmlformats.org/drawingml/2006/main">
              <a:ext uri="{FF2B5EF4-FFF2-40B4-BE49-F238E27FC236}">
                <a16:creationId xmlns:a16="http://schemas.microsoft.com/office/drawing/2014/main" id="{FEA487DD-3487-4B7E-90E1-090B8AA5C9F9}"/>
              </a:ext>
            </a:extLst>
          </p:cNvPr>
          <p:cNvSpPr>
            <a:spLocks xmlns:a="http://schemas.openxmlformats.org/drawingml/2006/main" noGrp="1"/>
          </p:cNvSpPr>
          <p:nvPr/>
        </p:nvSpPr>
        <p:spPr>
          <a:xfrm xmlns:a="http://schemas.openxmlformats.org/drawingml/2006/main">
            <a:off x="903922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3</a:t>
            </a:r>
          </a:p>
        </p:txBody>
      </p:sp>
      <p:sp>
        <p:nvSpPr>
          <p:cNvPr id="29" name="">
            <a:extLst xmlns:a="http://schemas.openxmlformats.org/drawingml/2006/main">
              <a:ext uri="{FF2B5EF4-FFF2-40B4-BE49-F238E27FC236}">
                <a16:creationId xmlns:a16="http://schemas.microsoft.com/office/drawing/2014/main" id="{E5E58AE8-529B-4B50-94C8-667EE340C05E}"/>
              </a:ext>
            </a:extLst>
          </p:cNvPr>
          <p:cNvSpPr>
            <a:spLocks xmlns:a="http://schemas.openxmlformats.org/drawingml/2006/main" noGrp="1"/>
          </p:cNvSpPr>
          <p:nvPr/>
        </p:nvSpPr>
        <p:spPr>
          <a:xfrm xmlns:a="http://schemas.openxmlformats.org/drawingml/2006/main">
            <a:off x="882967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過關挑戰</a:t>
            </a:r>
          </a:p>
        </p:txBody>
      </p:sp>
      <p:sp>
        <p:nvSpPr>
          <p:cNvPr id="30" name="">
            <a:extLst xmlns:a="http://schemas.openxmlformats.org/drawingml/2006/main">
              <a:ext uri="{FF2B5EF4-FFF2-40B4-BE49-F238E27FC236}">
                <a16:creationId xmlns:a16="http://schemas.microsoft.com/office/drawing/2014/main" id="{006AE614-0655-4D65-80F3-9EA9901B208D}"/>
              </a:ext>
            </a:extLst>
          </p:cNvPr>
          <p:cNvSpPr>
            <a:spLocks xmlns:a="http://schemas.openxmlformats.org/drawingml/2006/main" noGrp="1"/>
          </p:cNvSpPr>
          <p:nvPr/>
        </p:nvSpPr>
        <p:spPr>
          <a:xfrm xmlns:a="http://schemas.openxmlformats.org/drawingml/2006/main">
            <a:off x="862012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5 題答對 4 題</a:t>
            </a:r>
          </a:p>
        </p:txBody>
      </p:sp>
      <p:sp>
        <p:nvSpPr>
          <p:cNvPr id="31" name="">
            <a:extLst xmlns:a="http://schemas.openxmlformats.org/drawingml/2006/main">
              <a:ext uri="{FF2B5EF4-FFF2-40B4-BE49-F238E27FC236}">
                <a16:creationId xmlns:a16="http://schemas.microsoft.com/office/drawing/2014/main" id="{FC94D458-933F-4173-82E2-8D600D5C9A1D}"/>
              </a:ext>
            </a:extLst>
          </p:cNvPr>
          <p:cNvSpPr>
            <a:spLocks xmlns:a="http://schemas.openxmlformats.org/drawingml/2006/main" noGrp="1"/>
          </p:cNvSpPr>
          <p:nvPr/>
        </p:nvSpPr>
        <p:spPr>
          <a:xfrm xmlns:a="http://schemas.openxmlformats.org/drawingml/2006/main">
            <a:off x="10144125" y="2571750"/>
            <a:ext cx="1066800" cy="1066800"/>
          </a:xfrm>
          <a:prstGeom xmlns:a="http://schemas.openxmlformats.org/drawingml/2006/main" prst="ellipse">
            <a:avLst/>
          </a:prstGeom>
          <a:solidFill xmlns:a="http://schemas.openxmlformats.org/drawingml/2006/main">
            <a:srgbClr val="E5ECEA"/>
          </a:solidFill>
          <a:ln xmlns:a="http://schemas.openxmlformats.org/drawingml/2006/main" w="19050">
            <a:solidFill>
              <a:srgbClr val="557869"/>
            </a:solidFill>
          </a:ln>
        </p:spPr>
      </p:sp>
      <p:sp>
        <p:nvSpPr>
          <p:cNvPr id="32" name="">
            <a:extLst xmlns:a="http://schemas.openxmlformats.org/drawingml/2006/main">
              <a:ext uri="{FF2B5EF4-FFF2-40B4-BE49-F238E27FC236}">
                <a16:creationId xmlns:a16="http://schemas.microsoft.com/office/drawing/2014/main" id="{9E45074E-1294-4543-89BA-038F1ED9657C}"/>
              </a:ext>
            </a:extLst>
          </p:cNvPr>
          <p:cNvSpPr>
            <a:spLocks xmlns:a="http://schemas.openxmlformats.org/drawingml/2006/main" noGrp="1"/>
          </p:cNvSpPr>
          <p:nvPr/>
        </p:nvSpPr>
        <p:spPr>
          <a:xfrm xmlns:a="http://schemas.openxmlformats.org/drawingml/2006/main">
            <a:off x="10467975" y="2724150"/>
            <a:ext cx="419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00" b="1">
                <a:solidFill>
                  <a:srgbClr val="843C46"/>
                </a:solidFill>
                <a:latin typeface="Microsoft JhengHei"/>
                <a:ea typeface="Microsoft JhengHei"/>
                <a:cs typeface="Microsoft JhengHei"/>
              </a:defRPr>
            </a:pPr>
            <a:r>
              <a:rPr sz="1500" b="1">
                <a:solidFill>
                  <a:srgbClr val="843C46"/>
                </a:solidFill>
                <a:latin typeface="Microsoft JhengHei"/>
                <a:ea typeface="Microsoft JhengHei"/>
                <a:cs typeface="Microsoft JhengHei"/>
              </a:rPr>
              <a:t>4</a:t>
            </a:r>
          </a:p>
        </p:txBody>
      </p:sp>
      <p:sp>
        <p:nvSpPr>
          <p:cNvPr id="33" name="">
            <a:extLst xmlns:a="http://schemas.openxmlformats.org/drawingml/2006/main">
              <a:ext uri="{FF2B5EF4-FFF2-40B4-BE49-F238E27FC236}">
                <a16:creationId xmlns:a16="http://schemas.microsoft.com/office/drawing/2014/main" id="{4E34F14B-5585-4828-BA6F-D2B99EE1E691}"/>
              </a:ext>
            </a:extLst>
          </p:cNvPr>
          <p:cNvSpPr>
            <a:spLocks xmlns:a="http://schemas.openxmlformats.org/drawingml/2006/main" noGrp="1"/>
          </p:cNvSpPr>
          <p:nvPr/>
        </p:nvSpPr>
        <p:spPr>
          <a:xfrm xmlns:a="http://schemas.openxmlformats.org/drawingml/2006/main">
            <a:off x="10258425" y="3048000"/>
            <a:ext cx="838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1">
                <a:solidFill>
                  <a:srgbClr val="242830"/>
                </a:solidFill>
                <a:latin typeface="Microsoft JhengHei"/>
                <a:ea typeface="Microsoft JhengHei"/>
                <a:cs typeface="Microsoft JhengHei"/>
              </a:defRPr>
            </a:pPr>
            <a:r>
              <a:rPr sz="1350" b="1">
                <a:solidFill>
                  <a:srgbClr val="242830"/>
                </a:solidFill>
                <a:latin typeface="Microsoft JhengHei"/>
                <a:ea typeface="Microsoft JhengHei"/>
                <a:cs typeface="Microsoft JhengHei"/>
              </a:rPr>
              <a:t>下一階段</a:t>
            </a:r>
          </a:p>
        </p:txBody>
      </p:sp>
      <p:sp>
        <p:nvSpPr>
          <p:cNvPr id="34" name="">
            <a:extLst xmlns:a="http://schemas.openxmlformats.org/drawingml/2006/main">
              <a:ext uri="{FF2B5EF4-FFF2-40B4-BE49-F238E27FC236}">
                <a16:creationId xmlns:a16="http://schemas.microsoft.com/office/drawing/2014/main" id="{6DD6C1FC-2195-4500-BCD1-79AD63A9C4B3}"/>
              </a:ext>
            </a:extLst>
          </p:cNvPr>
          <p:cNvSpPr>
            <a:spLocks xmlns:a="http://schemas.openxmlformats.org/drawingml/2006/main" noGrp="1"/>
          </p:cNvSpPr>
          <p:nvPr/>
        </p:nvSpPr>
        <p:spPr>
          <a:xfrm xmlns:a="http://schemas.openxmlformats.org/drawingml/2006/main">
            <a:off x="10048875" y="3676650"/>
            <a:ext cx="12573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各路獨立進度</a:t>
            </a:r>
          </a:p>
        </p:txBody>
      </p:sp>
      <p:sp>
        <p:nvSpPr>
          <p:cNvPr id="35" name="">
            <a:extLst xmlns:a="http://schemas.openxmlformats.org/drawingml/2006/main">
              <a:ext uri="{FF2B5EF4-FFF2-40B4-BE49-F238E27FC236}">
                <a16:creationId xmlns:a16="http://schemas.microsoft.com/office/drawing/2014/main" id="{C836710A-3D4F-43AC-8B3C-E9A1347F1867}"/>
              </a:ext>
            </a:extLst>
          </p:cNvPr>
          <p:cNvSpPr>
            <a:spLocks xmlns:a="http://schemas.openxmlformats.org/drawingml/2006/main" noGrp="1"/>
          </p:cNvSpPr>
          <p:nvPr/>
        </p:nvSpPr>
        <p:spPr>
          <a:xfrm xmlns:a="http://schemas.openxmlformats.org/drawingml/2006/main">
            <a:off x="5791200" y="4810125"/>
            <a:ext cx="5619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242830"/>
                </a:solidFill>
                <a:latin typeface="Microsoft JhengHei"/>
                <a:ea typeface="Microsoft JhengHei"/>
                <a:cs typeface="Microsoft JhengHei"/>
              </a:defRPr>
            </a:pPr>
            <a:r>
              <a:rPr sz="1650" b="1">
                <a:solidFill>
                  <a:srgbClr val="242830"/>
                </a:solidFill>
                <a:latin typeface="Microsoft JhengHei"/>
                <a:ea typeface="Microsoft JhengHei"/>
                <a:cs typeface="Microsoft JhengHei"/>
              </a:rPr>
              <a:t>四條路線各自保存進度，使用者可以自由換路再回來。</a:t>
            </a:r>
          </a:p>
        </p:txBody>
      </p:sp>
      <p:sp>
        <p:nvSpPr>
          <p:cNvPr id="36" name="">
            <a:extLst xmlns:a="http://schemas.openxmlformats.org/drawingml/2006/main">
              <a:ext uri="{FF2B5EF4-FFF2-40B4-BE49-F238E27FC236}">
                <a16:creationId xmlns:a16="http://schemas.microsoft.com/office/drawing/2014/main" id="{031072C0-C545-4217-954E-7AF204C90943}"/>
              </a:ext>
            </a:extLst>
          </p:cNvPr>
          <p:cNvSpPr>
            <a:spLocks xmlns:a="http://schemas.openxmlformats.org/drawingml/2006/main" noGrp="1"/>
          </p:cNvSpPr>
          <p:nvPr/>
        </p:nvSpPr>
        <p:spPr>
          <a:xfrm xmlns:a="http://schemas.openxmlformats.org/drawingml/2006/main">
            <a:off x="5791200" y="563880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位於機器人伺服器，LINE 手機端不執行 SQL。</a:t>
            </a:r>
          </a:p>
        </p:txBody>
      </p:sp>
    </p:spTree>
    <p:extLst>
      <p:ext uri="{BB962C8B-B14F-4D97-AF65-F5344CB8AC3E}">
        <p14:creationId xmlns:p14="http://schemas.microsoft.com/office/powerpoint/2010/main" val="1134253014"/>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C7A9AC78-4E9F-4E96-94B4-5D906CC75423}"/>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4. 系統驗證</a:t>
            </a:r>
          </a:p>
        </p:txBody>
      </p:sp>
      <p:sp>
        <p:nvSpPr>
          <p:cNvPr id="2" name="">
            <a:extLst xmlns:a="http://schemas.openxmlformats.org/drawingml/2006/main">
              <a:ext uri="{FF2B5EF4-FFF2-40B4-BE49-F238E27FC236}">
                <a16:creationId xmlns:a16="http://schemas.microsoft.com/office/drawing/2014/main" id="{3DB88A06-A31F-49B6-B435-E0E9BE4BE777}"/>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09</a:t>
            </a:r>
          </a:p>
        </p:txBody>
      </p:sp>
      <p:sp>
        <p:nvSpPr>
          <p:cNvPr id="3" name="">
            <a:extLst xmlns:a="http://schemas.openxmlformats.org/drawingml/2006/main">
              <a:ext uri="{FF2B5EF4-FFF2-40B4-BE49-F238E27FC236}">
                <a16:creationId xmlns:a16="http://schemas.microsoft.com/office/drawing/2014/main" id="{3B8E5017-F3DB-421C-A702-46306B2540D9}"/>
              </a:ext>
            </a:extLst>
          </p:cNvPr>
          <p:cNvSpPr>
            <a:spLocks xmlns:a="http://schemas.openxmlformats.org/drawingml/2006/main" noGrp="1"/>
          </p:cNvSpPr>
          <p:nvPr/>
        </p:nvSpPr>
        <p:spPr>
          <a:xfrm xmlns:a="http://schemas.openxmlformats.org/drawingml/2006/main">
            <a:off x="685800" y="13239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LINE 機器人的主要流程有沒有照規則運作？</a:t>
            </a:r>
          </a:p>
        </p:txBody>
      </p:sp>
      <p:sp>
        <p:nvSpPr>
          <p:cNvPr id="4" name="">
            <a:extLst xmlns:a="http://schemas.openxmlformats.org/drawingml/2006/main">
              <a:ext uri="{FF2B5EF4-FFF2-40B4-BE49-F238E27FC236}">
                <a16:creationId xmlns:a16="http://schemas.microsoft.com/office/drawing/2014/main" id="{5A6D2F24-008E-4538-84E9-07E8A3C6F116}"/>
              </a:ext>
            </a:extLst>
          </p:cNvPr>
          <p:cNvSpPr>
            <a:spLocks xmlns:a="http://schemas.openxmlformats.org/drawingml/2006/main" noGrp="1"/>
          </p:cNvSpPr>
          <p:nvPr/>
        </p:nvSpPr>
        <p:spPr>
          <a:xfrm xmlns:a="http://schemas.openxmlformats.org/drawingml/2006/main">
            <a:off x="1400175" y="3171825"/>
            <a:ext cx="8477250" cy="38100"/>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BC58CF22-38F5-49AB-9531-D1B90826F935}"/>
              </a:ext>
            </a:extLst>
          </p:cNvPr>
          <p:cNvSpPr>
            <a:spLocks xmlns:a="http://schemas.openxmlformats.org/drawingml/2006/main" noGrp="1"/>
          </p:cNvSpPr>
          <p:nvPr/>
        </p:nvSpPr>
        <p:spPr>
          <a:xfrm xmlns:a="http://schemas.openxmlformats.org/drawingml/2006/main">
            <a:off x="10001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AFC00649-5934-4B2D-843C-6E649A4784CE}"/>
              </a:ext>
            </a:extLst>
          </p:cNvPr>
          <p:cNvSpPr>
            <a:spLocks xmlns:a="http://schemas.openxmlformats.org/drawingml/2006/main" noGrp="1"/>
          </p:cNvSpPr>
          <p:nvPr/>
        </p:nvSpPr>
        <p:spPr>
          <a:xfrm xmlns:a="http://schemas.openxmlformats.org/drawingml/2006/main">
            <a:off x="12858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843C46"/>
                </a:solidFill>
                <a:latin typeface="Microsoft JhengHei"/>
                <a:ea typeface="Microsoft JhengHei"/>
                <a:cs typeface="Microsoft JhengHei"/>
              </a:defRPr>
            </a:pPr>
            <a:r>
              <a:rPr sz="1800"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A1B65C53-49A1-4672-A0C0-ACCD4203F23F}"/>
              </a:ext>
            </a:extLst>
          </p:cNvPr>
          <p:cNvSpPr>
            <a:spLocks xmlns:a="http://schemas.openxmlformats.org/drawingml/2006/main" noGrp="1"/>
          </p:cNvSpPr>
          <p:nvPr/>
        </p:nvSpPr>
        <p:spPr>
          <a:xfrm xmlns:a="http://schemas.openxmlformats.org/drawingml/2006/main">
            <a:off x="7334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入口安全</a:t>
            </a:r>
          </a:p>
        </p:txBody>
      </p:sp>
      <p:sp>
        <p:nvSpPr>
          <p:cNvPr id="8" name="">
            <a:extLst xmlns:a="http://schemas.openxmlformats.org/drawingml/2006/main">
              <a:ext uri="{FF2B5EF4-FFF2-40B4-BE49-F238E27FC236}">
                <a16:creationId xmlns:a16="http://schemas.microsoft.com/office/drawing/2014/main" id="{14CF5242-F759-4B2A-B3F8-456CF98B57F4}"/>
              </a:ext>
            </a:extLst>
          </p:cNvPr>
          <p:cNvSpPr>
            <a:spLocks xmlns:a="http://schemas.openxmlformats.org/drawingml/2006/main" noGrp="1"/>
          </p:cNvSpPr>
          <p:nvPr/>
        </p:nvSpPr>
        <p:spPr>
          <a:xfrm xmlns:a="http://schemas.openxmlformats.org/drawingml/2006/main">
            <a:off x="4476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LINE 簽章</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偽造請求拒絕</a:t>
            </a:r>
          </a:p>
        </p:txBody>
      </p:sp>
      <p:sp>
        <p:nvSpPr>
          <p:cNvPr id="9" name="">
            <a:extLst xmlns:a="http://schemas.openxmlformats.org/drawingml/2006/main">
              <a:ext uri="{FF2B5EF4-FFF2-40B4-BE49-F238E27FC236}">
                <a16:creationId xmlns:a16="http://schemas.microsoft.com/office/drawing/2014/main" id="{65975F44-9039-43A2-8B71-CD8D190DF436}"/>
              </a:ext>
            </a:extLst>
          </p:cNvPr>
          <p:cNvSpPr>
            <a:spLocks xmlns:a="http://schemas.openxmlformats.org/drawingml/2006/main" noGrp="1"/>
          </p:cNvSpPr>
          <p:nvPr/>
        </p:nvSpPr>
        <p:spPr>
          <a:xfrm xmlns:a="http://schemas.openxmlformats.org/drawingml/2006/main">
            <a:off x="37242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5DC2778E-D263-4B9B-B556-42E09EE5BB17}"/>
              </a:ext>
            </a:extLst>
          </p:cNvPr>
          <p:cNvSpPr>
            <a:spLocks xmlns:a="http://schemas.openxmlformats.org/drawingml/2006/main" noGrp="1"/>
          </p:cNvSpPr>
          <p:nvPr/>
        </p:nvSpPr>
        <p:spPr>
          <a:xfrm xmlns:a="http://schemas.openxmlformats.org/drawingml/2006/main">
            <a:off x="40100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8748E"/>
                </a:solidFill>
                <a:latin typeface="Microsoft JhengHei"/>
                <a:ea typeface="Microsoft JhengHei"/>
                <a:cs typeface="Microsoft JhengHei"/>
              </a:defRPr>
            </a:pPr>
            <a:r>
              <a:rPr sz="1800"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367F07E7-D6EF-49FC-9B61-80910A61B952}"/>
              </a:ext>
            </a:extLst>
          </p:cNvPr>
          <p:cNvSpPr>
            <a:spLocks xmlns:a="http://schemas.openxmlformats.org/drawingml/2006/main" noGrp="1"/>
          </p:cNvSpPr>
          <p:nvPr/>
        </p:nvSpPr>
        <p:spPr>
          <a:xfrm xmlns:a="http://schemas.openxmlformats.org/drawingml/2006/main">
            <a:off x="34575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訊息一致</a:t>
            </a:r>
          </a:p>
        </p:txBody>
      </p:sp>
      <p:sp>
        <p:nvSpPr>
          <p:cNvPr id="12" name="">
            <a:extLst xmlns:a="http://schemas.openxmlformats.org/drawingml/2006/main">
              <a:ext uri="{FF2B5EF4-FFF2-40B4-BE49-F238E27FC236}">
                <a16:creationId xmlns:a16="http://schemas.microsoft.com/office/drawing/2014/main" id="{5926BF14-714A-4B76-B81D-FC019F7FBDBF}"/>
              </a:ext>
            </a:extLst>
          </p:cNvPr>
          <p:cNvSpPr>
            <a:spLocks xmlns:a="http://schemas.openxmlformats.org/drawingml/2006/main" noGrp="1"/>
          </p:cNvSpPr>
          <p:nvPr/>
        </p:nvSpPr>
        <p:spPr>
          <a:xfrm xmlns:a="http://schemas.openxmlformats.org/drawingml/2006/main">
            <a:off x="31718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事件去重</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Reply Token 只用一次</a:t>
            </a:r>
          </a:p>
        </p:txBody>
      </p:sp>
      <p:sp>
        <p:nvSpPr>
          <p:cNvPr id="13" name="">
            <a:extLst xmlns:a="http://schemas.openxmlformats.org/drawingml/2006/main">
              <a:ext uri="{FF2B5EF4-FFF2-40B4-BE49-F238E27FC236}">
                <a16:creationId xmlns:a16="http://schemas.microsoft.com/office/drawing/2014/main" id="{0859833B-F9EC-4BFA-802B-3D25377289D9}"/>
              </a:ext>
            </a:extLst>
          </p:cNvPr>
          <p:cNvSpPr>
            <a:spLocks xmlns:a="http://schemas.openxmlformats.org/drawingml/2006/main" noGrp="1"/>
          </p:cNvSpPr>
          <p:nvPr/>
        </p:nvSpPr>
        <p:spPr>
          <a:xfrm xmlns:a="http://schemas.openxmlformats.org/drawingml/2006/main">
            <a:off x="644842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77658B"/>
            </a:solidFill>
          </a:ln>
        </p:spPr>
      </p:sp>
      <p:sp>
        <p:nvSpPr>
          <p:cNvPr id="14" name="">
            <a:extLst xmlns:a="http://schemas.openxmlformats.org/drawingml/2006/main">
              <a:ext uri="{FF2B5EF4-FFF2-40B4-BE49-F238E27FC236}">
                <a16:creationId xmlns:a16="http://schemas.microsoft.com/office/drawing/2014/main" id="{2DFF27DF-9DD5-4ACD-B27A-9E09D0B607FD}"/>
              </a:ext>
            </a:extLst>
          </p:cNvPr>
          <p:cNvSpPr>
            <a:spLocks xmlns:a="http://schemas.openxmlformats.org/drawingml/2006/main" noGrp="1"/>
          </p:cNvSpPr>
          <p:nvPr/>
        </p:nvSpPr>
        <p:spPr>
          <a:xfrm xmlns:a="http://schemas.openxmlformats.org/drawingml/2006/main">
            <a:off x="673417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77658B"/>
                </a:solidFill>
                <a:latin typeface="Microsoft JhengHei"/>
                <a:ea typeface="Microsoft JhengHei"/>
                <a:cs typeface="Microsoft JhengHei"/>
              </a:defRPr>
            </a:pPr>
            <a:r>
              <a:rPr sz="1800" b="1">
                <a:solidFill>
                  <a:srgbClr val="77658B"/>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4853E3C8-BDE3-4EEA-BEA7-A322C7F68517}"/>
              </a:ext>
            </a:extLst>
          </p:cNvPr>
          <p:cNvSpPr>
            <a:spLocks xmlns:a="http://schemas.openxmlformats.org/drawingml/2006/main" noGrp="1"/>
          </p:cNvSpPr>
          <p:nvPr/>
        </p:nvSpPr>
        <p:spPr>
          <a:xfrm xmlns:a="http://schemas.openxmlformats.org/drawingml/2006/main">
            <a:off x="618172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77658B"/>
                </a:solidFill>
                <a:latin typeface="Microsoft JhengHei"/>
                <a:ea typeface="Microsoft JhengHei"/>
                <a:cs typeface="Microsoft JhengHei"/>
              </a:defRPr>
            </a:pPr>
            <a:r>
              <a:rPr sz="1650" b="1">
                <a:solidFill>
                  <a:srgbClr val="77658B"/>
                </a:solidFill>
                <a:latin typeface="Microsoft JhengHei"/>
                <a:ea typeface="Microsoft JhengHei"/>
                <a:cs typeface="Microsoft JhengHei"/>
              </a:rPr>
              <a:t>功能路由</a:t>
            </a:r>
          </a:p>
        </p:txBody>
      </p:sp>
      <p:sp>
        <p:nvSpPr>
          <p:cNvPr id="16" name="">
            <a:extLst xmlns:a="http://schemas.openxmlformats.org/drawingml/2006/main">
              <a:ext uri="{FF2B5EF4-FFF2-40B4-BE49-F238E27FC236}">
                <a16:creationId xmlns:a16="http://schemas.microsoft.com/office/drawing/2014/main" id="{27D9C0AF-E608-4FBB-A15B-B732ED117AAC}"/>
              </a:ext>
            </a:extLst>
          </p:cNvPr>
          <p:cNvSpPr>
            <a:spLocks xmlns:a="http://schemas.openxmlformats.org/drawingml/2006/main" noGrp="1"/>
          </p:cNvSpPr>
          <p:nvPr/>
        </p:nvSpPr>
        <p:spPr>
          <a:xfrm xmlns:a="http://schemas.openxmlformats.org/drawingml/2006/main">
            <a:off x="589597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幫助、試煉</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計分、退出、問答</a:t>
            </a:r>
          </a:p>
        </p:txBody>
      </p:sp>
      <p:sp>
        <p:nvSpPr>
          <p:cNvPr id="17" name="">
            <a:extLst xmlns:a="http://schemas.openxmlformats.org/drawingml/2006/main">
              <a:ext uri="{FF2B5EF4-FFF2-40B4-BE49-F238E27FC236}">
                <a16:creationId xmlns:a16="http://schemas.microsoft.com/office/drawing/2014/main" id="{012EAF26-55A6-493C-B4DF-848C6C719CF4}"/>
              </a:ext>
            </a:extLst>
          </p:cNvPr>
          <p:cNvSpPr>
            <a:spLocks xmlns:a="http://schemas.openxmlformats.org/drawingml/2006/main" noGrp="1"/>
          </p:cNvSpPr>
          <p:nvPr/>
        </p:nvSpPr>
        <p:spPr>
          <a:xfrm xmlns:a="http://schemas.openxmlformats.org/drawingml/2006/main">
            <a:off x="9172575" y="2647950"/>
            <a:ext cx="1066800" cy="10668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8" name="">
            <a:extLst xmlns:a="http://schemas.openxmlformats.org/drawingml/2006/main">
              <a:ext uri="{FF2B5EF4-FFF2-40B4-BE49-F238E27FC236}">
                <a16:creationId xmlns:a16="http://schemas.microsoft.com/office/drawing/2014/main" id="{65D48FC0-FBFE-437A-8F27-7EFD1BA0A3F9}"/>
              </a:ext>
            </a:extLst>
          </p:cNvPr>
          <p:cNvSpPr>
            <a:spLocks xmlns:a="http://schemas.openxmlformats.org/drawingml/2006/main" noGrp="1"/>
          </p:cNvSpPr>
          <p:nvPr/>
        </p:nvSpPr>
        <p:spPr>
          <a:xfrm xmlns:a="http://schemas.openxmlformats.org/drawingml/2006/main">
            <a:off x="9458325" y="284797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00" b="1">
                <a:solidFill>
                  <a:srgbClr val="557869"/>
                </a:solidFill>
                <a:latin typeface="Microsoft JhengHei"/>
                <a:ea typeface="Microsoft JhengHei"/>
                <a:cs typeface="Microsoft JhengHei"/>
              </a:defRPr>
            </a:pPr>
            <a:r>
              <a:rPr sz="1800" b="1">
                <a:solidFill>
                  <a:srgbClr val="557869"/>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1FB3E524-A80C-4F7D-81AB-98A5967E1778}"/>
              </a:ext>
            </a:extLst>
          </p:cNvPr>
          <p:cNvSpPr>
            <a:spLocks xmlns:a="http://schemas.openxmlformats.org/drawingml/2006/main" noGrp="1"/>
          </p:cNvSpPr>
          <p:nvPr/>
        </p:nvSpPr>
        <p:spPr>
          <a:xfrm xmlns:a="http://schemas.openxmlformats.org/drawingml/2006/main">
            <a:off x="8905875" y="4000500"/>
            <a:ext cx="1600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進度保存</a:t>
            </a:r>
          </a:p>
        </p:txBody>
      </p:sp>
      <p:sp>
        <p:nvSpPr>
          <p:cNvPr id="20" name="">
            <a:extLst xmlns:a="http://schemas.openxmlformats.org/drawingml/2006/main">
              <a:ext uri="{FF2B5EF4-FFF2-40B4-BE49-F238E27FC236}">
                <a16:creationId xmlns:a16="http://schemas.microsoft.com/office/drawing/2014/main" id="{3FF0D9AF-8DA1-4FEA-9E29-BC386699CA3E}"/>
              </a:ext>
            </a:extLst>
          </p:cNvPr>
          <p:cNvSpPr>
            <a:spLocks xmlns:a="http://schemas.openxmlformats.org/drawingml/2006/main" noGrp="1"/>
          </p:cNvSpPr>
          <p:nvPr/>
        </p:nvSpPr>
        <p:spPr>
          <a:xfrm xmlns:a="http://schemas.openxmlformats.org/drawingml/2006/main">
            <a:off x="8620125" y="4400550"/>
            <a:ext cx="21717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四條路線</a:t>
            </a:r>
          </a:p>
          <a:p xmlns:a="http://schemas.openxmlformats.org/drawingml/2006/main">
            <a:pPr algn="ctr">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SQLite 交易</a:t>
            </a:r>
          </a:p>
        </p:txBody>
      </p:sp>
      <p:sp>
        <p:nvSpPr>
          <p:cNvPr id="21" name="">
            <a:extLst xmlns:a="http://schemas.openxmlformats.org/drawingml/2006/main">
              <a:ext uri="{FF2B5EF4-FFF2-40B4-BE49-F238E27FC236}">
                <a16:creationId xmlns:a16="http://schemas.microsoft.com/office/drawing/2014/main" id="{04204242-599C-485B-BC21-E66E85ED679E}"/>
              </a:ext>
            </a:extLst>
          </p:cNvPr>
          <p:cNvSpPr>
            <a:spLocks xmlns:a="http://schemas.openxmlformats.org/drawingml/2006/main" noGrp="1"/>
          </p:cNvSpPr>
          <p:nvPr/>
        </p:nvSpPr>
        <p:spPr>
          <a:xfrm xmlns:a="http://schemas.openxmlformats.org/drawingml/2006/main">
            <a:off x="7429500" y="5286375"/>
            <a:ext cx="3905250" cy="647700"/>
          </a:xfrm>
          <a:prstGeom xmlns:a="http://schemas.openxmlformats.org/drawingml/2006/main" prst="roundRect">
            <a:avLst>
              <a:gd name="adj" fmla="val 11765"/>
            </a:avLst>
          </a:prstGeom>
          <a:solidFill xmlns:a="http://schemas.openxmlformats.org/drawingml/2006/main">
            <a:srgbClr val="E5ECEA"/>
          </a:solidFill>
          <a:ln xmlns:a="http://schemas.openxmlformats.org/drawingml/2006/main" w="19050">
            <a:solidFill>
              <a:srgbClr val="557869"/>
            </a:solidFill>
          </a:ln>
        </p:spPr>
      </p:sp>
      <p:sp>
        <p:nvSpPr>
          <p:cNvPr id="22" name="">
            <a:extLst xmlns:a="http://schemas.openxmlformats.org/drawingml/2006/main">
              <a:ext uri="{FF2B5EF4-FFF2-40B4-BE49-F238E27FC236}">
                <a16:creationId xmlns:a16="http://schemas.microsoft.com/office/drawing/2014/main" id="{75A02546-179B-4110-B84E-9F4E63155A31}"/>
              </a:ext>
            </a:extLst>
          </p:cNvPr>
          <p:cNvSpPr>
            <a:spLocks xmlns:a="http://schemas.openxmlformats.org/drawingml/2006/main" noGrp="1"/>
          </p:cNvSpPr>
          <p:nvPr/>
        </p:nvSpPr>
        <p:spPr>
          <a:xfrm xmlns:a="http://schemas.openxmlformats.org/drawingml/2006/main">
            <a:off x="7600950" y="5410200"/>
            <a:ext cx="3571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1">
                <a:solidFill>
                  <a:srgbClr val="557869"/>
                </a:solidFill>
                <a:latin typeface="Microsoft JhengHei"/>
                <a:ea typeface="Microsoft JhengHei"/>
                <a:cs typeface="Microsoft JhengHei"/>
              </a:defRPr>
            </a:pPr>
            <a:r>
              <a:rPr sz="1425" b="1">
                <a:solidFill>
                  <a:srgbClr val="557869"/>
                </a:solidFill>
                <a:latin typeface="Microsoft JhengHei"/>
                <a:ea typeface="Microsoft JhengHei"/>
                <a:cs typeface="Microsoft JhengHei"/>
              </a:rPr>
              <a:t>2026-09-08：Gemma 26B 完成 4 次真實聊天測試</a:t>
            </a:r>
          </a:p>
        </p:txBody>
      </p:sp>
      <p:sp>
        <p:nvSpPr>
          <p:cNvPr id="23" name="">
            <a:extLst xmlns:a="http://schemas.openxmlformats.org/drawingml/2006/main">
              <a:ext uri="{FF2B5EF4-FFF2-40B4-BE49-F238E27FC236}">
                <a16:creationId xmlns:a16="http://schemas.microsoft.com/office/drawing/2014/main" id="{39635005-A2E6-4783-A1E5-3B4C2549C0C8}"/>
              </a:ext>
            </a:extLst>
          </p:cNvPr>
          <p:cNvSpPr>
            <a:spLocks xmlns:a="http://schemas.openxmlformats.org/drawingml/2006/main" noGrp="1"/>
          </p:cNvSpPr>
          <p:nvPr/>
        </p:nvSpPr>
        <p:spPr>
          <a:xfrm xmlns:a="http://schemas.openxmlformats.org/drawingml/2006/main">
            <a:off x="685800" y="6057900"/>
            <a:ext cx="68580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0">
                <a:solidFill>
                  <a:srgbClr val="66717A"/>
                </a:solidFill>
                <a:latin typeface="Microsoft JhengHei"/>
                <a:ea typeface="Microsoft JhengHei"/>
                <a:cs typeface="Microsoft JhengHei"/>
              </a:defRPr>
            </a:pPr>
            <a:r>
              <a:rPr sz="1350" b="0">
                <a:solidFill>
                  <a:srgbClr val="66717A"/>
                </a:solidFill>
                <a:latin typeface="Microsoft JhengHei"/>
                <a:ea typeface="Microsoft JhengHei"/>
                <a:cs typeface="Microsoft JhengHei"/>
              </a:rPr>
              <a:t>正式展示前仍需重跑手機、Webhook 與 Google API 全流程。</a:t>
            </a:r>
          </a:p>
        </p:txBody>
      </p:sp>
    </p:spTree>
    <p:extLst>
      <p:ext uri="{BB962C8B-B14F-4D97-AF65-F5344CB8AC3E}">
        <p14:creationId xmlns:p14="http://schemas.microsoft.com/office/powerpoint/2010/main" val="2128339628"/>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3B3B150-E685-407E-AD0A-1099000AFDF0}"/>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5. 結論與未來工作</a:t>
            </a:r>
          </a:p>
        </p:txBody>
      </p:sp>
      <p:sp>
        <p:nvSpPr>
          <p:cNvPr id="2" name="">
            <a:extLst xmlns:a="http://schemas.openxmlformats.org/drawingml/2006/main">
              <a:ext uri="{FF2B5EF4-FFF2-40B4-BE49-F238E27FC236}">
                <a16:creationId xmlns:a16="http://schemas.microsoft.com/office/drawing/2014/main" id="{5BBF3C92-F653-400A-95C1-22113B687939}"/>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10</a:t>
            </a:r>
          </a:p>
        </p:txBody>
      </p:sp>
      <p:sp>
        <p:nvSpPr>
          <p:cNvPr id="3" name="">
            <a:extLst xmlns:a="http://schemas.openxmlformats.org/drawingml/2006/main">
              <a:ext uri="{FF2B5EF4-FFF2-40B4-BE49-F238E27FC236}">
                <a16:creationId xmlns:a16="http://schemas.microsoft.com/office/drawing/2014/main" id="{5BE808C6-F390-4783-8269-76529F7213DF}"/>
              </a:ext>
            </a:extLst>
          </p:cNvPr>
          <p:cNvSpPr>
            <a:spLocks xmlns:a="http://schemas.openxmlformats.org/drawingml/2006/main" noGrp="1"/>
          </p:cNvSpPr>
          <p:nvPr/>
        </p:nvSpPr>
        <p:spPr>
          <a:xfrm xmlns:a="http://schemas.openxmlformats.org/drawingml/2006/main">
            <a:off x="685800" y="13239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843C46"/>
                </a:solidFill>
                <a:latin typeface="Microsoft JhengHei"/>
                <a:ea typeface="Microsoft JhengHei"/>
                <a:cs typeface="Microsoft JhengHei"/>
              </a:defRPr>
            </a:pPr>
            <a:r>
              <a:rPr sz="2325" b="1">
                <a:solidFill>
                  <a:srgbClr val="843C46"/>
                </a:solidFill>
                <a:latin typeface="Microsoft JhengHei"/>
                <a:ea typeface="Microsoft JhengHei"/>
                <a:cs typeface="Microsoft JhengHei"/>
              </a:rPr>
              <a:t>已完成的功能與接下來要做的事</a:t>
            </a:r>
          </a:p>
        </p:txBody>
      </p:sp>
      <p:sp>
        <p:nvSpPr>
          <p:cNvPr id="4" name="">
            <a:extLst xmlns:a="http://schemas.openxmlformats.org/drawingml/2006/main">
              <a:ext uri="{FF2B5EF4-FFF2-40B4-BE49-F238E27FC236}">
                <a16:creationId xmlns:a16="http://schemas.microsoft.com/office/drawing/2014/main" id="{8BEF5B16-FFE1-4593-932A-6F1C243A3AC9}"/>
              </a:ext>
            </a:extLst>
          </p:cNvPr>
          <p:cNvSpPr>
            <a:spLocks xmlns:a="http://schemas.openxmlformats.org/drawingml/2006/main" noGrp="1"/>
          </p:cNvSpPr>
          <p:nvPr/>
        </p:nvSpPr>
        <p:spPr>
          <a:xfrm xmlns:a="http://schemas.openxmlformats.org/drawingml/2006/main">
            <a:off x="1190625" y="3324225"/>
            <a:ext cx="9667875" cy="476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5" name="">
            <a:extLst xmlns:a="http://schemas.openxmlformats.org/drawingml/2006/main">
              <a:ext uri="{FF2B5EF4-FFF2-40B4-BE49-F238E27FC236}">
                <a16:creationId xmlns:a16="http://schemas.microsoft.com/office/drawing/2014/main" id="{3D5BC30E-281F-47A5-B0F9-E812FA349888}"/>
              </a:ext>
            </a:extLst>
          </p:cNvPr>
          <p:cNvSpPr>
            <a:spLocks xmlns:a="http://schemas.openxmlformats.org/drawingml/2006/main" noGrp="1"/>
          </p:cNvSpPr>
          <p:nvPr/>
        </p:nvSpPr>
        <p:spPr>
          <a:xfrm xmlns:a="http://schemas.openxmlformats.org/drawingml/2006/main">
            <a:off x="10001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843C46"/>
            </a:solidFill>
          </a:ln>
        </p:spPr>
      </p:sp>
      <p:sp>
        <p:nvSpPr>
          <p:cNvPr id="6" name="">
            <a:extLst xmlns:a="http://schemas.openxmlformats.org/drawingml/2006/main">
              <a:ext uri="{FF2B5EF4-FFF2-40B4-BE49-F238E27FC236}">
                <a16:creationId xmlns:a16="http://schemas.microsoft.com/office/drawing/2014/main" id="{10993A10-0997-4329-9A40-7DF2B4C06F75}"/>
              </a:ext>
            </a:extLst>
          </p:cNvPr>
          <p:cNvSpPr>
            <a:spLocks xmlns:a="http://schemas.openxmlformats.org/drawingml/2006/main" noGrp="1"/>
          </p:cNvSpPr>
          <p:nvPr/>
        </p:nvSpPr>
        <p:spPr>
          <a:xfrm xmlns:a="http://schemas.openxmlformats.org/drawingml/2006/main">
            <a:off x="12954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843C46"/>
                </a:solidFill>
                <a:latin typeface="Microsoft JhengHei"/>
                <a:ea typeface="Microsoft JhengHei"/>
                <a:cs typeface="Microsoft JhengHei"/>
              </a:defRPr>
            </a:pPr>
            <a:r>
              <a:rPr sz="1875" b="1">
                <a:solidFill>
                  <a:srgbClr val="843C46"/>
                </a:solidFill>
                <a:latin typeface="Microsoft JhengHei"/>
                <a:ea typeface="Microsoft JhengHei"/>
                <a:cs typeface="Microsoft JhengHei"/>
              </a:rPr>
              <a:t>1</a:t>
            </a:r>
          </a:p>
        </p:txBody>
      </p:sp>
      <p:sp>
        <p:nvSpPr>
          <p:cNvPr id="7" name="">
            <a:extLst xmlns:a="http://schemas.openxmlformats.org/drawingml/2006/main">
              <a:ext uri="{FF2B5EF4-FFF2-40B4-BE49-F238E27FC236}">
                <a16:creationId xmlns:a16="http://schemas.microsoft.com/office/drawing/2014/main" id="{0A756811-BF49-4BEB-9677-A04B5462D177}"/>
              </a:ext>
            </a:extLst>
          </p:cNvPr>
          <p:cNvSpPr>
            <a:spLocks xmlns:a="http://schemas.openxmlformats.org/drawingml/2006/main" noGrp="1"/>
          </p:cNvSpPr>
          <p:nvPr/>
        </p:nvSpPr>
        <p:spPr>
          <a:xfrm xmlns:a="http://schemas.openxmlformats.org/drawingml/2006/main">
            <a:off x="7048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843C46"/>
                </a:solidFill>
                <a:latin typeface="Microsoft JhengHei"/>
                <a:ea typeface="Microsoft JhengHei"/>
                <a:cs typeface="Microsoft JhengHei"/>
              </a:defRPr>
            </a:pPr>
            <a:r>
              <a:rPr sz="1650" b="1">
                <a:solidFill>
                  <a:srgbClr val="843C46"/>
                </a:solidFill>
                <a:latin typeface="Microsoft JhengHei"/>
                <a:ea typeface="Microsoft JhengHei"/>
                <a:cs typeface="Microsoft JhengHei"/>
              </a:rPr>
              <a:t>現在</a:t>
            </a:r>
          </a:p>
        </p:txBody>
      </p:sp>
      <p:sp>
        <p:nvSpPr>
          <p:cNvPr id="8" name="">
            <a:extLst xmlns:a="http://schemas.openxmlformats.org/drawingml/2006/main">
              <a:ext uri="{FF2B5EF4-FFF2-40B4-BE49-F238E27FC236}">
                <a16:creationId xmlns:a16="http://schemas.microsoft.com/office/drawing/2014/main" id="{C59922AF-41BD-4CB3-81F0-DCC5C8AAC83B}"/>
              </a:ext>
            </a:extLst>
          </p:cNvPr>
          <p:cNvSpPr>
            <a:spLocks xmlns:a="http://schemas.openxmlformats.org/drawingml/2006/main" noGrp="1"/>
          </p:cNvSpPr>
          <p:nvPr/>
        </p:nvSpPr>
        <p:spPr>
          <a:xfrm xmlns:a="http://schemas.openxmlformats.org/drawingml/2006/main">
            <a:off x="4191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問答＋固定試煉</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四路導引</a:t>
            </a:r>
          </a:p>
        </p:txBody>
      </p:sp>
      <p:sp>
        <p:nvSpPr>
          <p:cNvPr id="9" name="">
            <a:extLst xmlns:a="http://schemas.openxmlformats.org/drawingml/2006/main">
              <a:ext uri="{FF2B5EF4-FFF2-40B4-BE49-F238E27FC236}">
                <a16:creationId xmlns:a16="http://schemas.microsoft.com/office/drawing/2014/main" id="{0F238F35-A673-4191-AAD7-825D38010938}"/>
              </a:ext>
            </a:extLst>
          </p:cNvPr>
          <p:cNvSpPr>
            <a:spLocks xmlns:a="http://schemas.openxmlformats.org/drawingml/2006/main" noGrp="1"/>
          </p:cNvSpPr>
          <p:nvPr/>
        </p:nvSpPr>
        <p:spPr>
          <a:xfrm xmlns:a="http://schemas.openxmlformats.org/drawingml/2006/main">
            <a:off x="37814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8748E"/>
            </a:solidFill>
          </a:ln>
        </p:spPr>
      </p:sp>
      <p:sp>
        <p:nvSpPr>
          <p:cNvPr id="10" name="">
            <a:extLst xmlns:a="http://schemas.openxmlformats.org/drawingml/2006/main">
              <a:ext uri="{FF2B5EF4-FFF2-40B4-BE49-F238E27FC236}">
                <a16:creationId xmlns:a16="http://schemas.microsoft.com/office/drawing/2014/main" id="{B4AC9E37-E557-4F62-8964-DE39CFEBA628}"/>
              </a:ext>
            </a:extLst>
          </p:cNvPr>
          <p:cNvSpPr>
            <a:spLocks xmlns:a="http://schemas.openxmlformats.org/drawingml/2006/main" noGrp="1"/>
          </p:cNvSpPr>
          <p:nvPr/>
        </p:nvSpPr>
        <p:spPr>
          <a:xfrm xmlns:a="http://schemas.openxmlformats.org/drawingml/2006/main">
            <a:off x="40767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8748E"/>
                </a:solidFill>
                <a:latin typeface="Microsoft JhengHei"/>
                <a:ea typeface="Microsoft JhengHei"/>
                <a:cs typeface="Microsoft JhengHei"/>
              </a:defRPr>
            </a:pPr>
            <a:r>
              <a:rPr sz="1875" b="1">
                <a:solidFill>
                  <a:srgbClr val="58748E"/>
                </a:solidFill>
                <a:latin typeface="Microsoft JhengHei"/>
                <a:ea typeface="Microsoft JhengHei"/>
                <a:cs typeface="Microsoft JhengHei"/>
              </a:rPr>
              <a:t>2</a:t>
            </a:r>
          </a:p>
        </p:txBody>
      </p:sp>
      <p:sp>
        <p:nvSpPr>
          <p:cNvPr id="11" name="">
            <a:extLst xmlns:a="http://schemas.openxmlformats.org/drawingml/2006/main">
              <a:ext uri="{FF2B5EF4-FFF2-40B4-BE49-F238E27FC236}">
                <a16:creationId xmlns:a16="http://schemas.microsoft.com/office/drawing/2014/main" id="{050E0C0E-8B36-4A8D-ABC6-4F3E9F807272}"/>
              </a:ext>
            </a:extLst>
          </p:cNvPr>
          <p:cNvSpPr>
            <a:spLocks xmlns:a="http://schemas.openxmlformats.org/drawingml/2006/main" noGrp="1"/>
          </p:cNvSpPr>
          <p:nvPr/>
        </p:nvSpPr>
        <p:spPr>
          <a:xfrm xmlns:a="http://schemas.openxmlformats.org/drawingml/2006/main">
            <a:off x="34861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8748E"/>
                </a:solidFill>
                <a:latin typeface="Microsoft JhengHei"/>
                <a:ea typeface="Microsoft JhengHei"/>
                <a:cs typeface="Microsoft JhengHei"/>
              </a:defRPr>
            </a:pPr>
            <a:r>
              <a:rPr sz="1650" b="1">
                <a:solidFill>
                  <a:srgbClr val="58748E"/>
                </a:solidFill>
                <a:latin typeface="Microsoft JhengHei"/>
                <a:ea typeface="Microsoft JhengHei"/>
                <a:cs typeface="Microsoft JhengHei"/>
              </a:rPr>
              <a:t>下一步</a:t>
            </a:r>
          </a:p>
        </p:txBody>
      </p:sp>
      <p:sp>
        <p:nvSpPr>
          <p:cNvPr id="12" name="">
            <a:extLst xmlns:a="http://schemas.openxmlformats.org/drawingml/2006/main">
              <a:ext uri="{FF2B5EF4-FFF2-40B4-BE49-F238E27FC236}">
                <a16:creationId xmlns:a16="http://schemas.microsoft.com/office/drawing/2014/main" id="{BCAEE45C-38F1-4DC6-B334-D14B7E16AFC7}"/>
              </a:ext>
            </a:extLst>
          </p:cNvPr>
          <p:cNvSpPr>
            <a:spLocks xmlns:a="http://schemas.openxmlformats.org/drawingml/2006/main" noGrp="1"/>
          </p:cNvSpPr>
          <p:nvPr/>
        </p:nvSpPr>
        <p:spPr>
          <a:xfrm xmlns:a="http://schemas.openxmlformats.org/drawingml/2006/main">
            <a:off x="32004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手機實機流程</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Demo 日 API 檢查</a:t>
            </a:r>
          </a:p>
        </p:txBody>
      </p:sp>
      <p:sp>
        <p:nvSpPr>
          <p:cNvPr id="13" name="">
            <a:extLst xmlns:a="http://schemas.openxmlformats.org/drawingml/2006/main">
              <a:ext uri="{FF2B5EF4-FFF2-40B4-BE49-F238E27FC236}">
                <a16:creationId xmlns:a16="http://schemas.microsoft.com/office/drawing/2014/main" id="{C9124996-166A-478C-A429-A3979E1E736F}"/>
              </a:ext>
            </a:extLst>
          </p:cNvPr>
          <p:cNvSpPr>
            <a:spLocks xmlns:a="http://schemas.openxmlformats.org/drawingml/2006/main" noGrp="1"/>
          </p:cNvSpPr>
          <p:nvPr/>
        </p:nvSpPr>
        <p:spPr>
          <a:xfrm xmlns:a="http://schemas.openxmlformats.org/drawingml/2006/main">
            <a:off x="65627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557869"/>
            </a:solidFill>
          </a:ln>
        </p:spPr>
      </p:sp>
      <p:sp>
        <p:nvSpPr>
          <p:cNvPr id="14" name="">
            <a:extLst xmlns:a="http://schemas.openxmlformats.org/drawingml/2006/main">
              <a:ext uri="{FF2B5EF4-FFF2-40B4-BE49-F238E27FC236}">
                <a16:creationId xmlns:a16="http://schemas.microsoft.com/office/drawing/2014/main" id="{4695C6D8-EBE7-494D-BDD6-8B40AC4FC77D}"/>
              </a:ext>
            </a:extLst>
          </p:cNvPr>
          <p:cNvSpPr>
            <a:spLocks xmlns:a="http://schemas.openxmlformats.org/drawingml/2006/main" noGrp="1"/>
          </p:cNvSpPr>
          <p:nvPr/>
        </p:nvSpPr>
        <p:spPr>
          <a:xfrm xmlns:a="http://schemas.openxmlformats.org/drawingml/2006/main">
            <a:off x="68580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557869"/>
                </a:solidFill>
                <a:latin typeface="Microsoft JhengHei"/>
                <a:ea typeface="Microsoft JhengHei"/>
                <a:cs typeface="Microsoft JhengHei"/>
              </a:defRPr>
            </a:pPr>
            <a:r>
              <a:rPr sz="1875" b="1">
                <a:solidFill>
                  <a:srgbClr val="557869"/>
                </a:solidFill>
                <a:latin typeface="Microsoft JhengHei"/>
                <a:ea typeface="Microsoft JhengHei"/>
                <a:cs typeface="Microsoft JhengHei"/>
              </a:rPr>
              <a:t>3</a:t>
            </a:r>
          </a:p>
        </p:txBody>
      </p:sp>
      <p:sp>
        <p:nvSpPr>
          <p:cNvPr id="15" name="">
            <a:extLst xmlns:a="http://schemas.openxmlformats.org/drawingml/2006/main">
              <a:ext uri="{FF2B5EF4-FFF2-40B4-BE49-F238E27FC236}">
                <a16:creationId xmlns:a16="http://schemas.microsoft.com/office/drawing/2014/main" id="{DEC9323F-2B27-4C53-B055-331312C9F169}"/>
              </a:ext>
            </a:extLst>
          </p:cNvPr>
          <p:cNvSpPr>
            <a:spLocks xmlns:a="http://schemas.openxmlformats.org/drawingml/2006/main" noGrp="1"/>
          </p:cNvSpPr>
          <p:nvPr/>
        </p:nvSpPr>
        <p:spPr>
          <a:xfrm xmlns:a="http://schemas.openxmlformats.org/drawingml/2006/main">
            <a:off x="62674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557869"/>
                </a:solidFill>
                <a:latin typeface="Microsoft JhengHei"/>
                <a:ea typeface="Microsoft JhengHei"/>
                <a:cs typeface="Microsoft JhengHei"/>
              </a:defRPr>
            </a:pPr>
            <a:r>
              <a:rPr sz="1650" b="1">
                <a:solidFill>
                  <a:srgbClr val="557869"/>
                </a:solidFill>
                <a:latin typeface="Microsoft JhengHei"/>
                <a:ea typeface="Microsoft JhengHei"/>
                <a:cs typeface="Microsoft JhengHei"/>
              </a:rPr>
              <a:t>再下一步</a:t>
            </a:r>
          </a:p>
        </p:txBody>
      </p:sp>
      <p:sp>
        <p:nvSpPr>
          <p:cNvPr id="16" name="">
            <a:extLst xmlns:a="http://schemas.openxmlformats.org/drawingml/2006/main">
              <a:ext uri="{FF2B5EF4-FFF2-40B4-BE49-F238E27FC236}">
                <a16:creationId xmlns:a16="http://schemas.microsoft.com/office/drawing/2014/main" id="{1B6B5F4A-903F-4299-9F6A-B3A49DC10A92}"/>
              </a:ext>
            </a:extLst>
          </p:cNvPr>
          <p:cNvSpPr>
            <a:spLocks xmlns:a="http://schemas.openxmlformats.org/drawingml/2006/main" noGrp="1"/>
          </p:cNvSpPr>
          <p:nvPr/>
        </p:nvSpPr>
        <p:spPr>
          <a:xfrm xmlns:a="http://schemas.openxmlformats.org/drawingml/2006/main">
            <a:off x="59817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使用者試用</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調整導引與解說</a:t>
            </a:r>
          </a:p>
        </p:txBody>
      </p:sp>
      <p:sp>
        <p:nvSpPr>
          <p:cNvPr id="17" name="">
            <a:extLst xmlns:a="http://schemas.openxmlformats.org/drawingml/2006/main">
              <a:ext uri="{FF2B5EF4-FFF2-40B4-BE49-F238E27FC236}">
                <a16:creationId xmlns:a16="http://schemas.microsoft.com/office/drawing/2014/main" id="{538BDF0D-7154-44D9-B531-E7C0BCEE1C0D}"/>
              </a:ext>
            </a:extLst>
          </p:cNvPr>
          <p:cNvSpPr>
            <a:spLocks xmlns:a="http://schemas.openxmlformats.org/drawingml/2006/main" noGrp="1"/>
          </p:cNvSpPr>
          <p:nvPr/>
        </p:nvSpPr>
        <p:spPr>
          <a:xfrm xmlns:a="http://schemas.openxmlformats.org/drawingml/2006/main">
            <a:off x="9344025" y="2828925"/>
            <a:ext cx="1028700" cy="1028700"/>
          </a:xfrm>
          <a:prstGeom xmlns:a="http://schemas.openxmlformats.org/drawingml/2006/main" prst="ellipse">
            <a:avLst/>
          </a:prstGeom>
          <a:solidFill xmlns:a="http://schemas.openxmlformats.org/drawingml/2006/main">
            <a:srgbClr val="F7F5F0"/>
          </a:solidFill>
          <a:ln xmlns:a="http://schemas.openxmlformats.org/drawingml/2006/main" w="47625">
            <a:solidFill>
              <a:srgbClr val="B9904A"/>
            </a:solidFill>
          </a:ln>
        </p:spPr>
      </p:sp>
      <p:sp>
        <p:nvSpPr>
          <p:cNvPr id="18" name="">
            <a:extLst xmlns:a="http://schemas.openxmlformats.org/drawingml/2006/main">
              <a:ext uri="{FF2B5EF4-FFF2-40B4-BE49-F238E27FC236}">
                <a16:creationId xmlns:a16="http://schemas.microsoft.com/office/drawing/2014/main" id="{F2548C7F-4B56-485B-B645-B73728AC62A3}"/>
              </a:ext>
            </a:extLst>
          </p:cNvPr>
          <p:cNvSpPr>
            <a:spLocks xmlns:a="http://schemas.openxmlformats.org/drawingml/2006/main" noGrp="1"/>
          </p:cNvSpPr>
          <p:nvPr/>
        </p:nvSpPr>
        <p:spPr>
          <a:xfrm xmlns:a="http://schemas.openxmlformats.org/drawingml/2006/main">
            <a:off x="9639300" y="3028950"/>
            <a:ext cx="438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875" b="1">
                <a:solidFill>
                  <a:srgbClr val="B9904A"/>
                </a:solidFill>
                <a:latin typeface="Microsoft JhengHei"/>
                <a:ea typeface="Microsoft JhengHei"/>
                <a:cs typeface="Microsoft JhengHei"/>
              </a:defRPr>
            </a:pPr>
            <a:r>
              <a:rPr sz="1875" b="1">
                <a:solidFill>
                  <a:srgbClr val="B9904A"/>
                </a:solidFill>
                <a:latin typeface="Microsoft JhengHei"/>
                <a:ea typeface="Microsoft JhengHei"/>
                <a:cs typeface="Microsoft JhengHei"/>
              </a:rPr>
              <a:t>4</a:t>
            </a:r>
          </a:p>
        </p:txBody>
      </p:sp>
      <p:sp>
        <p:nvSpPr>
          <p:cNvPr id="19" name="">
            <a:extLst xmlns:a="http://schemas.openxmlformats.org/drawingml/2006/main">
              <a:ext uri="{FF2B5EF4-FFF2-40B4-BE49-F238E27FC236}">
                <a16:creationId xmlns:a16="http://schemas.microsoft.com/office/drawing/2014/main" id="{1C896DF2-F132-40FB-86B1-66480F60AE18}"/>
              </a:ext>
            </a:extLst>
          </p:cNvPr>
          <p:cNvSpPr>
            <a:spLocks xmlns:a="http://schemas.openxmlformats.org/drawingml/2006/main" noGrp="1"/>
          </p:cNvSpPr>
          <p:nvPr/>
        </p:nvSpPr>
        <p:spPr>
          <a:xfrm xmlns:a="http://schemas.openxmlformats.org/drawingml/2006/main">
            <a:off x="9048750" y="2190750"/>
            <a:ext cx="1619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650" b="1">
                <a:solidFill>
                  <a:srgbClr val="B9904A"/>
                </a:solidFill>
                <a:latin typeface="Microsoft JhengHei"/>
                <a:ea typeface="Microsoft JhengHei"/>
                <a:cs typeface="Microsoft JhengHei"/>
              </a:defRPr>
            </a:pPr>
            <a:r>
              <a:rPr sz="1650" b="1">
                <a:solidFill>
                  <a:srgbClr val="B9904A"/>
                </a:solidFill>
                <a:latin typeface="Microsoft JhengHei"/>
                <a:ea typeface="Microsoft JhengHei"/>
                <a:cs typeface="Microsoft JhengHei"/>
              </a:rPr>
              <a:t>之後</a:t>
            </a:r>
          </a:p>
        </p:txBody>
      </p:sp>
      <p:sp>
        <p:nvSpPr>
          <p:cNvPr id="20" name="">
            <a:extLst xmlns:a="http://schemas.openxmlformats.org/drawingml/2006/main">
              <a:ext uri="{FF2B5EF4-FFF2-40B4-BE49-F238E27FC236}">
                <a16:creationId xmlns:a16="http://schemas.microsoft.com/office/drawing/2014/main" id="{6843E1FD-AAC4-4C77-8CD0-D3CF393CB447}"/>
              </a:ext>
            </a:extLst>
          </p:cNvPr>
          <p:cNvSpPr>
            <a:spLocks xmlns:a="http://schemas.openxmlformats.org/drawingml/2006/main" noGrp="1"/>
          </p:cNvSpPr>
          <p:nvPr/>
        </p:nvSpPr>
        <p:spPr>
          <a:xfrm xmlns:a="http://schemas.openxmlformats.org/drawingml/2006/main">
            <a:off x="8763000" y="4086225"/>
            <a:ext cx="2190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正式部署</a:t>
            </a:r>
          </a:p>
          <a:p xmlns:a="http://schemas.openxmlformats.org/drawingml/2006/main">
            <a:pPr algn="ctr">
              <a:defRPr sz="1575" b="1">
                <a:solidFill>
                  <a:srgbClr val="242830"/>
                </a:solidFill>
                <a:latin typeface="Microsoft JhengHei"/>
                <a:ea typeface="Microsoft JhengHei"/>
                <a:cs typeface="Microsoft JhengHei"/>
              </a:defRPr>
            </a:pPr>
            <a:r>
              <a:rPr sz="1575" b="1">
                <a:solidFill>
                  <a:srgbClr val="242830"/>
                </a:solidFill>
                <a:latin typeface="Microsoft JhengHei"/>
                <a:ea typeface="Microsoft JhengHei"/>
                <a:cs typeface="Microsoft JhengHei"/>
              </a:rPr>
              <a:t>備份、隱私、負載</a:t>
            </a:r>
          </a:p>
        </p:txBody>
      </p:sp>
      <p:sp>
        <p:nvSpPr>
          <p:cNvPr id="21" name="">
            <a:extLst xmlns:a="http://schemas.openxmlformats.org/drawingml/2006/main">
              <a:ext uri="{FF2B5EF4-FFF2-40B4-BE49-F238E27FC236}">
                <a16:creationId xmlns:a16="http://schemas.microsoft.com/office/drawing/2014/main" id="{8F2F0BAF-7156-4788-B531-D8FABE3268D7}"/>
              </a:ext>
            </a:extLst>
          </p:cNvPr>
          <p:cNvSpPr>
            <a:spLocks xmlns:a="http://schemas.openxmlformats.org/drawingml/2006/main" noGrp="1"/>
          </p:cNvSpPr>
          <p:nvPr/>
        </p:nvSpPr>
        <p:spPr>
          <a:xfrm xmlns:a="http://schemas.openxmlformats.org/drawingml/2006/main">
            <a:off x="685800" y="5372100"/>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725" b="1">
                <a:solidFill>
                  <a:srgbClr val="242830"/>
                </a:solidFill>
                <a:latin typeface="Microsoft JhengHei"/>
                <a:ea typeface="Microsoft JhengHei"/>
                <a:cs typeface="Microsoft JhengHei"/>
              </a:defRPr>
            </a:pPr>
            <a:r>
              <a:rPr sz="1725" b="1">
                <a:solidFill>
                  <a:srgbClr val="242830"/>
                </a:solidFill>
                <a:latin typeface="Microsoft JhengHei"/>
                <a:ea typeface="Microsoft JhengHei"/>
                <a:cs typeface="Microsoft JhengHei"/>
              </a:rPr>
              <a:t>已完成：76 張知識卡、220 題、80 段導引教材、伺服器端學習進度</a:t>
            </a:r>
          </a:p>
        </p:txBody>
      </p:sp>
      <p:sp>
        <p:nvSpPr>
          <p:cNvPr id="22" name="">
            <a:extLst xmlns:a="http://schemas.openxmlformats.org/drawingml/2006/main">
              <a:ext uri="{FF2B5EF4-FFF2-40B4-BE49-F238E27FC236}">
                <a16:creationId xmlns:a16="http://schemas.microsoft.com/office/drawing/2014/main" id="{4BEF02F0-B0E8-4172-99F0-EBB8585395F4}"/>
              </a:ext>
            </a:extLst>
          </p:cNvPr>
          <p:cNvSpPr>
            <a:spLocks xmlns:a="http://schemas.openxmlformats.org/drawingml/2006/main" noGrp="1"/>
          </p:cNvSpPr>
          <p:nvPr/>
        </p:nvSpPr>
        <p:spPr>
          <a:xfrm xmlns:a="http://schemas.openxmlformats.org/drawingml/2006/main">
            <a:off x="685800" y="58578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425" b="0">
                <a:solidFill>
                  <a:srgbClr val="66717A"/>
                </a:solidFill>
                <a:latin typeface="Microsoft JhengHei"/>
                <a:ea typeface="Microsoft JhengHei"/>
                <a:cs typeface="Microsoft JhengHei"/>
              </a:defRPr>
            </a:pPr>
            <a:r>
              <a:rPr sz="1425" b="0">
                <a:solidFill>
                  <a:srgbClr val="66717A"/>
                </a:solidFill>
                <a:latin typeface="Microsoft JhengHei"/>
                <a:ea typeface="Microsoft JhengHei"/>
                <a:cs typeface="Microsoft JhengHei"/>
              </a:rPr>
              <a:t>下一步先把真實手機體驗與公開部署準備好。</a:t>
            </a:r>
          </a:p>
        </p:txBody>
      </p:sp>
    </p:spTree>
    <p:extLst>
      <p:ext uri="{BB962C8B-B14F-4D97-AF65-F5344CB8AC3E}">
        <p14:creationId xmlns:p14="http://schemas.microsoft.com/office/powerpoint/2010/main" val="246049383"/>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A4577789-29CE-4001-BA04-BA1B21531808}"/>
              </a:ext>
            </a:extLst>
          </p:cNvPr>
          <p:cNvSpPr>
            <a:spLocks xmlns:a="http://schemas.openxmlformats.org/drawingml/2006/main" noGrp="1"/>
          </p:cNvSpPr>
          <p:nvPr/>
        </p:nvSpPr>
        <p:spPr>
          <a:xfrm xmlns:a="http://schemas.openxmlformats.org/drawingml/2006/main">
            <a:off x="685800" y="4286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075" b="1">
                <a:solidFill>
                  <a:srgbClr val="242830"/>
                </a:solidFill>
                <a:latin typeface="Microsoft JhengHei"/>
                <a:ea typeface="Microsoft JhengHei"/>
                <a:cs typeface="Microsoft JhengHei"/>
              </a:defRPr>
            </a:pPr>
            <a:r>
              <a:rPr sz="3075" b="1">
                <a:solidFill>
                  <a:srgbClr val="242830"/>
                </a:solidFill>
                <a:latin typeface="Microsoft JhengHei"/>
                <a:ea typeface="Microsoft JhengHei"/>
                <a:cs typeface="Microsoft JhengHei"/>
              </a:rPr>
              <a:t>6. 參考文獻</a:t>
            </a:r>
          </a:p>
        </p:txBody>
      </p:sp>
      <p:sp>
        <p:nvSpPr>
          <p:cNvPr id="2" name="">
            <a:extLst xmlns:a="http://schemas.openxmlformats.org/drawingml/2006/main">
              <a:ext uri="{FF2B5EF4-FFF2-40B4-BE49-F238E27FC236}">
                <a16:creationId xmlns:a16="http://schemas.microsoft.com/office/drawing/2014/main" id="{C24AD091-72D9-40B6-AC77-1D3546099A01}"/>
              </a:ext>
            </a:extLst>
          </p:cNvPr>
          <p:cNvSpPr>
            <a:spLocks xmlns:a="http://schemas.openxmlformats.org/drawingml/2006/main" noGrp="1"/>
          </p:cNvSpPr>
          <p:nvPr/>
        </p:nvSpPr>
        <p:spPr>
          <a:xfrm xmlns:a="http://schemas.openxmlformats.org/drawingml/2006/main">
            <a:off x="11096625" y="62388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11</a:t>
            </a:r>
          </a:p>
        </p:txBody>
      </p:sp>
      <p:sp>
        <p:nvSpPr>
          <p:cNvPr id="3" name="">
            <a:extLst xmlns:a="http://schemas.openxmlformats.org/drawingml/2006/main">
              <a:ext uri="{FF2B5EF4-FFF2-40B4-BE49-F238E27FC236}">
                <a16:creationId xmlns:a16="http://schemas.microsoft.com/office/drawing/2014/main" id="{9C1E5AED-168C-43E7-9FCA-2FC9250175F0}"/>
              </a:ext>
            </a:extLst>
          </p:cNvPr>
          <p:cNvSpPr>
            <a:spLocks xmlns:a="http://schemas.openxmlformats.org/drawingml/2006/main" noGrp="1"/>
          </p:cNvSpPr>
          <p:nvPr/>
        </p:nvSpPr>
        <p:spPr>
          <a:xfrm xmlns:a="http://schemas.openxmlformats.org/drawingml/2006/main">
            <a:off x="685800" y="12382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843C46"/>
                </a:solidFill>
                <a:latin typeface="Microsoft JhengHei"/>
                <a:ea typeface="Microsoft JhengHei"/>
                <a:cs typeface="Microsoft JhengHei"/>
              </a:defRPr>
            </a:pPr>
            <a:r>
              <a:rPr sz="2100" b="1">
                <a:solidFill>
                  <a:srgbClr val="843C46"/>
                </a:solidFill>
                <a:latin typeface="Microsoft JhengHei"/>
                <a:ea typeface="Microsoft JhengHei"/>
                <a:cs typeface="Microsoft JhengHei"/>
              </a:rPr>
              <a:t>每份資料實際用在哪一頁</a:t>
            </a:r>
          </a:p>
        </p:txBody>
      </p:sp>
      <p:sp>
        <p:nvSpPr>
          <p:cNvPr id="4" name="">
            <a:extLst xmlns:a="http://schemas.openxmlformats.org/drawingml/2006/main">
              <a:ext uri="{FF2B5EF4-FFF2-40B4-BE49-F238E27FC236}">
                <a16:creationId xmlns:a16="http://schemas.microsoft.com/office/drawing/2014/main" id="{9AEB7EE7-C2C9-480C-87AA-E7088C357394}"/>
              </a:ext>
            </a:extLst>
          </p:cNvPr>
          <p:cNvSpPr>
            <a:spLocks xmlns:a="http://schemas.openxmlformats.org/drawingml/2006/main" noGrp="1"/>
          </p:cNvSpPr>
          <p:nvPr/>
        </p:nvSpPr>
        <p:spPr>
          <a:xfrm xmlns:a="http://schemas.openxmlformats.org/drawingml/2006/main">
            <a:off x="6858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B9904A"/>
            </a:solidFill>
          </a:ln>
        </p:spPr>
      </p:sp>
      <p:sp>
        <p:nvSpPr>
          <p:cNvPr id="5" name="">
            <a:extLst xmlns:a="http://schemas.openxmlformats.org/drawingml/2006/main">
              <a:ext uri="{FF2B5EF4-FFF2-40B4-BE49-F238E27FC236}">
                <a16:creationId xmlns:a16="http://schemas.microsoft.com/office/drawing/2014/main" id="{079906CB-C5B2-46D7-B8CB-F432C9DC5FBE}"/>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oundRect">
            <a:avLst>
              <a:gd name="adj" fmla="val 30769"/>
            </a:avLst>
          </a:prstGeom>
          <a:solidFill xmlns:a="http://schemas.openxmlformats.org/drawingml/2006/main">
            <a:srgbClr val="B9904A"/>
          </a:solidFill>
          <a:ln xmlns:a="http://schemas.openxmlformats.org/drawingml/2006/main" w="0">
            <a:solidFill>
              <a:srgbClr val="B9904A"/>
            </a:solidFill>
          </a:ln>
        </p:spPr>
      </p:sp>
      <p:sp>
        <p:nvSpPr>
          <p:cNvPr id="6" name="">
            <a:extLst xmlns:a="http://schemas.openxmlformats.org/drawingml/2006/main">
              <a:ext uri="{FF2B5EF4-FFF2-40B4-BE49-F238E27FC236}">
                <a16:creationId xmlns:a16="http://schemas.microsoft.com/office/drawing/2014/main" id="{F4975F0A-BC7F-4E3E-A64B-CD7A74FAF87B}"/>
              </a:ext>
            </a:extLst>
          </p:cNvPr>
          <p:cNvSpPr>
            <a:spLocks xmlns:a="http://schemas.openxmlformats.org/drawingml/2006/main" noGrp="1"/>
          </p:cNvSpPr>
          <p:nvPr/>
        </p:nvSpPr>
        <p:spPr>
          <a:xfrm xmlns:a="http://schemas.openxmlformats.org/drawingml/2006/main">
            <a:off x="8191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P3</a:t>
            </a:r>
          </a:p>
        </p:txBody>
      </p:sp>
      <p:sp>
        <p:nvSpPr>
          <p:cNvPr id="7" name="">
            <a:extLst xmlns:a="http://schemas.openxmlformats.org/drawingml/2006/main">
              <a:ext uri="{FF2B5EF4-FFF2-40B4-BE49-F238E27FC236}">
                <a16:creationId xmlns:a16="http://schemas.microsoft.com/office/drawing/2014/main" id="{0CA98831-0BC1-46C4-82F9-F06D181C91AD}"/>
              </a:ext>
            </a:extLst>
          </p:cNvPr>
          <p:cNvSpPr>
            <a:spLocks xmlns:a="http://schemas.openxmlformats.org/drawingml/2006/main" noGrp="1"/>
          </p:cNvSpPr>
          <p:nvPr/>
        </p:nvSpPr>
        <p:spPr>
          <a:xfrm xmlns:a="http://schemas.openxmlformats.org/drawingml/2006/main">
            <a:off x="15049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B9904A"/>
                </a:solidFill>
                <a:latin typeface="Microsoft JhengHei"/>
                <a:ea typeface="Microsoft JhengHei"/>
                <a:cs typeface="Microsoft JhengHei"/>
              </a:defRPr>
            </a:pPr>
            <a:r>
              <a:rPr sz="1125" b="1">
                <a:solidFill>
                  <a:srgbClr val="B9904A"/>
                </a:solidFill>
                <a:latin typeface="Microsoft JhengHei"/>
                <a:ea typeface="Microsoft JhengHei"/>
                <a:cs typeface="Microsoft JhengHei"/>
              </a:rPr>
              <a:t>天體分類與地貌</a:t>
            </a:r>
          </a:p>
        </p:txBody>
      </p:sp>
      <p:sp>
        <p:nvSpPr>
          <p:cNvPr id="8" name="">
            <a:extLst xmlns:a="http://schemas.openxmlformats.org/drawingml/2006/main">
              <a:ext uri="{FF2B5EF4-FFF2-40B4-BE49-F238E27FC236}">
                <a16:creationId xmlns:a16="http://schemas.microsoft.com/office/drawing/2014/main" id="{1341BF01-0C74-41D5-9CC7-779A2B63463A}"/>
              </a:ext>
            </a:extLst>
          </p:cNvPr>
          <p:cNvSpPr>
            <a:spLocks xmlns:a="http://schemas.openxmlformats.org/drawingml/2006/main" noGrp="1"/>
          </p:cNvSpPr>
          <p:nvPr/>
        </p:nvSpPr>
        <p:spPr>
          <a:xfrm xmlns:a="http://schemas.openxmlformats.org/drawingml/2006/main">
            <a:off x="8191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NASA Pluto Facts</a:t>
            </a:r>
          </a:p>
        </p:txBody>
      </p:sp>
      <p:sp>
        <p:nvSpPr>
          <p:cNvPr id="9" name="">
            <a:extLst xmlns:a="http://schemas.openxmlformats.org/drawingml/2006/main">
              <a:ext uri="{FF2B5EF4-FFF2-40B4-BE49-F238E27FC236}">
                <a16:creationId xmlns:a16="http://schemas.microsoft.com/office/drawing/2014/main" id="{2A3E1BA4-7375-48CC-A43A-A162BA5240F0}"/>
              </a:ext>
            </a:extLst>
          </p:cNvPr>
          <p:cNvSpPr>
            <a:spLocks xmlns:a="http://schemas.openxmlformats.org/drawingml/2006/main" noGrp="1"/>
          </p:cNvSpPr>
          <p:nvPr/>
        </p:nvSpPr>
        <p:spPr>
          <a:xfrm xmlns:a="http://schemas.openxmlformats.org/drawingml/2006/main">
            <a:off x="8191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0" name="">
            <a:extLst xmlns:a="http://schemas.openxmlformats.org/drawingml/2006/main">
              <a:ext uri="{FF2B5EF4-FFF2-40B4-BE49-F238E27FC236}">
                <a16:creationId xmlns:a16="http://schemas.microsoft.com/office/drawing/2014/main" id="{E33932CD-AACD-403C-82BB-2C1555CC3F55}"/>
              </a:ext>
            </a:extLst>
          </p:cNvPr>
          <p:cNvSpPr>
            <a:spLocks xmlns:a="http://schemas.openxmlformats.org/drawingml/2006/main" noGrp="1"/>
          </p:cNvSpPr>
          <p:nvPr/>
        </p:nvSpPr>
        <p:spPr>
          <a:xfrm xmlns:a="http://schemas.openxmlformats.org/drawingml/2006/main">
            <a:off x="8191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冥王星矮行星分類</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湯博區「愛心」地貌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研究動機與問題引導</a:t>
            </a:r>
          </a:p>
        </p:txBody>
      </p:sp>
      <p:sp>
        <p:nvSpPr>
          <p:cNvPr id="11" name="">
            <a:extLst xmlns:a="http://schemas.openxmlformats.org/drawingml/2006/main">
              <a:ext uri="{FF2B5EF4-FFF2-40B4-BE49-F238E27FC236}">
                <a16:creationId xmlns:a16="http://schemas.microsoft.com/office/drawing/2014/main" id="{EC074887-A100-4682-B214-C849EEF2D26D}"/>
              </a:ext>
            </a:extLst>
          </p:cNvPr>
          <p:cNvSpPr>
            <a:spLocks xmlns:a="http://schemas.openxmlformats.org/drawingml/2006/main" noGrp="1"/>
          </p:cNvSpPr>
          <p:nvPr/>
        </p:nvSpPr>
        <p:spPr>
          <a:xfrm xmlns:a="http://schemas.openxmlformats.org/drawingml/2006/main">
            <a:off x="43815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843C46"/>
            </a:solidFill>
          </a:ln>
        </p:spPr>
      </p:sp>
      <p:sp>
        <p:nvSpPr>
          <p:cNvPr id="12" name="">
            <a:extLst xmlns:a="http://schemas.openxmlformats.org/drawingml/2006/main">
              <a:ext uri="{FF2B5EF4-FFF2-40B4-BE49-F238E27FC236}">
                <a16:creationId xmlns:a16="http://schemas.microsoft.com/office/drawing/2014/main" id="{FEF21343-BFCD-41CA-8A24-385BBD369D37}"/>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oundRect">
            <a:avLst>
              <a:gd name="adj" fmla="val 30769"/>
            </a:avLst>
          </a:prstGeom>
          <a:solidFill xmlns:a="http://schemas.openxmlformats.org/drawingml/2006/main">
            <a:srgbClr val="843C46"/>
          </a:solidFill>
          <a:ln xmlns:a="http://schemas.openxmlformats.org/drawingml/2006/main" w="0">
            <a:solidFill>
              <a:srgbClr val="843C46"/>
            </a:solidFill>
          </a:ln>
        </p:spPr>
      </p:sp>
      <p:sp>
        <p:nvSpPr>
          <p:cNvPr id="13" name="">
            <a:extLst xmlns:a="http://schemas.openxmlformats.org/drawingml/2006/main">
              <a:ext uri="{FF2B5EF4-FFF2-40B4-BE49-F238E27FC236}">
                <a16:creationId xmlns:a16="http://schemas.microsoft.com/office/drawing/2014/main" id="{E99E81D8-9808-42DD-9C0D-0611F05DC472}"/>
              </a:ext>
            </a:extLst>
          </p:cNvPr>
          <p:cNvSpPr>
            <a:spLocks xmlns:a="http://schemas.openxmlformats.org/drawingml/2006/main" noGrp="1"/>
          </p:cNvSpPr>
          <p:nvPr/>
        </p:nvSpPr>
        <p:spPr>
          <a:xfrm xmlns:a="http://schemas.openxmlformats.org/drawingml/2006/main">
            <a:off x="45148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P4</a:t>
            </a:r>
          </a:p>
        </p:txBody>
      </p:sp>
      <p:sp>
        <p:nvSpPr>
          <p:cNvPr id="14" name="">
            <a:extLst xmlns:a="http://schemas.openxmlformats.org/drawingml/2006/main">
              <a:ext uri="{FF2B5EF4-FFF2-40B4-BE49-F238E27FC236}">
                <a16:creationId xmlns:a16="http://schemas.microsoft.com/office/drawing/2014/main" id="{4B696939-CF95-4FD9-884A-378580B293DC}"/>
              </a:ext>
            </a:extLst>
          </p:cNvPr>
          <p:cNvSpPr>
            <a:spLocks xmlns:a="http://schemas.openxmlformats.org/drawingml/2006/main" noGrp="1"/>
          </p:cNvSpPr>
          <p:nvPr/>
        </p:nvSpPr>
        <p:spPr>
          <a:xfrm xmlns:a="http://schemas.openxmlformats.org/drawingml/2006/main">
            <a:off x="52006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843C46"/>
                </a:solidFill>
                <a:latin typeface="Microsoft JhengHei"/>
                <a:ea typeface="Microsoft JhengHei"/>
                <a:cs typeface="Microsoft JhengHei"/>
              </a:defRPr>
            </a:pPr>
            <a:r>
              <a:rPr sz="1125" b="1">
                <a:solidFill>
                  <a:srgbClr val="843C46"/>
                </a:solidFill>
                <a:latin typeface="Microsoft JhengHei"/>
                <a:ea typeface="Microsoft JhengHei"/>
                <a:cs typeface="Microsoft JhengHei"/>
              </a:rPr>
              <a:t>相關產品與情境</a:t>
            </a:r>
          </a:p>
        </p:txBody>
      </p:sp>
      <p:sp>
        <p:nvSpPr>
          <p:cNvPr id="15" name="">
            <a:extLst xmlns:a="http://schemas.openxmlformats.org/drawingml/2006/main">
              <a:ext uri="{FF2B5EF4-FFF2-40B4-BE49-F238E27FC236}">
                <a16:creationId xmlns:a16="http://schemas.microsoft.com/office/drawing/2014/main" id="{48F1F682-8697-4C45-9FED-A6EAB8DA4722}"/>
              </a:ext>
            </a:extLst>
          </p:cNvPr>
          <p:cNvSpPr>
            <a:spLocks xmlns:a="http://schemas.openxmlformats.org/drawingml/2006/main" noGrp="1"/>
          </p:cNvSpPr>
          <p:nvPr/>
        </p:nvSpPr>
        <p:spPr>
          <a:xfrm xmlns:a="http://schemas.openxmlformats.org/drawingml/2006/main">
            <a:off x="45148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NotebookLM / Kahoot!</a:t>
            </a:r>
          </a:p>
        </p:txBody>
      </p:sp>
      <p:sp>
        <p:nvSpPr>
          <p:cNvPr id="16" name="">
            <a:extLst xmlns:a="http://schemas.openxmlformats.org/drawingml/2006/main">
              <a:ext uri="{FF2B5EF4-FFF2-40B4-BE49-F238E27FC236}">
                <a16:creationId xmlns:a16="http://schemas.microsoft.com/office/drawing/2014/main" id="{514F9ABF-8ED1-4BC3-BD2B-5606E9D97E8B}"/>
              </a:ext>
            </a:extLst>
          </p:cNvPr>
          <p:cNvSpPr>
            <a:spLocks xmlns:a="http://schemas.openxmlformats.org/drawingml/2006/main" noGrp="1"/>
          </p:cNvSpPr>
          <p:nvPr/>
        </p:nvSpPr>
        <p:spPr>
          <a:xfrm xmlns:a="http://schemas.openxmlformats.org/drawingml/2006/main">
            <a:off x="45148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17" name="">
            <a:extLst xmlns:a="http://schemas.openxmlformats.org/drawingml/2006/main">
              <a:ext uri="{FF2B5EF4-FFF2-40B4-BE49-F238E27FC236}">
                <a16:creationId xmlns:a16="http://schemas.microsoft.com/office/drawing/2014/main" id="{D77AA875-61FE-4D1C-B96A-DC5D394BA981}"/>
              </a:ext>
            </a:extLst>
          </p:cNvPr>
          <p:cNvSpPr>
            <a:spLocks xmlns:a="http://schemas.openxmlformats.org/drawingml/2006/main" noGrp="1"/>
          </p:cNvSpPr>
          <p:nvPr/>
        </p:nvSpPr>
        <p:spPr>
          <a:xfrm xmlns:a="http://schemas.openxmlformats.org/drawingml/2006/main">
            <a:off x="45148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NotebookLM：依據來源整理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Kahoot!：題目與即時回饋</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本專題的功能定位</a:t>
            </a:r>
          </a:p>
        </p:txBody>
      </p:sp>
      <p:sp>
        <p:nvSpPr>
          <p:cNvPr id="18" name="">
            <a:extLst xmlns:a="http://schemas.openxmlformats.org/drawingml/2006/main">
              <a:ext uri="{FF2B5EF4-FFF2-40B4-BE49-F238E27FC236}">
                <a16:creationId xmlns:a16="http://schemas.microsoft.com/office/drawing/2014/main" id="{4812FDB8-C41F-40E2-9CBA-BFC6DA7FA099}"/>
              </a:ext>
            </a:extLst>
          </p:cNvPr>
          <p:cNvSpPr>
            <a:spLocks xmlns:a="http://schemas.openxmlformats.org/drawingml/2006/main" noGrp="1"/>
          </p:cNvSpPr>
          <p:nvPr/>
        </p:nvSpPr>
        <p:spPr>
          <a:xfrm xmlns:a="http://schemas.openxmlformats.org/drawingml/2006/main">
            <a:off x="8077200" y="176212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57869"/>
            </a:solidFill>
          </a:ln>
        </p:spPr>
      </p:sp>
      <p:sp>
        <p:nvSpPr>
          <p:cNvPr id="19" name="">
            <a:extLst xmlns:a="http://schemas.openxmlformats.org/drawingml/2006/main">
              <a:ext uri="{FF2B5EF4-FFF2-40B4-BE49-F238E27FC236}">
                <a16:creationId xmlns:a16="http://schemas.microsoft.com/office/drawing/2014/main" id="{9B53B60C-34FF-43BF-AF8A-B3F45748E34A}"/>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oundRect">
            <a:avLst>
              <a:gd name="adj" fmla="val 30769"/>
            </a:avLst>
          </a:prstGeom>
          <a:solidFill xmlns:a="http://schemas.openxmlformats.org/drawingml/2006/main">
            <a:srgbClr val="557869"/>
          </a:solidFill>
          <a:ln xmlns:a="http://schemas.openxmlformats.org/drawingml/2006/main" w="0">
            <a:solidFill>
              <a:srgbClr val="557869"/>
            </a:solidFill>
          </a:ln>
        </p:spPr>
      </p:sp>
      <p:sp>
        <p:nvSpPr>
          <p:cNvPr id="20" name="">
            <a:extLst xmlns:a="http://schemas.openxmlformats.org/drawingml/2006/main">
              <a:ext uri="{FF2B5EF4-FFF2-40B4-BE49-F238E27FC236}">
                <a16:creationId xmlns:a16="http://schemas.microsoft.com/office/drawing/2014/main" id="{E84505B4-262F-4960-B8DD-20424DDA848D}"/>
              </a:ext>
            </a:extLst>
          </p:cNvPr>
          <p:cNvSpPr>
            <a:spLocks xmlns:a="http://schemas.openxmlformats.org/drawingml/2006/main" noGrp="1"/>
          </p:cNvSpPr>
          <p:nvPr/>
        </p:nvSpPr>
        <p:spPr>
          <a:xfrm xmlns:a="http://schemas.openxmlformats.org/drawingml/2006/main">
            <a:off x="8210550" y="189547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P5</a:t>
            </a:r>
          </a:p>
        </p:txBody>
      </p:sp>
      <p:sp>
        <p:nvSpPr>
          <p:cNvPr id="21" name="">
            <a:extLst xmlns:a="http://schemas.openxmlformats.org/drawingml/2006/main">
              <a:ext uri="{FF2B5EF4-FFF2-40B4-BE49-F238E27FC236}">
                <a16:creationId xmlns:a16="http://schemas.microsoft.com/office/drawing/2014/main" id="{9820DD27-0560-41ED-AC4A-953495DDEEED}"/>
              </a:ext>
            </a:extLst>
          </p:cNvPr>
          <p:cNvSpPr>
            <a:spLocks xmlns:a="http://schemas.openxmlformats.org/drawingml/2006/main" noGrp="1"/>
          </p:cNvSpPr>
          <p:nvPr/>
        </p:nvSpPr>
        <p:spPr>
          <a:xfrm xmlns:a="http://schemas.openxmlformats.org/drawingml/2006/main">
            <a:off x="8896350" y="189547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57869"/>
                </a:solidFill>
                <a:latin typeface="Microsoft JhengHei"/>
                <a:ea typeface="Microsoft JhengHei"/>
                <a:cs typeface="Microsoft JhengHei"/>
              </a:defRPr>
            </a:pPr>
            <a:r>
              <a:rPr sz="1125" b="1">
                <a:solidFill>
                  <a:srgbClr val="557869"/>
                </a:solidFill>
                <a:latin typeface="Microsoft JhengHei"/>
                <a:ea typeface="Microsoft JhengHei"/>
                <a:cs typeface="Microsoft JhengHei"/>
              </a:rPr>
              <a:t>通訊架構</a:t>
            </a:r>
          </a:p>
        </p:txBody>
      </p:sp>
      <p:sp>
        <p:nvSpPr>
          <p:cNvPr id="22" name="">
            <a:extLst xmlns:a="http://schemas.openxmlformats.org/drawingml/2006/main">
              <a:ext uri="{FF2B5EF4-FFF2-40B4-BE49-F238E27FC236}">
                <a16:creationId xmlns:a16="http://schemas.microsoft.com/office/drawing/2014/main" id="{0BC0ECE9-1E59-4FE6-AE8F-3D552F360C06}"/>
              </a:ext>
            </a:extLst>
          </p:cNvPr>
          <p:cNvSpPr>
            <a:spLocks xmlns:a="http://schemas.openxmlformats.org/drawingml/2006/main" noGrp="1"/>
          </p:cNvSpPr>
          <p:nvPr/>
        </p:nvSpPr>
        <p:spPr>
          <a:xfrm xmlns:a="http://schemas.openxmlformats.org/drawingml/2006/main">
            <a:off x="8210550" y="220027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LINE Developers Docs</a:t>
            </a:r>
          </a:p>
        </p:txBody>
      </p:sp>
      <p:sp>
        <p:nvSpPr>
          <p:cNvPr id="23" name="">
            <a:extLst xmlns:a="http://schemas.openxmlformats.org/drawingml/2006/main">
              <a:ext uri="{FF2B5EF4-FFF2-40B4-BE49-F238E27FC236}">
                <a16:creationId xmlns:a16="http://schemas.microsoft.com/office/drawing/2014/main" id="{57794EB4-E30E-4654-803E-088C660D3BF3}"/>
              </a:ext>
            </a:extLst>
          </p:cNvPr>
          <p:cNvSpPr>
            <a:spLocks xmlns:a="http://schemas.openxmlformats.org/drawingml/2006/main" noGrp="1"/>
          </p:cNvSpPr>
          <p:nvPr/>
        </p:nvSpPr>
        <p:spPr>
          <a:xfrm xmlns:a="http://schemas.openxmlformats.org/drawingml/2006/main">
            <a:off x="8210550" y="254317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24" name="">
            <a:extLst xmlns:a="http://schemas.openxmlformats.org/drawingml/2006/main">
              <a:ext uri="{FF2B5EF4-FFF2-40B4-BE49-F238E27FC236}">
                <a16:creationId xmlns:a16="http://schemas.microsoft.com/office/drawing/2014/main" id="{1E8BBE57-DF9F-406B-8D84-EE2E6355F834}"/>
              </a:ext>
            </a:extLst>
          </p:cNvPr>
          <p:cNvSpPr>
            <a:spLocks xmlns:a="http://schemas.openxmlformats.org/drawingml/2006/main" noGrp="1"/>
          </p:cNvSpPr>
          <p:nvPr/>
        </p:nvSpPr>
        <p:spPr>
          <a:xfrm xmlns:a="http://schemas.openxmlformats.org/drawingml/2006/main">
            <a:off x="8210550" y="261937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Webhook 簽章驗證</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Messaging API 訊息回覆</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Reply Token 使用規則</a:t>
            </a:r>
          </a:p>
        </p:txBody>
      </p:sp>
      <p:sp>
        <p:nvSpPr>
          <p:cNvPr id="25" name="">
            <a:extLst xmlns:a="http://schemas.openxmlformats.org/drawingml/2006/main">
              <a:ext uri="{FF2B5EF4-FFF2-40B4-BE49-F238E27FC236}">
                <a16:creationId xmlns:a16="http://schemas.microsoft.com/office/drawing/2014/main" id="{1A81A0F8-5CFB-456B-A788-63044598BDC2}"/>
              </a:ext>
            </a:extLst>
          </p:cNvPr>
          <p:cNvSpPr>
            <a:spLocks xmlns:a="http://schemas.openxmlformats.org/drawingml/2006/main" noGrp="1"/>
          </p:cNvSpPr>
          <p:nvPr/>
        </p:nvSpPr>
        <p:spPr>
          <a:xfrm xmlns:a="http://schemas.openxmlformats.org/drawingml/2006/main">
            <a:off x="6858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58748E"/>
            </a:solidFill>
          </a:ln>
        </p:spPr>
      </p:sp>
      <p:sp>
        <p:nvSpPr>
          <p:cNvPr id="26" name="">
            <a:extLst xmlns:a="http://schemas.openxmlformats.org/drawingml/2006/main">
              <a:ext uri="{FF2B5EF4-FFF2-40B4-BE49-F238E27FC236}">
                <a16:creationId xmlns:a16="http://schemas.microsoft.com/office/drawing/2014/main" id="{304ADF85-971C-4620-B1AB-EF3E289614D0}"/>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oundRect">
            <a:avLst>
              <a:gd name="adj" fmla="val 30769"/>
            </a:avLst>
          </a:prstGeom>
          <a:solidFill xmlns:a="http://schemas.openxmlformats.org/drawingml/2006/main">
            <a:srgbClr val="58748E"/>
          </a:solidFill>
          <a:ln xmlns:a="http://schemas.openxmlformats.org/drawingml/2006/main" w="0">
            <a:solidFill>
              <a:srgbClr val="58748E"/>
            </a:solidFill>
          </a:ln>
        </p:spPr>
      </p:sp>
      <p:sp>
        <p:nvSpPr>
          <p:cNvPr id="27" name="">
            <a:extLst xmlns:a="http://schemas.openxmlformats.org/drawingml/2006/main">
              <a:ext uri="{FF2B5EF4-FFF2-40B4-BE49-F238E27FC236}">
                <a16:creationId xmlns:a16="http://schemas.microsoft.com/office/drawing/2014/main" id="{286BC2A6-CB3C-4B28-8D76-F5EF807419F3}"/>
              </a:ext>
            </a:extLst>
          </p:cNvPr>
          <p:cNvSpPr>
            <a:spLocks xmlns:a="http://schemas.openxmlformats.org/drawingml/2006/main" noGrp="1"/>
          </p:cNvSpPr>
          <p:nvPr/>
        </p:nvSpPr>
        <p:spPr>
          <a:xfrm xmlns:a="http://schemas.openxmlformats.org/drawingml/2006/main">
            <a:off x="8191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P7</a:t>
            </a:r>
          </a:p>
        </p:txBody>
      </p:sp>
      <p:sp>
        <p:nvSpPr>
          <p:cNvPr id="28" name="">
            <a:extLst xmlns:a="http://schemas.openxmlformats.org/drawingml/2006/main">
              <a:ext uri="{FF2B5EF4-FFF2-40B4-BE49-F238E27FC236}">
                <a16:creationId xmlns:a16="http://schemas.microsoft.com/office/drawing/2014/main" id="{26AB6AF7-84FA-4321-879A-A1E438BF6058}"/>
              </a:ext>
            </a:extLst>
          </p:cNvPr>
          <p:cNvSpPr>
            <a:spLocks xmlns:a="http://schemas.openxmlformats.org/drawingml/2006/main" noGrp="1"/>
          </p:cNvSpPr>
          <p:nvPr/>
        </p:nvSpPr>
        <p:spPr>
          <a:xfrm xmlns:a="http://schemas.openxmlformats.org/drawingml/2006/main">
            <a:off x="15049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8748E"/>
                </a:solidFill>
                <a:latin typeface="Microsoft JhengHei"/>
                <a:ea typeface="Microsoft JhengHei"/>
                <a:cs typeface="Microsoft JhengHei"/>
              </a:defRPr>
            </a:pPr>
            <a:r>
              <a:rPr sz="1125" b="1">
                <a:solidFill>
                  <a:srgbClr val="58748E"/>
                </a:solidFill>
                <a:latin typeface="Microsoft JhengHei"/>
                <a:ea typeface="Microsoft JhengHei"/>
                <a:cs typeface="Microsoft JhengHei"/>
              </a:rPr>
              <a:t>模型與 API</a:t>
            </a:r>
          </a:p>
        </p:txBody>
      </p:sp>
      <p:sp>
        <p:nvSpPr>
          <p:cNvPr id="29" name="">
            <a:extLst xmlns:a="http://schemas.openxmlformats.org/drawingml/2006/main">
              <a:ext uri="{FF2B5EF4-FFF2-40B4-BE49-F238E27FC236}">
                <a16:creationId xmlns:a16="http://schemas.microsoft.com/office/drawing/2014/main" id="{D614D8BC-E64C-407A-A10C-BD72A0E3A7B4}"/>
              </a:ext>
            </a:extLst>
          </p:cNvPr>
          <p:cNvSpPr>
            <a:spLocks xmlns:a="http://schemas.openxmlformats.org/drawingml/2006/main" noGrp="1"/>
          </p:cNvSpPr>
          <p:nvPr/>
        </p:nvSpPr>
        <p:spPr>
          <a:xfrm xmlns:a="http://schemas.openxmlformats.org/drawingml/2006/main">
            <a:off x="8191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Google AI Gemma Docs</a:t>
            </a:r>
          </a:p>
        </p:txBody>
      </p:sp>
      <p:sp>
        <p:nvSpPr>
          <p:cNvPr id="30" name="">
            <a:extLst xmlns:a="http://schemas.openxmlformats.org/drawingml/2006/main">
              <a:ext uri="{FF2B5EF4-FFF2-40B4-BE49-F238E27FC236}">
                <a16:creationId xmlns:a16="http://schemas.microsoft.com/office/drawing/2014/main" id="{03E895B0-7DD4-4B59-ADD8-391FC25D25D8}"/>
              </a:ext>
            </a:extLst>
          </p:cNvPr>
          <p:cNvSpPr>
            <a:spLocks xmlns:a="http://schemas.openxmlformats.org/drawingml/2006/main" noGrp="1"/>
          </p:cNvSpPr>
          <p:nvPr/>
        </p:nvSpPr>
        <p:spPr>
          <a:xfrm xmlns:a="http://schemas.openxmlformats.org/drawingml/2006/main">
            <a:off x="8191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1" name="">
            <a:extLst xmlns:a="http://schemas.openxmlformats.org/drawingml/2006/main">
              <a:ext uri="{FF2B5EF4-FFF2-40B4-BE49-F238E27FC236}">
                <a16:creationId xmlns:a16="http://schemas.microsoft.com/office/drawing/2014/main" id="{04FFC5E9-F0F9-4F5B-9C9E-DE11901EC8BF}"/>
              </a:ext>
            </a:extLst>
          </p:cNvPr>
          <p:cNvSpPr>
            <a:spLocks xmlns:a="http://schemas.openxmlformats.org/drawingml/2006/main" noGrp="1"/>
          </p:cNvSpPr>
          <p:nvPr/>
        </p:nvSpPr>
        <p:spPr>
          <a:xfrm xmlns:a="http://schemas.openxmlformats.org/drawingml/2006/main">
            <a:off x="8191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Gemma 4 26B A4B</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Google AI Studio 使用方式</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模型輸出與提示設定</a:t>
            </a:r>
          </a:p>
        </p:txBody>
      </p:sp>
      <p:sp>
        <p:nvSpPr>
          <p:cNvPr id="32" name="">
            <a:extLst xmlns:a="http://schemas.openxmlformats.org/drawingml/2006/main">
              <a:ext uri="{FF2B5EF4-FFF2-40B4-BE49-F238E27FC236}">
                <a16:creationId xmlns:a16="http://schemas.microsoft.com/office/drawing/2014/main" id="{290ED238-587C-46E0-9E04-E30EDE5026F8}"/>
              </a:ext>
            </a:extLst>
          </p:cNvPr>
          <p:cNvSpPr>
            <a:spLocks xmlns:a="http://schemas.openxmlformats.org/drawingml/2006/main" noGrp="1"/>
          </p:cNvSpPr>
          <p:nvPr/>
        </p:nvSpPr>
        <p:spPr>
          <a:xfrm xmlns:a="http://schemas.openxmlformats.org/drawingml/2006/main">
            <a:off x="43815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77658B"/>
            </a:solidFill>
          </a:ln>
        </p:spPr>
      </p:sp>
      <p:sp>
        <p:nvSpPr>
          <p:cNvPr id="33" name="">
            <a:extLst xmlns:a="http://schemas.openxmlformats.org/drawingml/2006/main">
              <a:ext uri="{FF2B5EF4-FFF2-40B4-BE49-F238E27FC236}">
                <a16:creationId xmlns:a16="http://schemas.microsoft.com/office/drawing/2014/main" id="{4EE8D5C2-51A5-4D30-91BA-73DE86A35F6A}"/>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oundRect">
            <a:avLst>
              <a:gd name="adj" fmla="val 30769"/>
            </a:avLst>
          </a:prstGeom>
          <a:solidFill xmlns:a="http://schemas.openxmlformats.org/drawingml/2006/main">
            <a:srgbClr val="77658B"/>
          </a:solidFill>
          <a:ln xmlns:a="http://schemas.openxmlformats.org/drawingml/2006/main" w="0">
            <a:solidFill>
              <a:srgbClr val="77658B"/>
            </a:solidFill>
          </a:ln>
        </p:spPr>
      </p:sp>
      <p:sp>
        <p:nvSpPr>
          <p:cNvPr id="34" name="">
            <a:extLst xmlns:a="http://schemas.openxmlformats.org/drawingml/2006/main">
              <a:ext uri="{FF2B5EF4-FFF2-40B4-BE49-F238E27FC236}">
                <a16:creationId xmlns:a16="http://schemas.microsoft.com/office/drawing/2014/main" id="{A46CDE17-8DEF-478A-96F8-04AEB4CF0F41}"/>
              </a:ext>
            </a:extLst>
          </p:cNvPr>
          <p:cNvSpPr>
            <a:spLocks xmlns:a="http://schemas.openxmlformats.org/drawingml/2006/main" noGrp="1"/>
          </p:cNvSpPr>
          <p:nvPr/>
        </p:nvSpPr>
        <p:spPr>
          <a:xfrm xmlns:a="http://schemas.openxmlformats.org/drawingml/2006/main">
            <a:off x="4514850" y="4086225"/>
            <a:ext cx="11239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825" b="1">
                <a:solidFill>
                  <a:srgbClr val="FFFFFF"/>
                </a:solidFill>
                <a:latin typeface="Microsoft JhengHei"/>
                <a:ea typeface="Microsoft JhengHei"/>
                <a:cs typeface="Microsoft JhengHei"/>
              </a:defRPr>
            </a:pPr>
            <a:r>
              <a:rPr sz="825" b="1">
                <a:solidFill>
                  <a:srgbClr val="FFFFFF"/>
                </a:solidFill>
                <a:latin typeface="Microsoft JhengHei"/>
                <a:ea typeface="Microsoft JhengHei"/>
                <a:cs typeface="Microsoft JhengHei"/>
              </a:rPr>
              <a:t>P5/P6/P8/P10</a:t>
            </a:r>
          </a:p>
        </p:txBody>
      </p:sp>
      <p:sp>
        <p:nvSpPr>
          <p:cNvPr id="35" name="">
            <a:extLst xmlns:a="http://schemas.openxmlformats.org/drawingml/2006/main">
              <a:ext uri="{FF2B5EF4-FFF2-40B4-BE49-F238E27FC236}">
                <a16:creationId xmlns:a16="http://schemas.microsoft.com/office/drawing/2014/main" id="{AE385447-E50E-4244-AE37-2414D8DB77DB}"/>
              </a:ext>
            </a:extLst>
          </p:cNvPr>
          <p:cNvSpPr>
            <a:spLocks xmlns:a="http://schemas.openxmlformats.org/drawingml/2006/main" noGrp="1"/>
          </p:cNvSpPr>
          <p:nvPr/>
        </p:nvSpPr>
        <p:spPr>
          <a:xfrm xmlns:a="http://schemas.openxmlformats.org/drawingml/2006/main">
            <a:off x="5715000" y="4086225"/>
            <a:ext cx="20764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77658B"/>
                </a:solidFill>
                <a:latin typeface="Microsoft JhengHei"/>
                <a:ea typeface="Microsoft JhengHei"/>
                <a:cs typeface="Microsoft JhengHei"/>
              </a:defRPr>
            </a:pPr>
            <a:r>
              <a:rPr sz="1125" b="1">
                <a:solidFill>
                  <a:srgbClr val="77658B"/>
                </a:solidFill>
                <a:latin typeface="Microsoft JhengHei"/>
                <a:ea typeface="Microsoft JhengHei"/>
                <a:cs typeface="Microsoft JhengHei"/>
              </a:rPr>
              <a:t>系統實作</a:t>
            </a:r>
          </a:p>
        </p:txBody>
      </p:sp>
      <p:sp>
        <p:nvSpPr>
          <p:cNvPr id="36" name="">
            <a:extLst xmlns:a="http://schemas.openxmlformats.org/drawingml/2006/main">
              <a:ext uri="{FF2B5EF4-FFF2-40B4-BE49-F238E27FC236}">
                <a16:creationId xmlns:a16="http://schemas.microsoft.com/office/drawing/2014/main" id="{30E7933B-C69B-4AD9-9CA4-EDC6E11E3C35}"/>
              </a:ext>
            </a:extLst>
          </p:cNvPr>
          <p:cNvSpPr>
            <a:spLocks xmlns:a="http://schemas.openxmlformats.org/drawingml/2006/main" noGrp="1"/>
          </p:cNvSpPr>
          <p:nvPr/>
        </p:nvSpPr>
        <p:spPr>
          <a:xfrm xmlns:a="http://schemas.openxmlformats.org/drawingml/2006/main">
            <a:off x="45148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專案 README、程式與資料</a:t>
            </a:r>
          </a:p>
        </p:txBody>
      </p:sp>
      <p:sp>
        <p:nvSpPr>
          <p:cNvPr id="37" name="">
            <a:extLst xmlns:a="http://schemas.openxmlformats.org/drawingml/2006/main">
              <a:ext uri="{FF2B5EF4-FFF2-40B4-BE49-F238E27FC236}">
                <a16:creationId xmlns:a16="http://schemas.microsoft.com/office/drawing/2014/main" id="{E777323F-9B68-4F7F-A392-CAB5B6AA7B95}"/>
              </a:ext>
            </a:extLst>
          </p:cNvPr>
          <p:cNvSpPr>
            <a:spLocks xmlns:a="http://schemas.openxmlformats.org/drawingml/2006/main" noGrp="1"/>
          </p:cNvSpPr>
          <p:nvPr/>
        </p:nvSpPr>
        <p:spPr>
          <a:xfrm xmlns:a="http://schemas.openxmlformats.org/drawingml/2006/main">
            <a:off x="45148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38" name="">
            <a:extLst xmlns:a="http://schemas.openxmlformats.org/drawingml/2006/main">
              <a:ext uri="{FF2B5EF4-FFF2-40B4-BE49-F238E27FC236}">
                <a16:creationId xmlns:a16="http://schemas.microsoft.com/office/drawing/2014/main" id="{C249C06B-6D4E-45D1-9B5B-695CC5A36E23}"/>
              </a:ext>
            </a:extLst>
          </p:cNvPr>
          <p:cNvSpPr>
            <a:spLocks xmlns:a="http://schemas.openxmlformats.org/drawingml/2006/main" noGrp="1"/>
          </p:cNvSpPr>
          <p:nvPr/>
        </p:nvSpPr>
        <p:spPr>
          <a:xfrm xmlns:a="http://schemas.openxmlformats.org/drawingml/2006/main">
            <a:off x="45148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76 張知識卡與 220 題</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80 段導引教材</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SQLite 與四路進度</a:t>
            </a:r>
          </a:p>
        </p:txBody>
      </p:sp>
      <p:sp>
        <p:nvSpPr>
          <p:cNvPr id="39" name="">
            <a:extLst xmlns:a="http://schemas.openxmlformats.org/drawingml/2006/main">
              <a:ext uri="{FF2B5EF4-FFF2-40B4-BE49-F238E27FC236}">
                <a16:creationId xmlns:a16="http://schemas.microsoft.com/office/drawing/2014/main" id="{60E2B4CE-EC4A-4739-ACE8-9633C5B65795}"/>
              </a:ext>
            </a:extLst>
          </p:cNvPr>
          <p:cNvSpPr>
            <a:spLocks xmlns:a="http://schemas.openxmlformats.org/drawingml/2006/main" noGrp="1"/>
          </p:cNvSpPr>
          <p:nvPr/>
        </p:nvSpPr>
        <p:spPr>
          <a:xfrm xmlns:a="http://schemas.openxmlformats.org/drawingml/2006/main">
            <a:off x="8077200" y="3952875"/>
            <a:ext cx="3429000" cy="2000250"/>
          </a:xfrm>
          <a:prstGeom xmlns:a="http://schemas.openxmlformats.org/drawingml/2006/main" prst="roundRect">
            <a:avLst>
              <a:gd name="adj" fmla="val 3810"/>
            </a:avLst>
          </a:prstGeom>
          <a:solidFill xmlns:a="http://schemas.openxmlformats.org/drawingml/2006/main">
            <a:srgbClr val="FFFFFF"/>
          </a:solidFill>
          <a:ln xmlns:a="http://schemas.openxmlformats.org/drawingml/2006/main" w="19050">
            <a:solidFill>
              <a:srgbClr val="242830"/>
            </a:solidFill>
          </a:ln>
        </p:spPr>
      </p:sp>
      <p:sp>
        <p:nvSpPr>
          <p:cNvPr id="40" name="">
            <a:extLst xmlns:a="http://schemas.openxmlformats.org/drawingml/2006/main">
              <a:ext uri="{FF2B5EF4-FFF2-40B4-BE49-F238E27FC236}">
                <a16:creationId xmlns:a16="http://schemas.microsoft.com/office/drawing/2014/main" id="{F4CC0746-9A5A-410C-9662-C82C76ED2E1D}"/>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oundRect">
            <a:avLst>
              <a:gd name="adj" fmla="val 30769"/>
            </a:avLst>
          </a:prstGeom>
          <a:solidFill xmlns:a="http://schemas.openxmlformats.org/drawingml/2006/main">
            <a:srgbClr val="242830"/>
          </a:solidFill>
          <a:ln xmlns:a="http://schemas.openxmlformats.org/drawingml/2006/main" w="0">
            <a:solidFill>
              <a:srgbClr val="242830"/>
            </a:solidFill>
          </a:ln>
        </p:spPr>
      </p:sp>
      <p:sp>
        <p:nvSpPr>
          <p:cNvPr id="41" name="">
            <a:extLst xmlns:a="http://schemas.openxmlformats.org/drawingml/2006/main">
              <a:ext uri="{FF2B5EF4-FFF2-40B4-BE49-F238E27FC236}">
                <a16:creationId xmlns:a16="http://schemas.microsoft.com/office/drawing/2014/main" id="{BEF4A9D0-04AC-481B-B3A8-700065CF7C3F}"/>
              </a:ext>
            </a:extLst>
          </p:cNvPr>
          <p:cNvSpPr>
            <a:spLocks xmlns:a="http://schemas.openxmlformats.org/drawingml/2006/main" noGrp="1"/>
          </p:cNvSpPr>
          <p:nvPr/>
        </p:nvSpPr>
        <p:spPr>
          <a:xfrm xmlns:a="http://schemas.openxmlformats.org/drawingml/2006/main">
            <a:off x="8210550" y="4086225"/>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1050" b="1">
                <a:solidFill>
                  <a:srgbClr val="FFFFFF"/>
                </a:solidFill>
                <a:latin typeface="Microsoft JhengHei"/>
                <a:ea typeface="Microsoft JhengHei"/>
                <a:cs typeface="Microsoft JhengHei"/>
              </a:defRPr>
            </a:pPr>
            <a:r>
              <a:rPr sz="1050" b="1">
                <a:solidFill>
                  <a:srgbClr val="FFFFFF"/>
                </a:solidFill>
                <a:latin typeface="Microsoft JhengHei"/>
                <a:ea typeface="Microsoft JhengHei"/>
                <a:cs typeface="Microsoft JhengHei"/>
              </a:rPr>
              <a:t>P9</a:t>
            </a:r>
          </a:p>
        </p:txBody>
      </p:sp>
      <p:sp>
        <p:nvSpPr>
          <p:cNvPr id="42" name="">
            <a:extLst xmlns:a="http://schemas.openxmlformats.org/drawingml/2006/main">
              <a:ext uri="{FF2B5EF4-FFF2-40B4-BE49-F238E27FC236}">
                <a16:creationId xmlns:a16="http://schemas.microsoft.com/office/drawing/2014/main" id="{DEE6B0DD-F3A3-4648-8BF8-E6330384E83B}"/>
              </a:ext>
            </a:extLst>
          </p:cNvPr>
          <p:cNvSpPr>
            <a:spLocks xmlns:a="http://schemas.openxmlformats.org/drawingml/2006/main" noGrp="1"/>
          </p:cNvSpPr>
          <p:nvPr/>
        </p:nvSpPr>
        <p:spPr>
          <a:xfrm xmlns:a="http://schemas.openxmlformats.org/drawingml/2006/main">
            <a:off x="8896350" y="4086225"/>
            <a:ext cx="25908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242830"/>
                </a:solidFill>
                <a:latin typeface="Microsoft JhengHei"/>
                <a:ea typeface="Microsoft JhengHei"/>
                <a:cs typeface="Microsoft JhengHei"/>
              </a:defRPr>
            </a:pPr>
            <a:r>
              <a:rPr sz="1125" b="1">
                <a:solidFill>
                  <a:srgbClr val="242830"/>
                </a:solidFill>
                <a:latin typeface="Microsoft JhengHei"/>
                <a:ea typeface="Microsoft JhengHei"/>
                <a:cs typeface="Microsoft JhengHei"/>
              </a:rPr>
              <a:t>系統驗證</a:t>
            </a:r>
          </a:p>
        </p:txBody>
      </p:sp>
      <p:sp>
        <p:nvSpPr>
          <p:cNvPr id="43" name="">
            <a:extLst xmlns:a="http://schemas.openxmlformats.org/drawingml/2006/main">
              <a:ext uri="{FF2B5EF4-FFF2-40B4-BE49-F238E27FC236}">
                <a16:creationId xmlns:a16="http://schemas.microsoft.com/office/drawing/2014/main" id="{AEAD091C-D991-497F-94FB-E370E04944D1}"/>
              </a:ext>
            </a:extLst>
          </p:cNvPr>
          <p:cNvSpPr>
            <a:spLocks xmlns:a="http://schemas.openxmlformats.org/drawingml/2006/main" noGrp="1"/>
          </p:cNvSpPr>
          <p:nvPr/>
        </p:nvSpPr>
        <p:spPr>
          <a:xfrm xmlns:a="http://schemas.openxmlformats.org/drawingml/2006/main">
            <a:off x="8210550" y="4391025"/>
            <a:ext cx="314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242830"/>
                </a:solidFill>
                <a:latin typeface="Microsoft JhengHei"/>
                <a:ea typeface="Microsoft JhengHei"/>
                <a:cs typeface="Microsoft JhengHei"/>
              </a:defRPr>
            </a:pPr>
            <a:r>
              <a:rPr sz="1275" b="1">
                <a:solidFill>
                  <a:srgbClr val="242830"/>
                </a:solidFill>
                <a:latin typeface="Microsoft JhengHei"/>
                <a:ea typeface="Microsoft JhengHei"/>
                <a:cs typeface="Microsoft JhengHei"/>
              </a:rPr>
              <a:t>README 與本機測試</a:t>
            </a:r>
          </a:p>
        </p:txBody>
      </p:sp>
      <p:sp>
        <p:nvSpPr>
          <p:cNvPr id="44" name="">
            <a:extLst xmlns:a="http://schemas.openxmlformats.org/drawingml/2006/main">
              <a:ext uri="{FF2B5EF4-FFF2-40B4-BE49-F238E27FC236}">
                <a16:creationId xmlns:a16="http://schemas.microsoft.com/office/drawing/2014/main" id="{483EA0BB-68FC-4E99-8993-9BE28520A055}"/>
              </a:ext>
            </a:extLst>
          </p:cNvPr>
          <p:cNvSpPr>
            <a:spLocks xmlns:a="http://schemas.openxmlformats.org/drawingml/2006/main" noGrp="1"/>
          </p:cNvSpPr>
          <p:nvPr/>
        </p:nvSpPr>
        <p:spPr>
          <a:xfrm xmlns:a="http://schemas.openxmlformats.org/drawingml/2006/main">
            <a:off x="8210550" y="4733925"/>
            <a:ext cx="3162300" cy="9525"/>
          </a:xfrm>
          <a:prstGeom xmlns:a="http://schemas.openxmlformats.org/drawingml/2006/main" prst="rect">
            <a:avLst/>
          </a:prstGeom>
          <a:solidFill xmlns:a="http://schemas.openxmlformats.org/drawingml/2006/main">
            <a:srgbClr val="D8D1C7"/>
          </a:solidFill>
          <a:ln xmlns:a="http://schemas.openxmlformats.org/drawingml/2006/main" w="0">
            <a:solidFill>
              <a:srgbClr val="D8D1C7"/>
            </a:solidFill>
          </a:ln>
        </p:spPr>
      </p:sp>
      <p:sp>
        <p:nvSpPr>
          <p:cNvPr id="45" name="">
            <a:extLst xmlns:a="http://schemas.openxmlformats.org/drawingml/2006/main">
              <a:ext uri="{FF2B5EF4-FFF2-40B4-BE49-F238E27FC236}">
                <a16:creationId xmlns:a16="http://schemas.microsoft.com/office/drawing/2014/main" id="{65BE9A0C-2588-4CBC-BE30-54353CEE7AA9}"/>
              </a:ext>
            </a:extLst>
          </p:cNvPr>
          <p:cNvSpPr>
            <a:spLocks xmlns:a="http://schemas.openxmlformats.org/drawingml/2006/main" noGrp="1"/>
          </p:cNvSpPr>
          <p:nvPr/>
        </p:nvSpPr>
        <p:spPr>
          <a:xfrm xmlns:a="http://schemas.openxmlformats.org/drawingml/2006/main">
            <a:off x="8210550" y="4810125"/>
            <a:ext cx="31623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簽章、去重與路由</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題庫、按鈕與進度交易</a:t>
            </a:r>
          </a:p>
          <a:p xmlns:a="http://schemas.openxmlformats.org/drawingml/2006/main">
            <a:pPr algn="l">
              <a:defRPr sz="1050" b="0">
                <a:solidFill>
                  <a:srgbClr val="66717A"/>
                </a:solidFill>
                <a:latin typeface="Microsoft JhengHei"/>
                <a:ea typeface="Microsoft JhengHei"/>
                <a:cs typeface="Microsoft JhengHei"/>
              </a:defRPr>
            </a:pPr>
            <a:r>
              <a:rPr sz="1050" b="0">
                <a:solidFill>
                  <a:srgbClr val="66717A"/>
                </a:solidFill>
                <a:latin typeface="Microsoft JhengHei"/>
                <a:ea typeface="Microsoft JhengHei"/>
                <a:cs typeface="Microsoft JhengHei"/>
              </a:rPr>
              <a:t>• 4 次真實聊天測試紀錄</a:t>
            </a:r>
          </a:p>
        </p:txBody>
      </p:sp>
      <p:sp>
        <p:nvSpPr>
          <p:cNvPr id="46" name="">
            <a:extLst xmlns:a="http://schemas.openxmlformats.org/drawingml/2006/main">
              <a:ext uri="{FF2B5EF4-FFF2-40B4-BE49-F238E27FC236}">
                <a16:creationId xmlns:a16="http://schemas.microsoft.com/office/drawing/2014/main" id="{667C0CAF-165B-451E-8102-2DEE58631FF2}"/>
              </a:ext>
            </a:extLst>
          </p:cNvPr>
          <p:cNvSpPr>
            <a:spLocks xmlns:a="http://schemas.openxmlformats.org/drawingml/2006/main" noGrp="1"/>
          </p:cNvSpPr>
          <p:nvPr/>
        </p:nvSpPr>
        <p:spPr>
          <a:xfrm xmlns:a="http://schemas.openxmlformats.org/drawingml/2006/main">
            <a:off x="685800" y="6172200"/>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66717A"/>
                </a:solidFill>
                <a:latin typeface="Microsoft JhengHei"/>
                <a:ea typeface="Microsoft JhengHei"/>
                <a:cs typeface="Microsoft JhengHei"/>
              </a:defRPr>
            </a:pPr>
            <a:r>
              <a:rPr sz="1275" b="0">
                <a:solidFill>
                  <a:srgbClr val="66717A"/>
                </a:solidFill>
                <a:latin typeface="Microsoft JhengHei"/>
                <a:ea typeface="Microsoft JhengHei"/>
                <a:cs typeface="Microsoft JhengHei"/>
              </a:rPr>
              <a:t>完整網址放在投影片備忘稿；專案內容以 README 與原始檔案為準。</a:t>
            </a:r>
          </a:p>
        </p:txBody>
      </p:sp>
    </p:spTree>
    <p:extLst>
      <p:ext uri="{BB962C8B-B14F-4D97-AF65-F5344CB8AC3E}">
        <p14:creationId xmlns:p14="http://schemas.microsoft.com/office/powerpoint/2010/main" val="94062376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2026-09-13T16:29:39.5980000Z</dcterms:created>
  <dcterms:modified xsi:type="dcterms:W3CDTF">2026-09-13T16:29:39.5980000Z</dcterms:modified>
</coreProperties>
</file>